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0" r:id="rId4"/>
  </p:sldMasterIdLst>
  <p:notesMasterIdLst>
    <p:notesMasterId r:id="rId55"/>
  </p:notesMasterIdLst>
  <p:handoutMasterIdLst>
    <p:handoutMasterId r:id="rId56"/>
  </p:handoutMasterIdLst>
  <p:sldIdLst>
    <p:sldId id="1497" r:id="rId5"/>
    <p:sldId id="1560" r:id="rId6"/>
    <p:sldId id="1514" r:id="rId7"/>
    <p:sldId id="1499" r:id="rId8"/>
    <p:sldId id="1519" r:id="rId9"/>
    <p:sldId id="1522" r:id="rId10"/>
    <p:sldId id="1523" r:id="rId11"/>
    <p:sldId id="1524" r:id="rId12"/>
    <p:sldId id="1525" r:id="rId13"/>
    <p:sldId id="1520" r:id="rId14"/>
    <p:sldId id="1526" r:id="rId15"/>
    <p:sldId id="1527" r:id="rId16"/>
    <p:sldId id="1521" r:id="rId17"/>
    <p:sldId id="1528" r:id="rId18"/>
    <p:sldId id="1529" r:id="rId19"/>
    <p:sldId id="1530" r:id="rId20"/>
    <p:sldId id="1531" r:id="rId21"/>
    <p:sldId id="1532" r:id="rId22"/>
    <p:sldId id="1533" r:id="rId23"/>
    <p:sldId id="1536" r:id="rId24"/>
    <p:sldId id="1550" r:id="rId25"/>
    <p:sldId id="1537" r:id="rId26"/>
    <p:sldId id="1535" r:id="rId27"/>
    <p:sldId id="1534" r:id="rId28"/>
    <p:sldId id="1538" r:id="rId29"/>
    <p:sldId id="1551" r:id="rId30"/>
    <p:sldId id="1552" r:id="rId31"/>
    <p:sldId id="1540" r:id="rId32"/>
    <p:sldId id="1553" r:id="rId33"/>
    <p:sldId id="1541" r:id="rId34"/>
    <p:sldId id="1554" r:id="rId35"/>
    <p:sldId id="1555" r:id="rId36"/>
    <p:sldId id="1542" r:id="rId37"/>
    <p:sldId id="1556" r:id="rId38"/>
    <p:sldId id="1557" r:id="rId39"/>
    <p:sldId id="1545" r:id="rId40"/>
    <p:sldId id="1558" r:id="rId41"/>
    <p:sldId id="1546" r:id="rId42"/>
    <p:sldId id="1543" r:id="rId43"/>
    <p:sldId id="1544" r:id="rId44"/>
    <p:sldId id="1547" r:id="rId45"/>
    <p:sldId id="1559" r:id="rId46"/>
    <p:sldId id="1548" r:id="rId47"/>
    <p:sldId id="1564" r:id="rId48"/>
    <p:sldId id="1549" r:id="rId49"/>
    <p:sldId id="1565" r:id="rId50"/>
    <p:sldId id="1561" r:id="rId51"/>
    <p:sldId id="1562" r:id="rId52"/>
    <p:sldId id="1563" r:id="rId53"/>
    <p:sldId id="1512"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0079" autoAdjust="0"/>
  </p:normalViewPr>
  <p:slideViewPr>
    <p:cSldViewPr snapToGrid="0">
      <p:cViewPr varScale="1">
        <p:scale>
          <a:sx n="86" d="100"/>
          <a:sy n="86" d="100"/>
        </p:scale>
        <p:origin x="514" y="58"/>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ul Nandan" userId="a89234f2-962f-4b3d-bdce-88b64f6d0d63" providerId="ADAL" clId="{D4A3E46B-2C34-4E87-8915-C95F7256200D}"/>
    <pc:docChg chg="undo custSel modSld">
      <pc:chgData name="Atul Nandan" userId="a89234f2-962f-4b3d-bdce-88b64f6d0d63" providerId="ADAL" clId="{D4A3E46B-2C34-4E87-8915-C95F7256200D}" dt="2026-03-18T07:32:09.829" v="565" actId="20577"/>
      <pc:docMkLst>
        <pc:docMk/>
      </pc:docMkLst>
      <pc:sldChg chg="addSp delSp modSp mod">
        <pc:chgData name="Atul Nandan" userId="a89234f2-962f-4b3d-bdce-88b64f6d0d63" providerId="ADAL" clId="{D4A3E46B-2C34-4E87-8915-C95F7256200D}" dt="2026-03-17T05:53:00.708" v="13" actId="1076"/>
        <pc:sldMkLst>
          <pc:docMk/>
          <pc:sldMk cId="3163830809" sldId="1526"/>
        </pc:sldMkLst>
        <pc:spChg chg="del">
          <ac:chgData name="Atul Nandan" userId="a89234f2-962f-4b3d-bdce-88b64f6d0d63" providerId="ADAL" clId="{D4A3E46B-2C34-4E87-8915-C95F7256200D}" dt="2026-03-17T05:50:59.081" v="2" actId="478"/>
          <ac:spMkLst>
            <pc:docMk/>
            <pc:sldMk cId="3163830809" sldId="1526"/>
            <ac:spMk id="3" creationId="{208899F3-5EC9-685F-7F90-C9C7EC7AB022}"/>
          </ac:spMkLst>
        </pc:spChg>
        <pc:spChg chg="del">
          <ac:chgData name="Atul Nandan" userId="a89234f2-962f-4b3d-bdce-88b64f6d0d63" providerId="ADAL" clId="{D4A3E46B-2C34-4E87-8915-C95F7256200D}" dt="2026-03-17T05:50:59.081" v="2" actId="478"/>
          <ac:spMkLst>
            <pc:docMk/>
            <pc:sldMk cId="3163830809" sldId="1526"/>
            <ac:spMk id="5" creationId="{05B39067-66BF-D607-B976-461872A00F46}"/>
          </ac:spMkLst>
        </pc:spChg>
        <pc:spChg chg="del">
          <ac:chgData name="Atul Nandan" userId="a89234f2-962f-4b3d-bdce-88b64f6d0d63" providerId="ADAL" clId="{D4A3E46B-2C34-4E87-8915-C95F7256200D}" dt="2026-03-17T05:50:59.081" v="2" actId="478"/>
          <ac:spMkLst>
            <pc:docMk/>
            <pc:sldMk cId="3163830809" sldId="1526"/>
            <ac:spMk id="6" creationId="{7A6DCA1E-3E85-F148-9795-704F35C31A88}"/>
          </ac:spMkLst>
        </pc:spChg>
        <pc:spChg chg="del">
          <ac:chgData name="Atul Nandan" userId="a89234f2-962f-4b3d-bdce-88b64f6d0d63" providerId="ADAL" clId="{D4A3E46B-2C34-4E87-8915-C95F7256200D}" dt="2026-03-17T05:50:59.081" v="2" actId="478"/>
          <ac:spMkLst>
            <pc:docMk/>
            <pc:sldMk cId="3163830809" sldId="1526"/>
            <ac:spMk id="7" creationId="{8BC6AED6-B5E8-9EC5-03E0-4048F7D28687}"/>
          </ac:spMkLst>
        </pc:spChg>
        <pc:spChg chg="del">
          <ac:chgData name="Atul Nandan" userId="a89234f2-962f-4b3d-bdce-88b64f6d0d63" providerId="ADAL" clId="{D4A3E46B-2C34-4E87-8915-C95F7256200D}" dt="2026-03-17T05:50:59.081" v="2" actId="478"/>
          <ac:spMkLst>
            <pc:docMk/>
            <pc:sldMk cId="3163830809" sldId="1526"/>
            <ac:spMk id="8" creationId="{AB50FFE7-2216-C4CB-57FB-50E76F915D56}"/>
          </ac:spMkLst>
        </pc:spChg>
        <pc:spChg chg="del">
          <ac:chgData name="Atul Nandan" userId="a89234f2-962f-4b3d-bdce-88b64f6d0d63" providerId="ADAL" clId="{D4A3E46B-2C34-4E87-8915-C95F7256200D}" dt="2026-03-17T05:50:59.081" v="2" actId="478"/>
          <ac:spMkLst>
            <pc:docMk/>
            <pc:sldMk cId="3163830809" sldId="1526"/>
            <ac:spMk id="9" creationId="{02410D59-1F99-AF31-0C93-964EF65D22CB}"/>
          </ac:spMkLst>
        </pc:spChg>
        <pc:spChg chg="add del">
          <ac:chgData name="Atul Nandan" userId="a89234f2-962f-4b3d-bdce-88b64f6d0d63" providerId="ADAL" clId="{D4A3E46B-2C34-4E87-8915-C95F7256200D}" dt="2026-03-17T05:50:50.856" v="1" actId="22"/>
          <ac:spMkLst>
            <pc:docMk/>
            <pc:sldMk cId="3163830809" sldId="1526"/>
            <ac:spMk id="17" creationId="{A95B55AB-120D-F48D-0D3D-A841623EFBD3}"/>
          </ac:spMkLst>
        </pc:spChg>
        <pc:spChg chg="add mod">
          <ac:chgData name="Atul Nandan" userId="a89234f2-962f-4b3d-bdce-88b64f6d0d63" providerId="ADAL" clId="{D4A3E46B-2C34-4E87-8915-C95F7256200D}" dt="2026-03-17T05:52:03.791" v="9" actId="1076"/>
          <ac:spMkLst>
            <pc:docMk/>
            <pc:sldMk cId="3163830809" sldId="1526"/>
            <ac:spMk id="19" creationId="{C34F8314-C738-B94E-B2C2-0CA0428DE7E7}"/>
          </ac:spMkLst>
        </pc:spChg>
        <pc:spChg chg="add mod">
          <ac:chgData name="Atul Nandan" userId="a89234f2-962f-4b3d-bdce-88b64f6d0d63" providerId="ADAL" clId="{D4A3E46B-2C34-4E87-8915-C95F7256200D}" dt="2026-03-17T05:52:12.790" v="10" actId="1076"/>
          <ac:spMkLst>
            <pc:docMk/>
            <pc:sldMk cId="3163830809" sldId="1526"/>
            <ac:spMk id="21" creationId="{BC115A96-D0DD-0155-DA19-67B702B468E1}"/>
          </ac:spMkLst>
        </pc:spChg>
        <pc:spChg chg="add mod">
          <ac:chgData name="Atul Nandan" userId="a89234f2-962f-4b3d-bdce-88b64f6d0d63" providerId="ADAL" clId="{D4A3E46B-2C34-4E87-8915-C95F7256200D}" dt="2026-03-17T05:53:00.708" v="13" actId="1076"/>
          <ac:spMkLst>
            <pc:docMk/>
            <pc:sldMk cId="3163830809" sldId="1526"/>
            <ac:spMk id="23" creationId="{04CF1CDD-08BD-04FC-9A3E-CC6F61662F52}"/>
          </ac:spMkLst>
        </pc:spChg>
        <pc:picChg chg="del">
          <ac:chgData name="Atul Nandan" userId="a89234f2-962f-4b3d-bdce-88b64f6d0d63" providerId="ADAL" clId="{D4A3E46B-2C34-4E87-8915-C95F7256200D}" dt="2026-03-17T05:50:59.081" v="2" actId="478"/>
          <ac:picMkLst>
            <pc:docMk/>
            <pc:sldMk cId="3163830809" sldId="1526"/>
            <ac:picMk id="15" creationId="{79FC24BF-5930-3F80-B361-316F64EDB94C}"/>
          </ac:picMkLst>
        </pc:picChg>
        <pc:cxnChg chg="del">
          <ac:chgData name="Atul Nandan" userId="a89234f2-962f-4b3d-bdce-88b64f6d0d63" providerId="ADAL" clId="{D4A3E46B-2C34-4E87-8915-C95F7256200D}" dt="2026-03-17T05:50:59.081" v="2" actId="478"/>
          <ac:cxnSpMkLst>
            <pc:docMk/>
            <pc:sldMk cId="3163830809" sldId="1526"/>
            <ac:cxnSpMk id="10" creationId="{E8F0B38B-F7D7-EEEA-285F-87402CC2810B}"/>
          </ac:cxnSpMkLst>
        </pc:cxnChg>
        <pc:cxnChg chg="del">
          <ac:chgData name="Atul Nandan" userId="a89234f2-962f-4b3d-bdce-88b64f6d0d63" providerId="ADAL" clId="{D4A3E46B-2C34-4E87-8915-C95F7256200D}" dt="2026-03-17T05:50:59.081" v="2" actId="478"/>
          <ac:cxnSpMkLst>
            <pc:docMk/>
            <pc:sldMk cId="3163830809" sldId="1526"/>
            <ac:cxnSpMk id="11" creationId="{F83E0146-1525-57D9-3E81-1C5DDBDC50AD}"/>
          </ac:cxnSpMkLst>
        </pc:cxnChg>
        <pc:cxnChg chg="del">
          <ac:chgData name="Atul Nandan" userId="a89234f2-962f-4b3d-bdce-88b64f6d0d63" providerId="ADAL" clId="{D4A3E46B-2C34-4E87-8915-C95F7256200D}" dt="2026-03-17T05:50:59.081" v="2" actId="478"/>
          <ac:cxnSpMkLst>
            <pc:docMk/>
            <pc:sldMk cId="3163830809" sldId="1526"/>
            <ac:cxnSpMk id="12" creationId="{86339C79-4A45-CA5F-25F3-91DBD123B996}"/>
          </ac:cxnSpMkLst>
        </pc:cxnChg>
      </pc:sldChg>
      <pc:sldChg chg="addSp modSp mod">
        <pc:chgData name="Atul Nandan" userId="a89234f2-962f-4b3d-bdce-88b64f6d0d63" providerId="ADAL" clId="{D4A3E46B-2C34-4E87-8915-C95F7256200D}" dt="2026-03-17T05:55:19.726" v="24" actId="20577"/>
        <pc:sldMkLst>
          <pc:docMk/>
          <pc:sldMk cId="859210461" sldId="1529"/>
        </pc:sldMkLst>
        <pc:spChg chg="add mod">
          <ac:chgData name="Atul Nandan" userId="a89234f2-962f-4b3d-bdce-88b64f6d0d63" providerId="ADAL" clId="{D4A3E46B-2C34-4E87-8915-C95F7256200D}" dt="2026-03-17T05:55:19.726" v="24" actId="20577"/>
          <ac:spMkLst>
            <pc:docMk/>
            <pc:sldMk cId="859210461" sldId="1529"/>
            <ac:spMk id="6" creationId="{E653E36B-77B1-0BF3-8CB0-BB772A86C1AB}"/>
          </ac:spMkLst>
        </pc:spChg>
      </pc:sldChg>
      <pc:sldChg chg="addSp modSp mod">
        <pc:chgData name="Atul Nandan" userId="a89234f2-962f-4b3d-bdce-88b64f6d0d63" providerId="ADAL" clId="{D4A3E46B-2C34-4E87-8915-C95F7256200D}" dt="2026-03-17T05:57:36.954" v="112" actId="20577"/>
        <pc:sldMkLst>
          <pc:docMk/>
          <pc:sldMk cId="408919293" sldId="1530"/>
        </pc:sldMkLst>
        <pc:spChg chg="add mod">
          <ac:chgData name="Atul Nandan" userId="a89234f2-962f-4b3d-bdce-88b64f6d0d63" providerId="ADAL" clId="{D4A3E46B-2C34-4E87-8915-C95F7256200D}" dt="2026-03-17T05:57:36.954" v="112" actId="20577"/>
          <ac:spMkLst>
            <pc:docMk/>
            <pc:sldMk cId="408919293" sldId="1530"/>
            <ac:spMk id="6" creationId="{A337A098-52D2-3DEC-FC84-7247C8974399}"/>
          </ac:spMkLst>
        </pc:spChg>
      </pc:sldChg>
      <pc:sldChg chg="addSp modSp mod">
        <pc:chgData name="Atul Nandan" userId="a89234f2-962f-4b3d-bdce-88b64f6d0d63" providerId="ADAL" clId="{D4A3E46B-2C34-4E87-8915-C95F7256200D}" dt="2026-03-17T06:00:11.043" v="177" actId="20577"/>
        <pc:sldMkLst>
          <pc:docMk/>
          <pc:sldMk cId="6055082" sldId="1531"/>
        </pc:sldMkLst>
        <pc:spChg chg="add mod">
          <ac:chgData name="Atul Nandan" userId="a89234f2-962f-4b3d-bdce-88b64f6d0d63" providerId="ADAL" clId="{D4A3E46B-2C34-4E87-8915-C95F7256200D}" dt="2026-03-17T06:00:11.043" v="177" actId="20577"/>
          <ac:spMkLst>
            <pc:docMk/>
            <pc:sldMk cId="6055082" sldId="1531"/>
            <ac:spMk id="6" creationId="{6359A0B2-C541-B29A-CEC1-4E0CB09E0787}"/>
          </ac:spMkLst>
        </pc:spChg>
      </pc:sldChg>
      <pc:sldChg chg="addSp modSp mod">
        <pc:chgData name="Atul Nandan" userId="a89234f2-962f-4b3d-bdce-88b64f6d0d63" providerId="ADAL" clId="{D4A3E46B-2C34-4E87-8915-C95F7256200D}" dt="2026-03-17T06:09:39.942" v="523" actId="20577"/>
        <pc:sldMkLst>
          <pc:docMk/>
          <pc:sldMk cId="1648294026" sldId="1534"/>
        </pc:sldMkLst>
        <pc:spChg chg="add mod">
          <ac:chgData name="Atul Nandan" userId="a89234f2-962f-4b3d-bdce-88b64f6d0d63" providerId="ADAL" clId="{D4A3E46B-2C34-4E87-8915-C95F7256200D}" dt="2026-03-17T06:09:39.942" v="523" actId="20577"/>
          <ac:spMkLst>
            <pc:docMk/>
            <pc:sldMk cId="1648294026" sldId="1534"/>
            <ac:spMk id="3" creationId="{BC69D15F-8E8D-D7A1-DE88-78DD47829544}"/>
          </ac:spMkLst>
        </pc:spChg>
      </pc:sldChg>
      <pc:sldChg chg="addSp modSp mod">
        <pc:chgData name="Atul Nandan" userId="a89234f2-962f-4b3d-bdce-88b64f6d0d63" providerId="ADAL" clId="{D4A3E46B-2C34-4E87-8915-C95F7256200D}" dt="2026-03-17T06:07:01.947" v="333" actId="20577"/>
        <pc:sldMkLst>
          <pc:docMk/>
          <pc:sldMk cId="2089009845" sldId="1536"/>
        </pc:sldMkLst>
        <pc:spChg chg="mod">
          <ac:chgData name="Atul Nandan" userId="a89234f2-962f-4b3d-bdce-88b64f6d0d63" providerId="ADAL" clId="{D4A3E46B-2C34-4E87-8915-C95F7256200D}" dt="2026-03-17T06:01:42.619" v="178" actId="1076"/>
          <ac:spMkLst>
            <pc:docMk/>
            <pc:sldMk cId="2089009845" sldId="1536"/>
            <ac:spMk id="4" creationId="{41ED9248-B0C7-5C5C-B3F5-CB79D60D685A}"/>
          </ac:spMkLst>
        </pc:spChg>
        <pc:spChg chg="add mod">
          <ac:chgData name="Atul Nandan" userId="a89234f2-962f-4b3d-bdce-88b64f6d0d63" providerId="ADAL" clId="{D4A3E46B-2C34-4E87-8915-C95F7256200D}" dt="2026-03-17T06:07:01.947" v="333" actId="20577"/>
          <ac:spMkLst>
            <pc:docMk/>
            <pc:sldMk cId="2089009845" sldId="1536"/>
            <ac:spMk id="12" creationId="{3D1201B9-7E6D-C8DF-063D-C2E6B0881077}"/>
          </ac:spMkLst>
        </pc:spChg>
      </pc:sldChg>
      <pc:sldChg chg="modSp mod">
        <pc:chgData name="Atul Nandan" userId="a89234f2-962f-4b3d-bdce-88b64f6d0d63" providerId="ADAL" clId="{D4A3E46B-2C34-4E87-8915-C95F7256200D}" dt="2026-03-17T06:16:25.816" v="535" actId="20577"/>
        <pc:sldMkLst>
          <pc:docMk/>
          <pc:sldMk cId="3741352161" sldId="1540"/>
        </pc:sldMkLst>
        <pc:spChg chg="mod">
          <ac:chgData name="Atul Nandan" userId="a89234f2-962f-4b3d-bdce-88b64f6d0d63" providerId="ADAL" clId="{D4A3E46B-2C34-4E87-8915-C95F7256200D}" dt="2026-03-17T06:16:25.816" v="535" actId="20577"/>
          <ac:spMkLst>
            <pc:docMk/>
            <pc:sldMk cId="3741352161" sldId="1540"/>
            <ac:spMk id="2" creationId="{7EA8350E-9031-53BA-E2B2-CDDE5733AD6B}"/>
          </ac:spMkLst>
        </pc:spChg>
      </pc:sldChg>
      <pc:sldChg chg="addSp modSp mod">
        <pc:chgData name="Atul Nandan" userId="a89234f2-962f-4b3d-bdce-88b64f6d0d63" providerId="ADAL" clId="{D4A3E46B-2C34-4E87-8915-C95F7256200D}" dt="2026-03-17T06:18:54.103" v="541" actId="1076"/>
        <pc:sldMkLst>
          <pc:docMk/>
          <pc:sldMk cId="1618933117" sldId="1541"/>
        </pc:sldMkLst>
        <pc:spChg chg="mod">
          <ac:chgData name="Atul Nandan" userId="a89234f2-962f-4b3d-bdce-88b64f6d0d63" providerId="ADAL" clId="{D4A3E46B-2C34-4E87-8915-C95F7256200D}" dt="2026-03-17T06:16:34.310" v="538" actId="20577"/>
          <ac:spMkLst>
            <pc:docMk/>
            <pc:sldMk cId="1618933117" sldId="1541"/>
            <ac:spMk id="2" creationId="{20D55C24-1F6E-3CC5-325E-CBD6A476FE22}"/>
          </ac:spMkLst>
        </pc:spChg>
        <pc:spChg chg="add mod">
          <ac:chgData name="Atul Nandan" userId="a89234f2-962f-4b3d-bdce-88b64f6d0d63" providerId="ADAL" clId="{D4A3E46B-2C34-4E87-8915-C95F7256200D}" dt="2026-03-17T06:18:54.103" v="541" actId="1076"/>
          <ac:spMkLst>
            <pc:docMk/>
            <pc:sldMk cId="1618933117" sldId="1541"/>
            <ac:spMk id="23" creationId="{74B64E26-766C-E522-710C-6B055F2D1A9A}"/>
          </ac:spMkLst>
        </pc:spChg>
      </pc:sldChg>
      <pc:sldChg chg="delSp modSp mod">
        <pc:chgData name="Atul Nandan" userId="a89234f2-962f-4b3d-bdce-88b64f6d0d63" providerId="ADAL" clId="{D4A3E46B-2C34-4E87-8915-C95F7256200D}" dt="2026-03-17T06:23:27.899" v="555" actId="478"/>
        <pc:sldMkLst>
          <pc:docMk/>
          <pc:sldMk cId="2614460072" sldId="1542"/>
        </pc:sldMkLst>
        <pc:spChg chg="mod">
          <ac:chgData name="Atul Nandan" userId="a89234f2-962f-4b3d-bdce-88b64f6d0d63" providerId="ADAL" clId="{D4A3E46B-2C34-4E87-8915-C95F7256200D}" dt="2026-03-17T06:21:32.668" v="544" actId="20577"/>
          <ac:spMkLst>
            <pc:docMk/>
            <pc:sldMk cId="2614460072" sldId="1542"/>
            <ac:spMk id="2" creationId="{A321E2C2-D1E3-FCBA-247C-611193DE0D1B}"/>
          </ac:spMkLst>
        </pc:spChg>
        <pc:spChg chg="mod">
          <ac:chgData name="Atul Nandan" userId="a89234f2-962f-4b3d-bdce-88b64f6d0d63" providerId="ADAL" clId="{D4A3E46B-2C34-4E87-8915-C95F7256200D}" dt="2026-03-17T06:22:54.250" v="553" actId="20577"/>
          <ac:spMkLst>
            <pc:docMk/>
            <pc:sldMk cId="2614460072" sldId="1542"/>
            <ac:spMk id="5" creationId="{F469CFB8-2EB4-8163-1E70-A9E35AEA71B0}"/>
          </ac:spMkLst>
        </pc:spChg>
        <pc:spChg chg="del">
          <ac:chgData name="Atul Nandan" userId="a89234f2-962f-4b3d-bdce-88b64f6d0d63" providerId="ADAL" clId="{D4A3E46B-2C34-4E87-8915-C95F7256200D}" dt="2026-03-17T06:23:25.941" v="554" actId="478"/>
          <ac:spMkLst>
            <pc:docMk/>
            <pc:sldMk cId="2614460072" sldId="1542"/>
            <ac:spMk id="7" creationId="{C3173CDE-BD7E-32ED-D3D1-76D2D7DDEB00}"/>
          </ac:spMkLst>
        </pc:spChg>
        <pc:picChg chg="del">
          <ac:chgData name="Atul Nandan" userId="a89234f2-962f-4b3d-bdce-88b64f6d0d63" providerId="ADAL" clId="{D4A3E46B-2C34-4E87-8915-C95F7256200D}" dt="2026-03-17T06:23:27.899" v="555" actId="478"/>
          <ac:picMkLst>
            <pc:docMk/>
            <pc:sldMk cId="2614460072" sldId="1542"/>
            <ac:picMk id="6" creationId="{610F4294-950E-4419-EA0F-E5B2BA0EB6BD}"/>
          </ac:picMkLst>
        </pc:picChg>
      </pc:sldChg>
      <pc:sldChg chg="addSp modSp mod">
        <pc:chgData name="Atul Nandan" userId="a89234f2-962f-4b3d-bdce-88b64f6d0d63" providerId="ADAL" clId="{D4A3E46B-2C34-4E87-8915-C95F7256200D}" dt="2026-03-17T06:12:58.234" v="529" actId="404"/>
        <pc:sldMkLst>
          <pc:docMk/>
          <pc:sldMk cId="1040995190" sldId="1551"/>
        </pc:sldMkLst>
        <pc:spChg chg="add mod">
          <ac:chgData name="Atul Nandan" userId="a89234f2-962f-4b3d-bdce-88b64f6d0d63" providerId="ADAL" clId="{D4A3E46B-2C34-4E87-8915-C95F7256200D}" dt="2026-03-17T06:12:58.234" v="529" actId="404"/>
          <ac:spMkLst>
            <pc:docMk/>
            <pc:sldMk cId="1040995190" sldId="1551"/>
            <ac:spMk id="15" creationId="{F5966BDC-CF4F-64F6-863E-53A9A566AB32}"/>
          </ac:spMkLst>
        </pc:spChg>
      </pc:sldChg>
      <pc:sldChg chg="modSp mod">
        <pc:chgData name="Atul Nandan" userId="a89234f2-962f-4b3d-bdce-88b64f6d0d63" providerId="ADAL" clId="{D4A3E46B-2C34-4E87-8915-C95F7256200D}" dt="2026-03-17T06:16:18.824" v="534" actId="20577"/>
        <pc:sldMkLst>
          <pc:docMk/>
          <pc:sldMk cId="799291365" sldId="1553"/>
        </pc:sldMkLst>
        <pc:spChg chg="mod">
          <ac:chgData name="Atul Nandan" userId="a89234f2-962f-4b3d-bdce-88b64f6d0d63" providerId="ADAL" clId="{D4A3E46B-2C34-4E87-8915-C95F7256200D}" dt="2026-03-17T06:16:18.824" v="534" actId="20577"/>
          <ac:spMkLst>
            <pc:docMk/>
            <pc:sldMk cId="799291365" sldId="1553"/>
            <ac:spMk id="2" creationId="{9C6B4385-90CF-BEDE-AAFD-54B6EFF038D4}"/>
          </ac:spMkLst>
        </pc:spChg>
      </pc:sldChg>
      <pc:sldChg chg="delSp modSp mod">
        <pc:chgData name="Atul Nandan" userId="a89234f2-962f-4b3d-bdce-88b64f6d0d63" providerId="ADAL" clId="{D4A3E46B-2C34-4E87-8915-C95F7256200D}" dt="2026-03-17T06:23:35.393" v="557" actId="478"/>
        <pc:sldMkLst>
          <pc:docMk/>
          <pc:sldMk cId="1692972764" sldId="1556"/>
        </pc:sldMkLst>
        <pc:spChg chg="mod">
          <ac:chgData name="Atul Nandan" userId="a89234f2-962f-4b3d-bdce-88b64f6d0d63" providerId="ADAL" clId="{D4A3E46B-2C34-4E87-8915-C95F7256200D}" dt="2026-03-17T06:21:39.068" v="547" actId="20577"/>
          <ac:spMkLst>
            <pc:docMk/>
            <pc:sldMk cId="1692972764" sldId="1556"/>
            <ac:spMk id="2" creationId="{6E8EED09-8312-3D45-B434-FEDCE4712777}"/>
          </ac:spMkLst>
        </pc:spChg>
        <pc:spChg chg="del">
          <ac:chgData name="Atul Nandan" userId="a89234f2-962f-4b3d-bdce-88b64f6d0d63" providerId="ADAL" clId="{D4A3E46B-2C34-4E87-8915-C95F7256200D}" dt="2026-03-17T06:23:35.393" v="557" actId="478"/>
          <ac:spMkLst>
            <pc:docMk/>
            <pc:sldMk cId="1692972764" sldId="1556"/>
            <ac:spMk id="7" creationId="{38C87F9D-BB45-FE8D-E0E6-43978AECCCE1}"/>
          </ac:spMkLst>
        </pc:spChg>
        <pc:picChg chg="del">
          <ac:chgData name="Atul Nandan" userId="a89234f2-962f-4b3d-bdce-88b64f6d0d63" providerId="ADAL" clId="{D4A3E46B-2C34-4E87-8915-C95F7256200D}" dt="2026-03-17T06:23:31.239" v="556" actId="478"/>
          <ac:picMkLst>
            <pc:docMk/>
            <pc:sldMk cId="1692972764" sldId="1556"/>
            <ac:picMk id="6" creationId="{6EFC18D7-ED6D-560A-3FC8-E4B9E0A6C8BD}"/>
          </ac:picMkLst>
        </pc:picChg>
      </pc:sldChg>
      <pc:sldChg chg="delSp modSp mod">
        <pc:chgData name="Atul Nandan" userId="a89234f2-962f-4b3d-bdce-88b64f6d0d63" providerId="ADAL" clId="{D4A3E46B-2C34-4E87-8915-C95F7256200D}" dt="2026-03-17T06:23:42.446" v="559" actId="478"/>
        <pc:sldMkLst>
          <pc:docMk/>
          <pc:sldMk cId="3127628238" sldId="1557"/>
        </pc:sldMkLst>
        <pc:spChg chg="mod">
          <ac:chgData name="Atul Nandan" userId="a89234f2-962f-4b3d-bdce-88b64f6d0d63" providerId="ADAL" clId="{D4A3E46B-2C34-4E87-8915-C95F7256200D}" dt="2026-03-17T06:21:44.178" v="550" actId="20577"/>
          <ac:spMkLst>
            <pc:docMk/>
            <pc:sldMk cId="3127628238" sldId="1557"/>
            <ac:spMk id="2" creationId="{71055004-70EB-5BE0-C3D6-EE40589CC053}"/>
          </ac:spMkLst>
        </pc:spChg>
        <pc:spChg chg="del">
          <ac:chgData name="Atul Nandan" userId="a89234f2-962f-4b3d-bdce-88b64f6d0d63" providerId="ADAL" clId="{D4A3E46B-2C34-4E87-8915-C95F7256200D}" dt="2026-03-17T06:23:40.629" v="558" actId="478"/>
          <ac:spMkLst>
            <pc:docMk/>
            <pc:sldMk cId="3127628238" sldId="1557"/>
            <ac:spMk id="7" creationId="{8030804E-B685-38A9-910F-7168AB0BAEEA}"/>
          </ac:spMkLst>
        </pc:spChg>
        <pc:picChg chg="del">
          <ac:chgData name="Atul Nandan" userId="a89234f2-962f-4b3d-bdce-88b64f6d0d63" providerId="ADAL" clId="{D4A3E46B-2C34-4E87-8915-C95F7256200D}" dt="2026-03-17T06:23:42.446" v="559" actId="478"/>
          <ac:picMkLst>
            <pc:docMk/>
            <pc:sldMk cId="3127628238" sldId="1557"/>
            <ac:picMk id="6" creationId="{6F3C8BB9-6C67-D007-199A-487375343953}"/>
          </ac:picMkLst>
        </pc:picChg>
      </pc:sldChg>
      <pc:sldChg chg="modSp mod">
        <pc:chgData name="Atul Nandan" userId="a89234f2-962f-4b3d-bdce-88b64f6d0d63" providerId="ADAL" clId="{D4A3E46B-2C34-4E87-8915-C95F7256200D}" dt="2026-03-18T07:32:09.829" v="565" actId="20577"/>
        <pc:sldMkLst>
          <pc:docMk/>
          <pc:sldMk cId="1786671202" sldId="1560"/>
        </pc:sldMkLst>
        <pc:spChg chg="mod">
          <ac:chgData name="Atul Nandan" userId="a89234f2-962f-4b3d-bdce-88b64f6d0d63" providerId="ADAL" clId="{D4A3E46B-2C34-4E87-8915-C95F7256200D}" dt="2026-03-18T07:32:09.829" v="565" actId="20577"/>
          <ac:spMkLst>
            <pc:docMk/>
            <pc:sldMk cId="1786671202" sldId="1560"/>
            <ac:spMk id="9" creationId="{6B2FCE0E-0A4A-C7BC-D158-C34F56578D3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3/18/2026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5427751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98630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546288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5DFBE8-81F4-46A1-BB38-C49D79C4F68D}" type="datetime1">
              <a:rPr lang="en-US" smtClean="0"/>
              <a:t>3/18/2026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2906719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5DFBE8-81F4-46A1-BB38-C49D79C4F68D}" type="datetime1">
              <a:rPr lang="en-US" smtClean="0"/>
              <a:t>3/18/2026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775445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57FA73-4BE2-4237-90E8-28123CE1B9FA}" type="datetime1">
              <a:rPr lang="en-US" smtClean="0"/>
              <a:t>3/18/2026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3386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BA1E88-22B3-4091-902C-19D6AD2267FE}" type="datetime1">
              <a:rPr lang="en-US" smtClean="0"/>
              <a:t>3/18/2026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7078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EFC53A-E163-43E4-9309-C62B24E59229}" type="datetime1">
              <a:rPr lang="en-US" smtClean="0"/>
              <a:t>3/18/2026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39638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5DFBE8-81F4-46A1-BB38-C49D79C4F68D}" type="datetime1">
              <a:rPr lang="en-US" smtClean="0"/>
              <a:t>3/18/2026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615567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5DFBE8-81F4-46A1-BB38-C49D79C4F68D}" type="datetime1">
              <a:rPr lang="en-US" smtClean="0"/>
              <a:t>3/18/2026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662822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834513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033421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1595520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169559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1195231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4744571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5DFBE8-81F4-46A1-BB38-C49D79C4F68D}"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813902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3/18/2026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761735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905875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3/18/2026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21476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3/18/2026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342184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65DFBE8-81F4-46A1-BB38-C49D79C4F68D}" type="datetime1">
              <a:rPr lang="en-US" smtClean="0"/>
              <a:t>3/18/2026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Sample Footer Text</a:t>
            </a:r>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1519258735"/>
      </p:ext>
    </p:extLst>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 id="2147483892" r:id="rId12"/>
    <p:sldLayoutId id="2147483893" r:id="rId13"/>
    <p:sldLayoutId id="2147483894" r:id="rId14"/>
    <p:sldLayoutId id="2147483895" r:id="rId15"/>
    <p:sldLayoutId id="2147483896" r:id="rId16"/>
    <p:sldLayoutId id="2147483897" r:id="rId17"/>
    <p:sldLayoutId id="2147483898" r:id="rId18"/>
    <p:sldLayoutId id="2147483899" r:id="rId19"/>
    <p:sldLayoutId id="2147483900" r:id="rId20"/>
    <p:sldLayoutId id="2147483907" r:id="rId21"/>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svg"/><Relationship Id="rId1" Type="http://schemas.openxmlformats.org/officeDocument/2006/relationships/slideLayout" Target="../slideLayouts/slideLayout20.xml"/><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svg"/><Relationship Id="rId1" Type="http://schemas.openxmlformats.org/officeDocument/2006/relationships/slideLayout" Target="../slideLayouts/slideLayout20.xml"/><Relationship Id="rId5" Type="http://schemas.openxmlformats.org/officeDocument/2006/relationships/image" Target="../media/image11.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213064" y="2044810"/>
            <a:ext cx="11913833" cy="1585943"/>
          </a:xfrm>
        </p:spPr>
        <p:txBody>
          <a:bodyPr>
            <a:normAutofit/>
          </a:bodyPr>
          <a:lstStyle/>
          <a:p>
            <a:r>
              <a:rPr lang="en-US" dirty="0"/>
              <a:t>RAG</a:t>
            </a:r>
            <a:br>
              <a:rPr lang="en-US" dirty="0"/>
            </a:br>
            <a:r>
              <a:rPr lang="en-IN" sz="4400" b="1" dirty="0"/>
              <a:t>Retrieval  Augmented Generation</a:t>
            </a:r>
            <a:endParaRPr lang="en-US" sz="4400" dirty="0"/>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8315061" y="5499278"/>
            <a:ext cx="3024899" cy="547908"/>
          </a:xfrm>
        </p:spPr>
        <p:txBody>
          <a:bodyPr>
            <a:normAutofit/>
          </a:bodyPr>
          <a:lstStyle/>
          <a:p>
            <a:r>
              <a:rPr lang="en-US" dirty="0"/>
              <a:t>Presented by Atul Nandan</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547C-311E-BC3B-F79A-733CC917DCD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6B2FCE0E-0A4A-C7BC-D158-C34F56578D3E}"/>
              </a:ext>
            </a:extLst>
          </p:cNvPr>
          <p:cNvSpPr txBox="1"/>
          <p:nvPr/>
        </p:nvSpPr>
        <p:spPr>
          <a:xfrm>
            <a:off x="1964183" y="732342"/>
            <a:ext cx="7419513" cy="2400657"/>
          </a:xfrm>
          <a:prstGeom prst="rect">
            <a:avLst/>
          </a:prstGeom>
          <a:noFill/>
        </p:spPr>
        <p:txBody>
          <a:bodyPr wrap="square">
            <a:spAutoFit/>
          </a:bodyPr>
          <a:lstStyle/>
          <a:p>
            <a:pPr>
              <a:buNone/>
            </a:pPr>
            <a:r>
              <a:rPr lang="en-US" sz="3200" b="1" dirty="0"/>
              <a:t>Agenda:</a:t>
            </a:r>
          </a:p>
          <a:p>
            <a:pPr>
              <a:buNone/>
            </a:pPr>
            <a:endParaRPr lang="en-US" b="1" dirty="0"/>
          </a:p>
          <a:p>
            <a:pPr rtl="0">
              <a:buNone/>
            </a:pPr>
            <a:r>
              <a:rPr lang="en-US" sz="2000" dirty="0">
                <a:latin typeface="Courier New" panose="02070309020205020404" pitchFamily="49" charset="0"/>
              </a:rPr>
              <a:t>1. What is RAG</a:t>
            </a:r>
            <a:br>
              <a:rPr lang="en-US" sz="2000" dirty="0">
                <a:latin typeface="Courier New" panose="02070309020205020404" pitchFamily="49" charset="0"/>
              </a:rPr>
            </a:br>
            <a:r>
              <a:rPr lang="en-US" sz="2000" dirty="0">
                <a:latin typeface="Courier New" panose="02070309020205020404" pitchFamily="49" charset="0"/>
              </a:rPr>
              <a:t>2. Why RAG is Needed</a:t>
            </a:r>
            <a:br>
              <a:rPr lang="en-US" sz="2000" dirty="0">
                <a:latin typeface="Courier New" panose="02070309020205020404" pitchFamily="49" charset="0"/>
              </a:rPr>
            </a:br>
            <a:r>
              <a:rPr lang="en-US" sz="2000" dirty="0">
                <a:latin typeface="Courier New" panose="02070309020205020404" pitchFamily="49" charset="0"/>
              </a:rPr>
              <a:t>3. Components of RAG</a:t>
            </a:r>
            <a:br>
              <a:rPr lang="en-US" sz="2000" dirty="0">
                <a:latin typeface="Courier New" panose="02070309020205020404" pitchFamily="49" charset="0"/>
              </a:rPr>
            </a:br>
            <a:r>
              <a:rPr lang="en-US" sz="2000" dirty="0">
                <a:latin typeface="Courier New" panose="02070309020205020404" pitchFamily="49" charset="0"/>
              </a:rPr>
              <a:t>4. RAG Pipeline</a:t>
            </a:r>
            <a:br>
              <a:rPr lang="en-US" sz="2000" dirty="0">
                <a:latin typeface="Courier New" panose="02070309020205020404" pitchFamily="49" charset="0"/>
              </a:rPr>
            </a:br>
            <a:r>
              <a:rPr lang="en-US" sz="2000" dirty="0">
                <a:latin typeface="Courier New" panose="02070309020205020404" pitchFamily="49" charset="0"/>
              </a:rPr>
              <a:t>5. Conclusion</a:t>
            </a:r>
          </a:p>
        </p:txBody>
      </p:sp>
    </p:spTree>
    <p:extLst>
      <p:ext uri="{BB962C8B-B14F-4D97-AF65-F5344CB8AC3E}">
        <p14:creationId xmlns:p14="http://schemas.microsoft.com/office/powerpoint/2010/main" val="1786671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B56E-1A01-8D29-F217-638F3BEF697B}"/>
              </a:ext>
            </a:extLst>
          </p:cNvPr>
          <p:cNvSpPr>
            <a:spLocks noGrp="1"/>
          </p:cNvSpPr>
          <p:nvPr>
            <p:ph type="title"/>
          </p:nvPr>
        </p:nvSpPr>
        <p:spPr/>
        <p:txBody>
          <a:bodyPr/>
          <a:lstStyle/>
          <a:p>
            <a:r>
              <a:rPr lang="en-US" dirty="0"/>
              <a:t>What is RAG ?</a:t>
            </a:r>
          </a:p>
        </p:txBody>
      </p:sp>
      <p:sp>
        <p:nvSpPr>
          <p:cNvPr id="3" name="Content Placeholder 2">
            <a:extLst>
              <a:ext uri="{FF2B5EF4-FFF2-40B4-BE49-F238E27FC236}">
                <a16:creationId xmlns:a16="http://schemas.microsoft.com/office/drawing/2014/main" id="{8DE9521F-CC42-235E-F804-B826A36205D1}"/>
              </a:ext>
            </a:extLst>
          </p:cNvPr>
          <p:cNvSpPr>
            <a:spLocks noGrp="1"/>
          </p:cNvSpPr>
          <p:nvPr>
            <p:ph sz="quarter" idx="14"/>
          </p:nvPr>
        </p:nvSpPr>
        <p:spPr>
          <a:xfrm>
            <a:off x="1382505" y="1195671"/>
            <a:ext cx="4366917" cy="3512152"/>
          </a:xfrm>
        </p:spPr>
        <p:txBody>
          <a:bodyPr>
            <a:normAutofit/>
          </a:bodyPr>
          <a:lstStyle/>
          <a:p>
            <a:pPr marL="0" indent="0">
              <a:buNone/>
            </a:pPr>
            <a:r>
              <a:rPr lang="en-US" sz="2000" b="1" dirty="0"/>
              <a:t>RAG (Retrieval-Augmented Generation)</a:t>
            </a:r>
            <a:r>
              <a:rPr lang="en-US" sz="2000" dirty="0"/>
              <a:t> is an AI technique where a language model retrieves relevant information from an external knowledge source and uses it to generate more accurate and up-to-date response. </a:t>
            </a:r>
          </a:p>
        </p:txBody>
      </p:sp>
      <p:sp>
        <p:nvSpPr>
          <p:cNvPr id="5" name="TextBox 4">
            <a:extLst>
              <a:ext uri="{FF2B5EF4-FFF2-40B4-BE49-F238E27FC236}">
                <a16:creationId xmlns:a16="http://schemas.microsoft.com/office/drawing/2014/main" id="{69CAC53C-B689-F358-1C5E-BD9B839CA4DE}"/>
              </a:ext>
            </a:extLst>
          </p:cNvPr>
          <p:cNvSpPr txBox="1"/>
          <p:nvPr/>
        </p:nvSpPr>
        <p:spPr>
          <a:xfrm>
            <a:off x="1382505" y="4358024"/>
            <a:ext cx="4127185" cy="923330"/>
          </a:xfrm>
          <a:prstGeom prst="rect">
            <a:avLst/>
          </a:prstGeom>
          <a:noFill/>
        </p:spPr>
        <p:txBody>
          <a:bodyPr wrap="square">
            <a:spAutoFit/>
          </a:bodyPr>
          <a:lstStyle/>
          <a:p>
            <a:r>
              <a:rPr lang="en-US" dirty="0"/>
              <a:t>RAG =       Search relevant data </a:t>
            </a:r>
          </a:p>
          <a:p>
            <a:r>
              <a:rPr lang="en-US" dirty="0"/>
              <a:t>		           	+  				Generate answer using that data.</a:t>
            </a:r>
            <a:endParaRPr lang="en-IN" dirty="0"/>
          </a:p>
        </p:txBody>
      </p:sp>
      <p:sp>
        <p:nvSpPr>
          <p:cNvPr id="8" name="Rectangle 7">
            <a:extLst>
              <a:ext uri="{FF2B5EF4-FFF2-40B4-BE49-F238E27FC236}">
                <a16:creationId xmlns:a16="http://schemas.microsoft.com/office/drawing/2014/main" id="{A7A98E51-33EE-F9CA-1F41-9A49711EAA75}"/>
              </a:ext>
            </a:extLst>
          </p:cNvPr>
          <p:cNvSpPr/>
          <p:nvPr/>
        </p:nvSpPr>
        <p:spPr>
          <a:xfrm>
            <a:off x="8337338" y="2805344"/>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RAG </a:t>
            </a:r>
          </a:p>
        </p:txBody>
      </p:sp>
      <p:sp>
        <p:nvSpPr>
          <p:cNvPr id="9" name="Rectangle 8">
            <a:extLst>
              <a:ext uri="{FF2B5EF4-FFF2-40B4-BE49-F238E27FC236}">
                <a16:creationId xmlns:a16="http://schemas.microsoft.com/office/drawing/2014/main" id="{A0C07CE3-E424-CA5F-E0DF-9084674D4F0B}"/>
              </a:ext>
            </a:extLst>
          </p:cNvPr>
          <p:cNvSpPr/>
          <p:nvPr/>
        </p:nvSpPr>
        <p:spPr>
          <a:xfrm>
            <a:off x="10104267" y="1482571"/>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Text </a:t>
            </a:r>
          </a:p>
          <a:p>
            <a:pPr algn="ctr"/>
            <a:r>
              <a:rPr lang="en-IN" dirty="0"/>
              <a:t>Splitters</a:t>
            </a:r>
          </a:p>
        </p:txBody>
      </p:sp>
      <p:sp>
        <p:nvSpPr>
          <p:cNvPr id="10" name="Rectangle 9">
            <a:extLst>
              <a:ext uri="{FF2B5EF4-FFF2-40B4-BE49-F238E27FC236}">
                <a16:creationId xmlns:a16="http://schemas.microsoft.com/office/drawing/2014/main" id="{59D231D1-5E31-8BC7-29E9-7F501203E4ED}"/>
              </a:ext>
            </a:extLst>
          </p:cNvPr>
          <p:cNvSpPr/>
          <p:nvPr/>
        </p:nvSpPr>
        <p:spPr>
          <a:xfrm>
            <a:off x="10104267" y="4144986"/>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Vector</a:t>
            </a:r>
          </a:p>
          <a:p>
            <a:pPr algn="ctr"/>
            <a:r>
              <a:rPr lang="en-IN" dirty="0"/>
              <a:t>Databases</a:t>
            </a:r>
          </a:p>
        </p:txBody>
      </p:sp>
      <p:sp>
        <p:nvSpPr>
          <p:cNvPr id="11" name="Rectangle 10">
            <a:extLst>
              <a:ext uri="{FF2B5EF4-FFF2-40B4-BE49-F238E27FC236}">
                <a16:creationId xmlns:a16="http://schemas.microsoft.com/office/drawing/2014/main" id="{4503D63B-44EC-7F63-3415-C2182F4E099D}"/>
              </a:ext>
            </a:extLst>
          </p:cNvPr>
          <p:cNvSpPr/>
          <p:nvPr/>
        </p:nvSpPr>
        <p:spPr>
          <a:xfrm>
            <a:off x="6682312" y="4193219"/>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Retrievers</a:t>
            </a:r>
          </a:p>
        </p:txBody>
      </p:sp>
      <p:sp>
        <p:nvSpPr>
          <p:cNvPr id="12" name="Rectangle 11">
            <a:extLst>
              <a:ext uri="{FF2B5EF4-FFF2-40B4-BE49-F238E27FC236}">
                <a16:creationId xmlns:a16="http://schemas.microsoft.com/office/drawing/2014/main" id="{41B4EEE0-2B98-CE52-E92C-820F57F5E542}"/>
              </a:ext>
            </a:extLst>
          </p:cNvPr>
          <p:cNvSpPr/>
          <p:nvPr/>
        </p:nvSpPr>
        <p:spPr>
          <a:xfrm>
            <a:off x="6579408" y="1455938"/>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Document Loaders</a:t>
            </a:r>
          </a:p>
        </p:txBody>
      </p:sp>
      <p:cxnSp>
        <p:nvCxnSpPr>
          <p:cNvPr id="14" name="Straight Arrow Connector 13">
            <a:extLst>
              <a:ext uri="{FF2B5EF4-FFF2-40B4-BE49-F238E27FC236}">
                <a16:creationId xmlns:a16="http://schemas.microsoft.com/office/drawing/2014/main" id="{862FA2BD-A156-2F22-5EA8-9C9745B10A52}"/>
              </a:ext>
            </a:extLst>
          </p:cNvPr>
          <p:cNvCxnSpPr/>
          <p:nvPr/>
        </p:nvCxnSpPr>
        <p:spPr>
          <a:xfrm flipH="1" flipV="1">
            <a:off x="7759083" y="2157274"/>
            <a:ext cx="578255" cy="64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4602471A-3E41-6DE8-B271-13A22A519F48}"/>
              </a:ext>
            </a:extLst>
          </p:cNvPr>
          <p:cNvCxnSpPr/>
          <p:nvPr/>
        </p:nvCxnSpPr>
        <p:spPr>
          <a:xfrm flipV="1">
            <a:off x="9889724" y="2157274"/>
            <a:ext cx="443884" cy="648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C6FD446-AB50-C2BB-F4D9-84DA1CF37B4F}"/>
              </a:ext>
            </a:extLst>
          </p:cNvPr>
          <p:cNvCxnSpPr/>
          <p:nvPr/>
        </p:nvCxnSpPr>
        <p:spPr>
          <a:xfrm flipH="1">
            <a:off x="7643674" y="3480047"/>
            <a:ext cx="693664" cy="713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6BA32E3-3401-6773-C792-B17CF42CC0F9}"/>
              </a:ext>
            </a:extLst>
          </p:cNvPr>
          <p:cNvCxnSpPr/>
          <p:nvPr/>
        </p:nvCxnSpPr>
        <p:spPr>
          <a:xfrm>
            <a:off x="9889724" y="3480047"/>
            <a:ext cx="701336" cy="664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021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C7084-C959-6935-0D99-455326A78F99}"/>
              </a:ext>
            </a:extLst>
          </p:cNvPr>
          <p:cNvSpPr>
            <a:spLocks noGrp="1"/>
          </p:cNvSpPr>
          <p:nvPr>
            <p:ph type="ctrTitle"/>
          </p:nvPr>
        </p:nvSpPr>
        <p:spPr>
          <a:xfrm>
            <a:off x="1693076" y="230820"/>
            <a:ext cx="9145588" cy="1087900"/>
          </a:xfrm>
        </p:spPr>
        <p:txBody>
          <a:bodyPr anchor="b"/>
          <a:lstStyle/>
          <a:p>
            <a:r>
              <a:rPr lang="en-US" dirty="0"/>
              <a:t>Why we need RAG ?</a:t>
            </a:r>
          </a:p>
        </p:txBody>
      </p:sp>
      <p:sp>
        <p:nvSpPr>
          <p:cNvPr id="3" name="Rectangle 2">
            <a:extLst>
              <a:ext uri="{FF2B5EF4-FFF2-40B4-BE49-F238E27FC236}">
                <a16:creationId xmlns:a16="http://schemas.microsoft.com/office/drawing/2014/main" id="{914439A6-8890-8B96-660A-7A94468D6D17}"/>
              </a:ext>
            </a:extLst>
          </p:cNvPr>
          <p:cNvSpPr/>
          <p:nvPr/>
        </p:nvSpPr>
        <p:spPr>
          <a:xfrm>
            <a:off x="4154750" y="1979720"/>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a:t>
            </a:r>
            <a:endParaRPr lang="en-IN" dirty="0"/>
          </a:p>
        </p:txBody>
      </p:sp>
      <p:sp>
        <p:nvSpPr>
          <p:cNvPr id="4" name="TextBox 3">
            <a:extLst>
              <a:ext uri="{FF2B5EF4-FFF2-40B4-BE49-F238E27FC236}">
                <a16:creationId xmlns:a16="http://schemas.microsoft.com/office/drawing/2014/main" id="{6DE9E014-9698-EA53-2039-95C35B7CCB06}"/>
              </a:ext>
            </a:extLst>
          </p:cNvPr>
          <p:cNvSpPr txBox="1"/>
          <p:nvPr/>
        </p:nvSpPr>
        <p:spPr>
          <a:xfrm>
            <a:off x="2175029" y="2052506"/>
            <a:ext cx="914400" cy="369332"/>
          </a:xfrm>
          <a:prstGeom prst="rect">
            <a:avLst/>
          </a:prstGeom>
          <a:noFill/>
        </p:spPr>
        <p:txBody>
          <a:bodyPr wrap="square" rtlCol="0">
            <a:spAutoFit/>
          </a:bodyPr>
          <a:lstStyle/>
          <a:p>
            <a:r>
              <a:rPr lang="en-IN" dirty="0">
                <a:solidFill>
                  <a:schemeClr val="bg2"/>
                </a:solidFill>
              </a:rPr>
              <a:t>Prompt</a:t>
            </a:r>
          </a:p>
        </p:txBody>
      </p:sp>
      <p:sp>
        <p:nvSpPr>
          <p:cNvPr id="5" name="TextBox 4">
            <a:extLst>
              <a:ext uri="{FF2B5EF4-FFF2-40B4-BE49-F238E27FC236}">
                <a16:creationId xmlns:a16="http://schemas.microsoft.com/office/drawing/2014/main" id="{3CC486CF-71F4-8EEC-130B-1A74CE3B1516}"/>
              </a:ext>
            </a:extLst>
          </p:cNvPr>
          <p:cNvSpPr txBox="1"/>
          <p:nvPr/>
        </p:nvSpPr>
        <p:spPr>
          <a:xfrm>
            <a:off x="6520649" y="2052506"/>
            <a:ext cx="1211802" cy="369332"/>
          </a:xfrm>
          <a:prstGeom prst="rect">
            <a:avLst/>
          </a:prstGeom>
          <a:noFill/>
        </p:spPr>
        <p:txBody>
          <a:bodyPr wrap="square" rtlCol="0">
            <a:spAutoFit/>
          </a:bodyPr>
          <a:lstStyle/>
          <a:p>
            <a:r>
              <a:rPr lang="en-IN" dirty="0">
                <a:solidFill>
                  <a:schemeClr val="bg2"/>
                </a:solidFill>
              </a:rPr>
              <a:t>Response</a:t>
            </a:r>
          </a:p>
        </p:txBody>
      </p:sp>
      <p:cxnSp>
        <p:nvCxnSpPr>
          <p:cNvPr id="7" name="Straight Arrow Connector 6">
            <a:extLst>
              <a:ext uri="{FF2B5EF4-FFF2-40B4-BE49-F238E27FC236}">
                <a16:creationId xmlns:a16="http://schemas.microsoft.com/office/drawing/2014/main" id="{98B9F845-D9D5-D7B4-4765-B5F9019BD8B5}"/>
              </a:ext>
            </a:extLst>
          </p:cNvPr>
          <p:cNvCxnSpPr>
            <a:stCxn id="4" idx="3"/>
          </p:cNvCxnSpPr>
          <p:nvPr/>
        </p:nvCxnSpPr>
        <p:spPr>
          <a:xfrm>
            <a:off x="3089429" y="2237172"/>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6561BE4-1CDF-88C0-D2B7-A78F035E7370}"/>
              </a:ext>
            </a:extLst>
          </p:cNvPr>
          <p:cNvCxnSpPr>
            <a:endCxn id="5" idx="1"/>
          </p:cNvCxnSpPr>
          <p:nvPr/>
        </p:nvCxnSpPr>
        <p:spPr>
          <a:xfrm>
            <a:off x="5646198" y="2237172"/>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D7DC59C-F875-DCF2-9A85-A8886259B61E}"/>
              </a:ext>
            </a:extLst>
          </p:cNvPr>
          <p:cNvSpPr txBox="1"/>
          <p:nvPr/>
        </p:nvSpPr>
        <p:spPr>
          <a:xfrm>
            <a:off x="4083728" y="2892355"/>
            <a:ext cx="2760955" cy="369332"/>
          </a:xfrm>
          <a:prstGeom prst="rect">
            <a:avLst/>
          </a:prstGeom>
          <a:noFill/>
        </p:spPr>
        <p:txBody>
          <a:bodyPr wrap="square" rtlCol="0">
            <a:spAutoFit/>
          </a:bodyPr>
          <a:lstStyle/>
          <a:p>
            <a:r>
              <a:rPr lang="en-IN" dirty="0">
                <a:solidFill>
                  <a:schemeClr val="bg2"/>
                </a:solidFill>
              </a:rPr>
              <a:t>Normal Flow</a:t>
            </a:r>
          </a:p>
        </p:txBody>
      </p:sp>
    </p:spTree>
    <p:extLst>
      <p:ext uri="{BB962C8B-B14F-4D97-AF65-F5344CB8AC3E}">
        <p14:creationId xmlns:p14="http://schemas.microsoft.com/office/powerpoint/2010/main" val="1751885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02F3E-A28E-9123-B103-FC50493B16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39740-9B13-4A48-51E5-4D8A39BD234B}"/>
              </a:ext>
            </a:extLst>
          </p:cNvPr>
          <p:cNvSpPr>
            <a:spLocks noGrp="1"/>
          </p:cNvSpPr>
          <p:nvPr>
            <p:ph type="ctrTitle"/>
          </p:nvPr>
        </p:nvSpPr>
        <p:spPr>
          <a:xfrm>
            <a:off x="1693076" y="230820"/>
            <a:ext cx="9145588" cy="1087900"/>
          </a:xfrm>
        </p:spPr>
        <p:txBody>
          <a:bodyPr anchor="b"/>
          <a:lstStyle/>
          <a:p>
            <a:r>
              <a:rPr lang="en-US" dirty="0"/>
              <a:t>Why we need RAG ?</a:t>
            </a:r>
          </a:p>
        </p:txBody>
      </p:sp>
      <p:sp>
        <p:nvSpPr>
          <p:cNvPr id="3" name="Rectangle 2">
            <a:extLst>
              <a:ext uri="{FF2B5EF4-FFF2-40B4-BE49-F238E27FC236}">
                <a16:creationId xmlns:a16="http://schemas.microsoft.com/office/drawing/2014/main" id="{6DCF4CB3-55EC-DFF7-3C83-1324B1F7EBDD}"/>
              </a:ext>
            </a:extLst>
          </p:cNvPr>
          <p:cNvSpPr/>
          <p:nvPr/>
        </p:nvSpPr>
        <p:spPr>
          <a:xfrm>
            <a:off x="4154750" y="1979720"/>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a:t>
            </a:r>
            <a:endParaRPr lang="en-IN" dirty="0"/>
          </a:p>
        </p:txBody>
      </p:sp>
      <p:sp>
        <p:nvSpPr>
          <p:cNvPr id="4" name="TextBox 3">
            <a:extLst>
              <a:ext uri="{FF2B5EF4-FFF2-40B4-BE49-F238E27FC236}">
                <a16:creationId xmlns:a16="http://schemas.microsoft.com/office/drawing/2014/main" id="{5B53B856-4BE3-BA94-C400-D77708AB65DF}"/>
              </a:ext>
            </a:extLst>
          </p:cNvPr>
          <p:cNvSpPr txBox="1"/>
          <p:nvPr/>
        </p:nvSpPr>
        <p:spPr>
          <a:xfrm>
            <a:off x="2175029" y="2052506"/>
            <a:ext cx="914400" cy="369332"/>
          </a:xfrm>
          <a:prstGeom prst="rect">
            <a:avLst/>
          </a:prstGeom>
          <a:noFill/>
        </p:spPr>
        <p:txBody>
          <a:bodyPr wrap="square" rtlCol="0">
            <a:spAutoFit/>
          </a:bodyPr>
          <a:lstStyle/>
          <a:p>
            <a:r>
              <a:rPr lang="en-IN" dirty="0">
                <a:solidFill>
                  <a:schemeClr val="bg2"/>
                </a:solidFill>
              </a:rPr>
              <a:t>Prompt</a:t>
            </a:r>
          </a:p>
        </p:txBody>
      </p:sp>
      <p:sp>
        <p:nvSpPr>
          <p:cNvPr id="5" name="TextBox 4">
            <a:extLst>
              <a:ext uri="{FF2B5EF4-FFF2-40B4-BE49-F238E27FC236}">
                <a16:creationId xmlns:a16="http://schemas.microsoft.com/office/drawing/2014/main" id="{07746408-A179-65FC-E4EB-64DCC70FB44F}"/>
              </a:ext>
            </a:extLst>
          </p:cNvPr>
          <p:cNvSpPr txBox="1"/>
          <p:nvPr/>
        </p:nvSpPr>
        <p:spPr>
          <a:xfrm>
            <a:off x="6520649" y="2052506"/>
            <a:ext cx="1211802" cy="369332"/>
          </a:xfrm>
          <a:prstGeom prst="rect">
            <a:avLst/>
          </a:prstGeom>
          <a:noFill/>
        </p:spPr>
        <p:txBody>
          <a:bodyPr wrap="square" rtlCol="0">
            <a:spAutoFit/>
          </a:bodyPr>
          <a:lstStyle/>
          <a:p>
            <a:r>
              <a:rPr lang="en-IN" dirty="0">
                <a:solidFill>
                  <a:schemeClr val="bg2"/>
                </a:solidFill>
              </a:rPr>
              <a:t>Response</a:t>
            </a:r>
          </a:p>
        </p:txBody>
      </p:sp>
      <p:cxnSp>
        <p:nvCxnSpPr>
          <p:cNvPr id="7" name="Straight Arrow Connector 6">
            <a:extLst>
              <a:ext uri="{FF2B5EF4-FFF2-40B4-BE49-F238E27FC236}">
                <a16:creationId xmlns:a16="http://schemas.microsoft.com/office/drawing/2014/main" id="{C3580576-C7FF-9A6C-EDA5-094422E3A205}"/>
              </a:ext>
            </a:extLst>
          </p:cNvPr>
          <p:cNvCxnSpPr>
            <a:stCxn id="4" idx="3"/>
          </p:cNvCxnSpPr>
          <p:nvPr/>
        </p:nvCxnSpPr>
        <p:spPr>
          <a:xfrm>
            <a:off x="3089429" y="2237172"/>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265F38D-2E08-264A-F3C7-E78723C9AB29}"/>
              </a:ext>
            </a:extLst>
          </p:cNvPr>
          <p:cNvCxnSpPr>
            <a:endCxn id="5" idx="1"/>
          </p:cNvCxnSpPr>
          <p:nvPr/>
        </p:nvCxnSpPr>
        <p:spPr>
          <a:xfrm>
            <a:off x="5646198" y="2237172"/>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5E74E4A-E12F-4CFD-BFBF-A6A2BB21F44C}"/>
              </a:ext>
            </a:extLst>
          </p:cNvPr>
          <p:cNvSpPr txBox="1"/>
          <p:nvPr/>
        </p:nvSpPr>
        <p:spPr>
          <a:xfrm>
            <a:off x="4083728" y="2892355"/>
            <a:ext cx="2760955" cy="369332"/>
          </a:xfrm>
          <a:prstGeom prst="rect">
            <a:avLst/>
          </a:prstGeom>
          <a:noFill/>
        </p:spPr>
        <p:txBody>
          <a:bodyPr wrap="square" rtlCol="0">
            <a:spAutoFit/>
          </a:bodyPr>
          <a:lstStyle/>
          <a:p>
            <a:r>
              <a:rPr lang="en-IN" dirty="0">
                <a:solidFill>
                  <a:schemeClr val="bg2"/>
                </a:solidFill>
              </a:rPr>
              <a:t>Normal Flow</a:t>
            </a:r>
          </a:p>
        </p:txBody>
      </p:sp>
      <p:sp>
        <p:nvSpPr>
          <p:cNvPr id="6" name="TextBox 5">
            <a:extLst>
              <a:ext uri="{FF2B5EF4-FFF2-40B4-BE49-F238E27FC236}">
                <a16:creationId xmlns:a16="http://schemas.microsoft.com/office/drawing/2014/main" id="{5B8B696E-4186-6513-40E2-F98880C9FBA0}"/>
              </a:ext>
            </a:extLst>
          </p:cNvPr>
          <p:cNvSpPr txBox="1"/>
          <p:nvPr/>
        </p:nvSpPr>
        <p:spPr>
          <a:xfrm>
            <a:off x="1873189" y="3734439"/>
            <a:ext cx="6507332" cy="369332"/>
          </a:xfrm>
          <a:prstGeom prst="rect">
            <a:avLst/>
          </a:prstGeom>
          <a:noFill/>
        </p:spPr>
        <p:txBody>
          <a:bodyPr wrap="square" rtlCol="0">
            <a:spAutoFit/>
          </a:bodyPr>
          <a:lstStyle/>
          <a:p>
            <a:r>
              <a:rPr lang="en-US" dirty="0">
                <a:solidFill>
                  <a:schemeClr val="bg2"/>
                </a:solidFill>
              </a:rPr>
              <a:t>What if I ask ChatGPT about our company’s leave policy?</a:t>
            </a:r>
            <a:endParaRPr lang="en-IN" dirty="0">
              <a:solidFill>
                <a:schemeClr val="bg2"/>
              </a:solidFill>
            </a:endParaRPr>
          </a:p>
        </p:txBody>
      </p:sp>
    </p:spTree>
    <p:extLst>
      <p:ext uri="{BB962C8B-B14F-4D97-AF65-F5344CB8AC3E}">
        <p14:creationId xmlns:p14="http://schemas.microsoft.com/office/powerpoint/2010/main" val="2166094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0C5C7-4E74-4008-A2DD-8DBCB09A0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01136-EC59-F916-FA3C-BE9B0A8D95E8}"/>
              </a:ext>
            </a:extLst>
          </p:cNvPr>
          <p:cNvSpPr>
            <a:spLocks noGrp="1"/>
          </p:cNvSpPr>
          <p:nvPr>
            <p:ph type="ctrTitle"/>
          </p:nvPr>
        </p:nvSpPr>
        <p:spPr>
          <a:xfrm>
            <a:off x="1693076" y="230820"/>
            <a:ext cx="9145588" cy="1087900"/>
          </a:xfrm>
        </p:spPr>
        <p:txBody>
          <a:bodyPr anchor="b"/>
          <a:lstStyle/>
          <a:p>
            <a:r>
              <a:rPr lang="en-US" dirty="0"/>
              <a:t>Why we need RAG ?</a:t>
            </a:r>
          </a:p>
        </p:txBody>
      </p:sp>
      <p:sp>
        <p:nvSpPr>
          <p:cNvPr id="3" name="Rectangle 2">
            <a:extLst>
              <a:ext uri="{FF2B5EF4-FFF2-40B4-BE49-F238E27FC236}">
                <a16:creationId xmlns:a16="http://schemas.microsoft.com/office/drawing/2014/main" id="{778BA77A-837F-58E9-85EA-676F0C8D1EEC}"/>
              </a:ext>
            </a:extLst>
          </p:cNvPr>
          <p:cNvSpPr/>
          <p:nvPr/>
        </p:nvSpPr>
        <p:spPr>
          <a:xfrm>
            <a:off x="4154750" y="1979720"/>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a:t>
            </a:r>
            <a:endParaRPr lang="en-IN" dirty="0"/>
          </a:p>
        </p:txBody>
      </p:sp>
      <p:sp>
        <p:nvSpPr>
          <p:cNvPr id="4" name="TextBox 3">
            <a:extLst>
              <a:ext uri="{FF2B5EF4-FFF2-40B4-BE49-F238E27FC236}">
                <a16:creationId xmlns:a16="http://schemas.microsoft.com/office/drawing/2014/main" id="{3066E561-5DE3-A9D4-1482-95EEACA0CCAB}"/>
              </a:ext>
            </a:extLst>
          </p:cNvPr>
          <p:cNvSpPr txBox="1"/>
          <p:nvPr/>
        </p:nvSpPr>
        <p:spPr>
          <a:xfrm>
            <a:off x="2175029" y="2052506"/>
            <a:ext cx="914400" cy="369332"/>
          </a:xfrm>
          <a:prstGeom prst="rect">
            <a:avLst/>
          </a:prstGeom>
          <a:noFill/>
        </p:spPr>
        <p:txBody>
          <a:bodyPr wrap="square" rtlCol="0">
            <a:spAutoFit/>
          </a:bodyPr>
          <a:lstStyle/>
          <a:p>
            <a:r>
              <a:rPr lang="en-IN" dirty="0">
                <a:solidFill>
                  <a:schemeClr val="bg2"/>
                </a:solidFill>
              </a:rPr>
              <a:t>Prompt</a:t>
            </a:r>
          </a:p>
        </p:txBody>
      </p:sp>
      <p:sp>
        <p:nvSpPr>
          <p:cNvPr id="5" name="TextBox 4">
            <a:extLst>
              <a:ext uri="{FF2B5EF4-FFF2-40B4-BE49-F238E27FC236}">
                <a16:creationId xmlns:a16="http://schemas.microsoft.com/office/drawing/2014/main" id="{81034DCD-8702-3F8E-E383-BED9216C6C28}"/>
              </a:ext>
            </a:extLst>
          </p:cNvPr>
          <p:cNvSpPr txBox="1"/>
          <p:nvPr/>
        </p:nvSpPr>
        <p:spPr>
          <a:xfrm>
            <a:off x="6520649" y="2052506"/>
            <a:ext cx="1211802" cy="369332"/>
          </a:xfrm>
          <a:prstGeom prst="rect">
            <a:avLst/>
          </a:prstGeom>
          <a:noFill/>
        </p:spPr>
        <p:txBody>
          <a:bodyPr wrap="square" rtlCol="0">
            <a:spAutoFit/>
          </a:bodyPr>
          <a:lstStyle/>
          <a:p>
            <a:r>
              <a:rPr lang="en-IN" dirty="0">
                <a:solidFill>
                  <a:schemeClr val="bg2"/>
                </a:solidFill>
              </a:rPr>
              <a:t>Response</a:t>
            </a:r>
          </a:p>
        </p:txBody>
      </p:sp>
      <p:cxnSp>
        <p:nvCxnSpPr>
          <p:cNvPr id="7" name="Straight Arrow Connector 6">
            <a:extLst>
              <a:ext uri="{FF2B5EF4-FFF2-40B4-BE49-F238E27FC236}">
                <a16:creationId xmlns:a16="http://schemas.microsoft.com/office/drawing/2014/main" id="{0E9B267E-1103-2154-8A9E-4E32F3BCA7A1}"/>
              </a:ext>
            </a:extLst>
          </p:cNvPr>
          <p:cNvCxnSpPr>
            <a:stCxn id="4" idx="3"/>
          </p:cNvCxnSpPr>
          <p:nvPr/>
        </p:nvCxnSpPr>
        <p:spPr>
          <a:xfrm>
            <a:off x="3089429" y="2237172"/>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7F71F0C-CFCD-70A8-91C6-AFA42CE9C0A0}"/>
              </a:ext>
            </a:extLst>
          </p:cNvPr>
          <p:cNvCxnSpPr>
            <a:endCxn id="5" idx="1"/>
          </p:cNvCxnSpPr>
          <p:nvPr/>
        </p:nvCxnSpPr>
        <p:spPr>
          <a:xfrm>
            <a:off x="5646198" y="2237172"/>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66B1813-0276-F132-7D4A-15A53B2475A4}"/>
              </a:ext>
            </a:extLst>
          </p:cNvPr>
          <p:cNvSpPr txBox="1"/>
          <p:nvPr/>
        </p:nvSpPr>
        <p:spPr>
          <a:xfrm>
            <a:off x="4083728" y="2892355"/>
            <a:ext cx="2760955" cy="369332"/>
          </a:xfrm>
          <a:prstGeom prst="rect">
            <a:avLst/>
          </a:prstGeom>
          <a:noFill/>
        </p:spPr>
        <p:txBody>
          <a:bodyPr wrap="square" rtlCol="0">
            <a:spAutoFit/>
          </a:bodyPr>
          <a:lstStyle/>
          <a:p>
            <a:r>
              <a:rPr lang="en-IN" dirty="0">
                <a:solidFill>
                  <a:schemeClr val="bg2"/>
                </a:solidFill>
              </a:rPr>
              <a:t>Normal Flow</a:t>
            </a:r>
          </a:p>
        </p:txBody>
      </p:sp>
      <p:sp>
        <p:nvSpPr>
          <p:cNvPr id="6" name="TextBox 5">
            <a:extLst>
              <a:ext uri="{FF2B5EF4-FFF2-40B4-BE49-F238E27FC236}">
                <a16:creationId xmlns:a16="http://schemas.microsoft.com/office/drawing/2014/main" id="{0F40F853-5759-DE56-9D97-EA3FF0F44518}"/>
              </a:ext>
            </a:extLst>
          </p:cNvPr>
          <p:cNvSpPr txBox="1"/>
          <p:nvPr/>
        </p:nvSpPr>
        <p:spPr>
          <a:xfrm>
            <a:off x="1873189" y="3734439"/>
            <a:ext cx="6507332" cy="369332"/>
          </a:xfrm>
          <a:prstGeom prst="rect">
            <a:avLst/>
          </a:prstGeom>
          <a:noFill/>
        </p:spPr>
        <p:txBody>
          <a:bodyPr wrap="square" rtlCol="0">
            <a:spAutoFit/>
          </a:bodyPr>
          <a:lstStyle/>
          <a:p>
            <a:r>
              <a:rPr lang="en-US" dirty="0">
                <a:solidFill>
                  <a:schemeClr val="bg2"/>
                </a:solidFill>
              </a:rPr>
              <a:t>What if I ask ChatGPT about our company’s leave policy?</a:t>
            </a:r>
            <a:endParaRPr lang="en-IN" dirty="0">
              <a:solidFill>
                <a:schemeClr val="bg2"/>
              </a:solidFill>
            </a:endParaRPr>
          </a:p>
        </p:txBody>
      </p:sp>
      <p:sp>
        <p:nvSpPr>
          <p:cNvPr id="8" name="TextBox 7">
            <a:extLst>
              <a:ext uri="{FF2B5EF4-FFF2-40B4-BE49-F238E27FC236}">
                <a16:creationId xmlns:a16="http://schemas.microsoft.com/office/drawing/2014/main" id="{F80011FF-E128-3D5E-3600-24F3E464C28A}"/>
              </a:ext>
            </a:extLst>
          </p:cNvPr>
          <p:cNvSpPr txBox="1"/>
          <p:nvPr/>
        </p:nvSpPr>
        <p:spPr>
          <a:xfrm>
            <a:off x="2712129" y="4378456"/>
            <a:ext cx="3844031" cy="369332"/>
          </a:xfrm>
          <a:prstGeom prst="rect">
            <a:avLst/>
          </a:prstGeom>
          <a:noFill/>
        </p:spPr>
        <p:txBody>
          <a:bodyPr wrap="square" rtlCol="0">
            <a:spAutoFit/>
          </a:bodyPr>
          <a:lstStyle/>
          <a:p>
            <a:pPr marL="342900" indent="-342900">
              <a:buAutoNum type="arabicPeriod"/>
            </a:pPr>
            <a:r>
              <a:rPr lang="en-IN" dirty="0">
                <a:solidFill>
                  <a:schemeClr val="bg2"/>
                </a:solidFill>
              </a:rPr>
              <a:t>Lack Of Private Data</a:t>
            </a:r>
          </a:p>
        </p:txBody>
      </p:sp>
    </p:spTree>
    <p:extLst>
      <p:ext uri="{BB962C8B-B14F-4D97-AF65-F5344CB8AC3E}">
        <p14:creationId xmlns:p14="http://schemas.microsoft.com/office/powerpoint/2010/main" val="475100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44308-989B-2CA6-71A6-76B905A22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2562F-4695-F9AF-6F2F-3F7CCC95C8C7}"/>
              </a:ext>
            </a:extLst>
          </p:cNvPr>
          <p:cNvSpPr>
            <a:spLocks noGrp="1"/>
          </p:cNvSpPr>
          <p:nvPr>
            <p:ph type="ctrTitle"/>
          </p:nvPr>
        </p:nvSpPr>
        <p:spPr>
          <a:xfrm>
            <a:off x="1693076" y="230820"/>
            <a:ext cx="9145588" cy="1087900"/>
          </a:xfrm>
        </p:spPr>
        <p:txBody>
          <a:bodyPr anchor="b"/>
          <a:lstStyle/>
          <a:p>
            <a:r>
              <a:rPr lang="en-US" dirty="0"/>
              <a:t>Why we need RAG ?</a:t>
            </a:r>
          </a:p>
        </p:txBody>
      </p:sp>
      <p:sp>
        <p:nvSpPr>
          <p:cNvPr id="3" name="Rectangle 2">
            <a:extLst>
              <a:ext uri="{FF2B5EF4-FFF2-40B4-BE49-F238E27FC236}">
                <a16:creationId xmlns:a16="http://schemas.microsoft.com/office/drawing/2014/main" id="{59822C6F-14D1-47F7-AEC9-3C121D5EFF38}"/>
              </a:ext>
            </a:extLst>
          </p:cNvPr>
          <p:cNvSpPr/>
          <p:nvPr/>
        </p:nvSpPr>
        <p:spPr>
          <a:xfrm>
            <a:off x="4154750" y="1979720"/>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a:t>
            </a:r>
            <a:endParaRPr lang="en-IN" dirty="0"/>
          </a:p>
        </p:txBody>
      </p:sp>
      <p:sp>
        <p:nvSpPr>
          <p:cNvPr id="4" name="TextBox 3">
            <a:extLst>
              <a:ext uri="{FF2B5EF4-FFF2-40B4-BE49-F238E27FC236}">
                <a16:creationId xmlns:a16="http://schemas.microsoft.com/office/drawing/2014/main" id="{2E90B642-278A-B229-C45B-9B992545ECBD}"/>
              </a:ext>
            </a:extLst>
          </p:cNvPr>
          <p:cNvSpPr txBox="1"/>
          <p:nvPr/>
        </p:nvSpPr>
        <p:spPr>
          <a:xfrm>
            <a:off x="2175029" y="2052506"/>
            <a:ext cx="914400" cy="369332"/>
          </a:xfrm>
          <a:prstGeom prst="rect">
            <a:avLst/>
          </a:prstGeom>
          <a:noFill/>
        </p:spPr>
        <p:txBody>
          <a:bodyPr wrap="square" rtlCol="0">
            <a:spAutoFit/>
          </a:bodyPr>
          <a:lstStyle/>
          <a:p>
            <a:r>
              <a:rPr lang="en-IN" dirty="0">
                <a:solidFill>
                  <a:schemeClr val="bg2"/>
                </a:solidFill>
              </a:rPr>
              <a:t>Prompt</a:t>
            </a:r>
          </a:p>
        </p:txBody>
      </p:sp>
      <p:sp>
        <p:nvSpPr>
          <p:cNvPr id="5" name="TextBox 4">
            <a:extLst>
              <a:ext uri="{FF2B5EF4-FFF2-40B4-BE49-F238E27FC236}">
                <a16:creationId xmlns:a16="http://schemas.microsoft.com/office/drawing/2014/main" id="{9506D90C-13D8-E806-D596-1C1A3D0764ED}"/>
              </a:ext>
            </a:extLst>
          </p:cNvPr>
          <p:cNvSpPr txBox="1"/>
          <p:nvPr/>
        </p:nvSpPr>
        <p:spPr>
          <a:xfrm>
            <a:off x="6520649" y="2052506"/>
            <a:ext cx="1211802" cy="369332"/>
          </a:xfrm>
          <a:prstGeom prst="rect">
            <a:avLst/>
          </a:prstGeom>
          <a:noFill/>
        </p:spPr>
        <p:txBody>
          <a:bodyPr wrap="square" rtlCol="0">
            <a:spAutoFit/>
          </a:bodyPr>
          <a:lstStyle/>
          <a:p>
            <a:r>
              <a:rPr lang="en-IN" dirty="0">
                <a:solidFill>
                  <a:schemeClr val="bg2"/>
                </a:solidFill>
              </a:rPr>
              <a:t>Response</a:t>
            </a:r>
          </a:p>
        </p:txBody>
      </p:sp>
      <p:cxnSp>
        <p:nvCxnSpPr>
          <p:cNvPr id="7" name="Straight Arrow Connector 6">
            <a:extLst>
              <a:ext uri="{FF2B5EF4-FFF2-40B4-BE49-F238E27FC236}">
                <a16:creationId xmlns:a16="http://schemas.microsoft.com/office/drawing/2014/main" id="{D1CBFDFE-1639-9328-B8D7-6615705F75D7}"/>
              </a:ext>
            </a:extLst>
          </p:cNvPr>
          <p:cNvCxnSpPr>
            <a:stCxn id="4" idx="3"/>
          </p:cNvCxnSpPr>
          <p:nvPr/>
        </p:nvCxnSpPr>
        <p:spPr>
          <a:xfrm>
            <a:off x="3089429" y="2237172"/>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EDE0538-9F96-15D8-225C-CA8B98F4B031}"/>
              </a:ext>
            </a:extLst>
          </p:cNvPr>
          <p:cNvCxnSpPr>
            <a:endCxn id="5" idx="1"/>
          </p:cNvCxnSpPr>
          <p:nvPr/>
        </p:nvCxnSpPr>
        <p:spPr>
          <a:xfrm>
            <a:off x="5646198" y="2237172"/>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E4CCF6A-F0DC-AE09-1CBE-460BFB84E114}"/>
              </a:ext>
            </a:extLst>
          </p:cNvPr>
          <p:cNvSpPr txBox="1"/>
          <p:nvPr/>
        </p:nvSpPr>
        <p:spPr>
          <a:xfrm>
            <a:off x="4083728" y="2892355"/>
            <a:ext cx="2760955" cy="369332"/>
          </a:xfrm>
          <a:prstGeom prst="rect">
            <a:avLst/>
          </a:prstGeom>
          <a:noFill/>
        </p:spPr>
        <p:txBody>
          <a:bodyPr wrap="square" rtlCol="0">
            <a:spAutoFit/>
          </a:bodyPr>
          <a:lstStyle/>
          <a:p>
            <a:r>
              <a:rPr lang="en-IN" dirty="0">
                <a:solidFill>
                  <a:schemeClr val="bg2"/>
                </a:solidFill>
              </a:rPr>
              <a:t>Normal Flow</a:t>
            </a:r>
          </a:p>
        </p:txBody>
      </p:sp>
      <p:sp>
        <p:nvSpPr>
          <p:cNvPr id="6" name="TextBox 5">
            <a:extLst>
              <a:ext uri="{FF2B5EF4-FFF2-40B4-BE49-F238E27FC236}">
                <a16:creationId xmlns:a16="http://schemas.microsoft.com/office/drawing/2014/main" id="{179EBA91-9DC3-8970-30E3-7E24B591D5F1}"/>
              </a:ext>
            </a:extLst>
          </p:cNvPr>
          <p:cNvSpPr txBox="1"/>
          <p:nvPr/>
        </p:nvSpPr>
        <p:spPr>
          <a:xfrm>
            <a:off x="1873189" y="3734439"/>
            <a:ext cx="6507332" cy="369332"/>
          </a:xfrm>
          <a:prstGeom prst="rect">
            <a:avLst/>
          </a:prstGeom>
          <a:noFill/>
        </p:spPr>
        <p:txBody>
          <a:bodyPr wrap="square" rtlCol="0">
            <a:spAutoFit/>
          </a:bodyPr>
          <a:lstStyle/>
          <a:p>
            <a:r>
              <a:rPr lang="en-US" dirty="0">
                <a:solidFill>
                  <a:schemeClr val="bg2"/>
                </a:solidFill>
              </a:rPr>
              <a:t>What if I ask ChatGPT about our company’s leave policy?</a:t>
            </a:r>
            <a:endParaRPr lang="en-IN" dirty="0">
              <a:solidFill>
                <a:schemeClr val="bg2"/>
              </a:solidFill>
            </a:endParaRPr>
          </a:p>
        </p:txBody>
      </p:sp>
      <p:sp>
        <p:nvSpPr>
          <p:cNvPr id="8" name="TextBox 7">
            <a:extLst>
              <a:ext uri="{FF2B5EF4-FFF2-40B4-BE49-F238E27FC236}">
                <a16:creationId xmlns:a16="http://schemas.microsoft.com/office/drawing/2014/main" id="{DD9D9B03-F48C-6B82-77AC-A264A36B4D1A}"/>
              </a:ext>
            </a:extLst>
          </p:cNvPr>
          <p:cNvSpPr txBox="1"/>
          <p:nvPr/>
        </p:nvSpPr>
        <p:spPr>
          <a:xfrm>
            <a:off x="2712129" y="4378456"/>
            <a:ext cx="3844031" cy="646331"/>
          </a:xfrm>
          <a:prstGeom prst="rect">
            <a:avLst/>
          </a:prstGeom>
          <a:noFill/>
        </p:spPr>
        <p:txBody>
          <a:bodyPr wrap="square" rtlCol="0">
            <a:spAutoFit/>
          </a:bodyPr>
          <a:lstStyle/>
          <a:p>
            <a:pPr marL="342900" indent="-342900">
              <a:buAutoNum type="arabicPeriod"/>
            </a:pPr>
            <a:r>
              <a:rPr lang="en-IN" dirty="0">
                <a:solidFill>
                  <a:schemeClr val="bg2"/>
                </a:solidFill>
              </a:rPr>
              <a:t>Lack Of Private Data</a:t>
            </a:r>
          </a:p>
          <a:p>
            <a:pPr marL="342900" indent="-342900">
              <a:buAutoNum type="arabicPeriod"/>
            </a:pPr>
            <a:r>
              <a:rPr lang="en-IN" dirty="0">
                <a:solidFill>
                  <a:schemeClr val="bg2"/>
                </a:solidFill>
              </a:rPr>
              <a:t>Not trained on “Recent Data”</a:t>
            </a:r>
          </a:p>
        </p:txBody>
      </p:sp>
    </p:spTree>
    <p:extLst>
      <p:ext uri="{BB962C8B-B14F-4D97-AF65-F5344CB8AC3E}">
        <p14:creationId xmlns:p14="http://schemas.microsoft.com/office/powerpoint/2010/main" val="2210606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8017-FE3B-7E89-A098-C47F0F104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63C1B-C2A0-2AC5-CBC0-A8072D52D041}"/>
              </a:ext>
            </a:extLst>
          </p:cNvPr>
          <p:cNvSpPr>
            <a:spLocks noGrp="1"/>
          </p:cNvSpPr>
          <p:nvPr>
            <p:ph type="ctrTitle"/>
          </p:nvPr>
        </p:nvSpPr>
        <p:spPr>
          <a:xfrm>
            <a:off x="1693076" y="230820"/>
            <a:ext cx="9145588" cy="1087900"/>
          </a:xfrm>
        </p:spPr>
        <p:txBody>
          <a:bodyPr anchor="b"/>
          <a:lstStyle/>
          <a:p>
            <a:r>
              <a:rPr lang="en-US" dirty="0"/>
              <a:t>Why we need RAG ?</a:t>
            </a:r>
          </a:p>
        </p:txBody>
      </p:sp>
      <p:sp>
        <p:nvSpPr>
          <p:cNvPr id="3" name="Rectangle 2">
            <a:extLst>
              <a:ext uri="{FF2B5EF4-FFF2-40B4-BE49-F238E27FC236}">
                <a16:creationId xmlns:a16="http://schemas.microsoft.com/office/drawing/2014/main" id="{FA08DAF5-85DC-6C6C-8668-88D05A13D913}"/>
              </a:ext>
            </a:extLst>
          </p:cNvPr>
          <p:cNvSpPr/>
          <p:nvPr/>
        </p:nvSpPr>
        <p:spPr>
          <a:xfrm>
            <a:off x="4154750" y="1979720"/>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a:t>
            </a:r>
            <a:endParaRPr lang="en-IN" dirty="0"/>
          </a:p>
        </p:txBody>
      </p:sp>
      <p:sp>
        <p:nvSpPr>
          <p:cNvPr id="4" name="TextBox 3">
            <a:extLst>
              <a:ext uri="{FF2B5EF4-FFF2-40B4-BE49-F238E27FC236}">
                <a16:creationId xmlns:a16="http://schemas.microsoft.com/office/drawing/2014/main" id="{8621DAC8-092B-4548-58B8-C3931BAFCFDE}"/>
              </a:ext>
            </a:extLst>
          </p:cNvPr>
          <p:cNvSpPr txBox="1"/>
          <p:nvPr/>
        </p:nvSpPr>
        <p:spPr>
          <a:xfrm>
            <a:off x="2175029" y="2052506"/>
            <a:ext cx="914400" cy="369332"/>
          </a:xfrm>
          <a:prstGeom prst="rect">
            <a:avLst/>
          </a:prstGeom>
          <a:noFill/>
        </p:spPr>
        <p:txBody>
          <a:bodyPr wrap="square" rtlCol="0">
            <a:spAutoFit/>
          </a:bodyPr>
          <a:lstStyle/>
          <a:p>
            <a:r>
              <a:rPr lang="en-IN" dirty="0">
                <a:solidFill>
                  <a:schemeClr val="bg2"/>
                </a:solidFill>
              </a:rPr>
              <a:t>Prompt</a:t>
            </a:r>
          </a:p>
        </p:txBody>
      </p:sp>
      <p:sp>
        <p:nvSpPr>
          <p:cNvPr id="5" name="TextBox 4">
            <a:extLst>
              <a:ext uri="{FF2B5EF4-FFF2-40B4-BE49-F238E27FC236}">
                <a16:creationId xmlns:a16="http://schemas.microsoft.com/office/drawing/2014/main" id="{EADF32C4-B55C-288E-62DB-1CC89BF834E6}"/>
              </a:ext>
            </a:extLst>
          </p:cNvPr>
          <p:cNvSpPr txBox="1"/>
          <p:nvPr/>
        </p:nvSpPr>
        <p:spPr>
          <a:xfrm>
            <a:off x="6520649" y="2052506"/>
            <a:ext cx="1211802" cy="369332"/>
          </a:xfrm>
          <a:prstGeom prst="rect">
            <a:avLst/>
          </a:prstGeom>
          <a:noFill/>
        </p:spPr>
        <p:txBody>
          <a:bodyPr wrap="square" rtlCol="0">
            <a:spAutoFit/>
          </a:bodyPr>
          <a:lstStyle/>
          <a:p>
            <a:r>
              <a:rPr lang="en-IN" dirty="0">
                <a:solidFill>
                  <a:schemeClr val="bg2"/>
                </a:solidFill>
              </a:rPr>
              <a:t>Response</a:t>
            </a:r>
          </a:p>
        </p:txBody>
      </p:sp>
      <p:cxnSp>
        <p:nvCxnSpPr>
          <p:cNvPr id="7" name="Straight Arrow Connector 6">
            <a:extLst>
              <a:ext uri="{FF2B5EF4-FFF2-40B4-BE49-F238E27FC236}">
                <a16:creationId xmlns:a16="http://schemas.microsoft.com/office/drawing/2014/main" id="{FDA6A7EB-AAE2-B387-D208-4D3BB4BEDAFA}"/>
              </a:ext>
            </a:extLst>
          </p:cNvPr>
          <p:cNvCxnSpPr>
            <a:stCxn id="4" idx="3"/>
          </p:cNvCxnSpPr>
          <p:nvPr/>
        </p:nvCxnSpPr>
        <p:spPr>
          <a:xfrm>
            <a:off x="3089429" y="2237172"/>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73D6FBB-635A-4D1F-0D97-5BD5B3FC2475}"/>
              </a:ext>
            </a:extLst>
          </p:cNvPr>
          <p:cNvCxnSpPr>
            <a:endCxn id="5" idx="1"/>
          </p:cNvCxnSpPr>
          <p:nvPr/>
        </p:nvCxnSpPr>
        <p:spPr>
          <a:xfrm>
            <a:off x="5646198" y="2237172"/>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600DD5C-7CA3-A1E6-4C18-0055210EF44C}"/>
              </a:ext>
            </a:extLst>
          </p:cNvPr>
          <p:cNvSpPr txBox="1"/>
          <p:nvPr/>
        </p:nvSpPr>
        <p:spPr>
          <a:xfrm>
            <a:off x="4083728" y="2892355"/>
            <a:ext cx="2760955" cy="369332"/>
          </a:xfrm>
          <a:prstGeom prst="rect">
            <a:avLst/>
          </a:prstGeom>
          <a:noFill/>
        </p:spPr>
        <p:txBody>
          <a:bodyPr wrap="square" rtlCol="0">
            <a:spAutoFit/>
          </a:bodyPr>
          <a:lstStyle/>
          <a:p>
            <a:r>
              <a:rPr lang="en-IN" dirty="0">
                <a:solidFill>
                  <a:schemeClr val="bg2"/>
                </a:solidFill>
              </a:rPr>
              <a:t>Normal Flow</a:t>
            </a:r>
          </a:p>
        </p:txBody>
      </p:sp>
      <p:sp>
        <p:nvSpPr>
          <p:cNvPr id="6" name="TextBox 5">
            <a:extLst>
              <a:ext uri="{FF2B5EF4-FFF2-40B4-BE49-F238E27FC236}">
                <a16:creationId xmlns:a16="http://schemas.microsoft.com/office/drawing/2014/main" id="{DA13201A-752A-E274-49ED-752DDF399343}"/>
              </a:ext>
            </a:extLst>
          </p:cNvPr>
          <p:cNvSpPr txBox="1"/>
          <p:nvPr/>
        </p:nvSpPr>
        <p:spPr>
          <a:xfrm>
            <a:off x="1873189" y="3734439"/>
            <a:ext cx="6507332" cy="369332"/>
          </a:xfrm>
          <a:prstGeom prst="rect">
            <a:avLst/>
          </a:prstGeom>
          <a:noFill/>
        </p:spPr>
        <p:txBody>
          <a:bodyPr wrap="square" rtlCol="0">
            <a:spAutoFit/>
          </a:bodyPr>
          <a:lstStyle/>
          <a:p>
            <a:r>
              <a:rPr lang="en-US" dirty="0">
                <a:solidFill>
                  <a:schemeClr val="bg2"/>
                </a:solidFill>
              </a:rPr>
              <a:t>What if I ask ChatGPT about our company’s leave policy?</a:t>
            </a:r>
            <a:endParaRPr lang="en-IN" dirty="0">
              <a:solidFill>
                <a:schemeClr val="bg2"/>
              </a:solidFill>
            </a:endParaRPr>
          </a:p>
        </p:txBody>
      </p:sp>
      <p:sp>
        <p:nvSpPr>
          <p:cNvPr id="8" name="TextBox 7">
            <a:extLst>
              <a:ext uri="{FF2B5EF4-FFF2-40B4-BE49-F238E27FC236}">
                <a16:creationId xmlns:a16="http://schemas.microsoft.com/office/drawing/2014/main" id="{87C70D3D-4F21-6929-108F-B859907058AA}"/>
              </a:ext>
            </a:extLst>
          </p:cNvPr>
          <p:cNvSpPr txBox="1"/>
          <p:nvPr/>
        </p:nvSpPr>
        <p:spPr>
          <a:xfrm>
            <a:off x="2712129" y="4378456"/>
            <a:ext cx="3844031" cy="923330"/>
          </a:xfrm>
          <a:prstGeom prst="rect">
            <a:avLst/>
          </a:prstGeom>
          <a:noFill/>
        </p:spPr>
        <p:txBody>
          <a:bodyPr wrap="square" rtlCol="0">
            <a:spAutoFit/>
          </a:bodyPr>
          <a:lstStyle/>
          <a:p>
            <a:pPr marL="342900" indent="-342900">
              <a:buAutoNum type="arabicPeriod"/>
            </a:pPr>
            <a:r>
              <a:rPr lang="en-IN" dirty="0">
                <a:solidFill>
                  <a:schemeClr val="bg2"/>
                </a:solidFill>
              </a:rPr>
              <a:t>Lack Of Private Data</a:t>
            </a:r>
          </a:p>
          <a:p>
            <a:pPr marL="342900" indent="-342900">
              <a:buAutoNum type="arabicPeriod"/>
            </a:pPr>
            <a:r>
              <a:rPr lang="en-IN" dirty="0">
                <a:solidFill>
                  <a:schemeClr val="bg2"/>
                </a:solidFill>
              </a:rPr>
              <a:t>Not trained on “Recent Data”</a:t>
            </a:r>
          </a:p>
          <a:p>
            <a:pPr marL="342900" indent="-342900">
              <a:buAutoNum type="arabicPeriod"/>
            </a:pPr>
            <a:r>
              <a:rPr lang="en-IN" dirty="0">
                <a:solidFill>
                  <a:schemeClr val="bg2"/>
                </a:solidFill>
              </a:rPr>
              <a:t>Hallucination</a:t>
            </a:r>
          </a:p>
        </p:txBody>
      </p:sp>
    </p:spTree>
    <p:extLst>
      <p:ext uri="{BB962C8B-B14F-4D97-AF65-F5344CB8AC3E}">
        <p14:creationId xmlns:p14="http://schemas.microsoft.com/office/powerpoint/2010/main" val="1819996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2E499-1606-4A79-0496-51D3E50C6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C3A55-1203-D980-A056-5975853A61C9}"/>
              </a:ext>
            </a:extLst>
          </p:cNvPr>
          <p:cNvSpPr>
            <a:spLocks noGrp="1"/>
          </p:cNvSpPr>
          <p:nvPr>
            <p:ph type="ctrTitle"/>
          </p:nvPr>
        </p:nvSpPr>
        <p:spPr>
          <a:xfrm>
            <a:off x="1693076" y="230820"/>
            <a:ext cx="9145588" cy="1087900"/>
          </a:xfrm>
        </p:spPr>
        <p:txBody>
          <a:bodyPr anchor="b"/>
          <a:lstStyle/>
          <a:p>
            <a:r>
              <a:rPr lang="en-US" dirty="0"/>
              <a:t>Why we need RAG ?</a:t>
            </a:r>
          </a:p>
        </p:txBody>
      </p:sp>
      <p:sp>
        <p:nvSpPr>
          <p:cNvPr id="3" name="Rectangle 2">
            <a:extLst>
              <a:ext uri="{FF2B5EF4-FFF2-40B4-BE49-F238E27FC236}">
                <a16:creationId xmlns:a16="http://schemas.microsoft.com/office/drawing/2014/main" id="{16C383BF-1822-DE96-02CB-F78C907EE311}"/>
              </a:ext>
            </a:extLst>
          </p:cNvPr>
          <p:cNvSpPr/>
          <p:nvPr/>
        </p:nvSpPr>
        <p:spPr>
          <a:xfrm>
            <a:off x="4154750" y="1979720"/>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a:t>
            </a:r>
            <a:endParaRPr lang="en-IN" dirty="0"/>
          </a:p>
        </p:txBody>
      </p:sp>
      <p:sp>
        <p:nvSpPr>
          <p:cNvPr id="4" name="TextBox 3">
            <a:extLst>
              <a:ext uri="{FF2B5EF4-FFF2-40B4-BE49-F238E27FC236}">
                <a16:creationId xmlns:a16="http://schemas.microsoft.com/office/drawing/2014/main" id="{4223D295-B926-15F4-952B-E4D0EFA1F722}"/>
              </a:ext>
            </a:extLst>
          </p:cNvPr>
          <p:cNvSpPr txBox="1"/>
          <p:nvPr/>
        </p:nvSpPr>
        <p:spPr>
          <a:xfrm>
            <a:off x="2175029" y="2052506"/>
            <a:ext cx="914400" cy="369332"/>
          </a:xfrm>
          <a:prstGeom prst="rect">
            <a:avLst/>
          </a:prstGeom>
          <a:noFill/>
        </p:spPr>
        <p:txBody>
          <a:bodyPr wrap="square" rtlCol="0">
            <a:spAutoFit/>
          </a:bodyPr>
          <a:lstStyle/>
          <a:p>
            <a:r>
              <a:rPr lang="en-IN" dirty="0">
                <a:solidFill>
                  <a:schemeClr val="bg2"/>
                </a:solidFill>
              </a:rPr>
              <a:t>Prompt</a:t>
            </a:r>
          </a:p>
        </p:txBody>
      </p:sp>
      <p:sp>
        <p:nvSpPr>
          <p:cNvPr id="5" name="TextBox 4">
            <a:extLst>
              <a:ext uri="{FF2B5EF4-FFF2-40B4-BE49-F238E27FC236}">
                <a16:creationId xmlns:a16="http://schemas.microsoft.com/office/drawing/2014/main" id="{14A9F11C-4F50-AC08-31D6-F2F476217CBC}"/>
              </a:ext>
            </a:extLst>
          </p:cNvPr>
          <p:cNvSpPr txBox="1"/>
          <p:nvPr/>
        </p:nvSpPr>
        <p:spPr>
          <a:xfrm>
            <a:off x="6520649" y="2052506"/>
            <a:ext cx="1211802" cy="369332"/>
          </a:xfrm>
          <a:prstGeom prst="rect">
            <a:avLst/>
          </a:prstGeom>
          <a:noFill/>
        </p:spPr>
        <p:txBody>
          <a:bodyPr wrap="square" rtlCol="0">
            <a:spAutoFit/>
          </a:bodyPr>
          <a:lstStyle/>
          <a:p>
            <a:r>
              <a:rPr lang="en-IN" dirty="0">
                <a:solidFill>
                  <a:schemeClr val="bg2"/>
                </a:solidFill>
              </a:rPr>
              <a:t>Response</a:t>
            </a:r>
          </a:p>
        </p:txBody>
      </p:sp>
      <p:cxnSp>
        <p:nvCxnSpPr>
          <p:cNvPr id="7" name="Straight Arrow Connector 6">
            <a:extLst>
              <a:ext uri="{FF2B5EF4-FFF2-40B4-BE49-F238E27FC236}">
                <a16:creationId xmlns:a16="http://schemas.microsoft.com/office/drawing/2014/main" id="{F3B935D9-4BAF-8263-1764-74F67DB7F54B}"/>
              </a:ext>
            </a:extLst>
          </p:cNvPr>
          <p:cNvCxnSpPr>
            <a:stCxn id="4" idx="3"/>
          </p:cNvCxnSpPr>
          <p:nvPr/>
        </p:nvCxnSpPr>
        <p:spPr>
          <a:xfrm>
            <a:off x="3089429" y="2237172"/>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D10D2AB-0E2F-1669-4B0B-A25641F9815D}"/>
              </a:ext>
            </a:extLst>
          </p:cNvPr>
          <p:cNvCxnSpPr>
            <a:endCxn id="5" idx="1"/>
          </p:cNvCxnSpPr>
          <p:nvPr/>
        </p:nvCxnSpPr>
        <p:spPr>
          <a:xfrm>
            <a:off x="5646198" y="2237172"/>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19D6D41-D2BA-A1B2-03E1-2335C32F34ED}"/>
              </a:ext>
            </a:extLst>
          </p:cNvPr>
          <p:cNvSpPr txBox="1"/>
          <p:nvPr/>
        </p:nvSpPr>
        <p:spPr>
          <a:xfrm>
            <a:off x="4083728" y="2892355"/>
            <a:ext cx="2760955" cy="369332"/>
          </a:xfrm>
          <a:prstGeom prst="rect">
            <a:avLst/>
          </a:prstGeom>
          <a:noFill/>
        </p:spPr>
        <p:txBody>
          <a:bodyPr wrap="square" rtlCol="0">
            <a:spAutoFit/>
          </a:bodyPr>
          <a:lstStyle/>
          <a:p>
            <a:r>
              <a:rPr lang="en-IN" dirty="0">
                <a:solidFill>
                  <a:schemeClr val="bg2"/>
                </a:solidFill>
              </a:rPr>
              <a:t>Normal Flow</a:t>
            </a:r>
          </a:p>
        </p:txBody>
      </p:sp>
      <p:sp>
        <p:nvSpPr>
          <p:cNvPr id="6" name="TextBox 5">
            <a:extLst>
              <a:ext uri="{FF2B5EF4-FFF2-40B4-BE49-F238E27FC236}">
                <a16:creationId xmlns:a16="http://schemas.microsoft.com/office/drawing/2014/main" id="{B87D0851-20A0-4290-A754-B8EB6773ACBE}"/>
              </a:ext>
            </a:extLst>
          </p:cNvPr>
          <p:cNvSpPr txBox="1"/>
          <p:nvPr/>
        </p:nvSpPr>
        <p:spPr>
          <a:xfrm>
            <a:off x="1873189" y="3734439"/>
            <a:ext cx="6507332" cy="369332"/>
          </a:xfrm>
          <a:prstGeom prst="rect">
            <a:avLst/>
          </a:prstGeom>
          <a:noFill/>
        </p:spPr>
        <p:txBody>
          <a:bodyPr wrap="square" rtlCol="0">
            <a:spAutoFit/>
          </a:bodyPr>
          <a:lstStyle/>
          <a:p>
            <a:r>
              <a:rPr lang="en-US" dirty="0">
                <a:solidFill>
                  <a:schemeClr val="bg2"/>
                </a:solidFill>
              </a:rPr>
              <a:t>What if I ask ChatGPT about our company’s leave policy?</a:t>
            </a:r>
            <a:endParaRPr lang="en-IN" dirty="0">
              <a:solidFill>
                <a:schemeClr val="bg2"/>
              </a:solidFill>
            </a:endParaRPr>
          </a:p>
        </p:txBody>
      </p:sp>
      <p:sp>
        <p:nvSpPr>
          <p:cNvPr id="8" name="TextBox 7">
            <a:extLst>
              <a:ext uri="{FF2B5EF4-FFF2-40B4-BE49-F238E27FC236}">
                <a16:creationId xmlns:a16="http://schemas.microsoft.com/office/drawing/2014/main" id="{403CF603-8F6B-5F45-9D95-F1FCF8470BAE}"/>
              </a:ext>
            </a:extLst>
          </p:cNvPr>
          <p:cNvSpPr txBox="1"/>
          <p:nvPr/>
        </p:nvSpPr>
        <p:spPr>
          <a:xfrm>
            <a:off x="2712129" y="4378456"/>
            <a:ext cx="3844031" cy="923330"/>
          </a:xfrm>
          <a:prstGeom prst="rect">
            <a:avLst/>
          </a:prstGeom>
          <a:noFill/>
        </p:spPr>
        <p:txBody>
          <a:bodyPr wrap="square" rtlCol="0">
            <a:spAutoFit/>
          </a:bodyPr>
          <a:lstStyle/>
          <a:p>
            <a:pPr marL="342900" indent="-342900">
              <a:buAutoNum type="arabicPeriod"/>
            </a:pPr>
            <a:r>
              <a:rPr lang="en-IN" dirty="0">
                <a:solidFill>
                  <a:schemeClr val="bg2"/>
                </a:solidFill>
              </a:rPr>
              <a:t>Lack Of Private Data</a:t>
            </a:r>
          </a:p>
          <a:p>
            <a:pPr marL="342900" indent="-342900">
              <a:buAutoNum type="arabicPeriod"/>
            </a:pPr>
            <a:r>
              <a:rPr lang="en-IN" dirty="0">
                <a:solidFill>
                  <a:schemeClr val="bg2"/>
                </a:solidFill>
              </a:rPr>
              <a:t>Not trained on “Recent Data”</a:t>
            </a:r>
          </a:p>
          <a:p>
            <a:pPr marL="342900" indent="-342900">
              <a:buAutoNum type="arabicPeriod"/>
            </a:pPr>
            <a:r>
              <a:rPr lang="en-IN" dirty="0">
                <a:solidFill>
                  <a:schemeClr val="bg2"/>
                </a:solidFill>
              </a:rPr>
              <a:t>Hallucination</a:t>
            </a:r>
          </a:p>
        </p:txBody>
      </p:sp>
      <p:sp>
        <p:nvSpPr>
          <p:cNvPr id="11" name="TextBox 10">
            <a:extLst>
              <a:ext uri="{FF2B5EF4-FFF2-40B4-BE49-F238E27FC236}">
                <a16:creationId xmlns:a16="http://schemas.microsoft.com/office/drawing/2014/main" id="{872A3982-035A-17CD-306C-FD956B24472A}"/>
              </a:ext>
            </a:extLst>
          </p:cNvPr>
          <p:cNvSpPr txBox="1"/>
          <p:nvPr/>
        </p:nvSpPr>
        <p:spPr>
          <a:xfrm>
            <a:off x="3453415" y="5334707"/>
            <a:ext cx="3524434" cy="369332"/>
          </a:xfrm>
          <a:prstGeom prst="rect">
            <a:avLst/>
          </a:prstGeom>
          <a:noFill/>
        </p:spPr>
        <p:txBody>
          <a:bodyPr wrap="square" rtlCol="0">
            <a:spAutoFit/>
          </a:bodyPr>
          <a:lstStyle/>
          <a:p>
            <a:r>
              <a:rPr lang="en-IN" b="1" dirty="0">
                <a:solidFill>
                  <a:schemeClr val="bg2"/>
                </a:solidFill>
              </a:rPr>
              <a:t>What is the Solution ?</a:t>
            </a:r>
          </a:p>
        </p:txBody>
      </p:sp>
    </p:spTree>
    <p:extLst>
      <p:ext uri="{BB962C8B-B14F-4D97-AF65-F5344CB8AC3E}">
        <p14:creationId xmlns:p14="http://schemas.microsoft.com/office/powerpoint/2010/main" val="2625482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71D9A-259C-4397-E076-C2015B9C6E1D}"/>
              </a:ext>
            </a:extLst>
          </p:cNvPr>
          <p:cNvSpPr>
            <a:spLocks noGrp="1"/>
          </p:cNvSpPr>
          <p:nvPr>
            <p:ph type="ctrTitle"/>
          </p:nvPr>
        </p:nvSpPr>
        <p:spPr>
          <a:xfrm>
            <a:off x="1699004" y="195308"/>
            <a:ext cx="3121572" cy="794709"/>
          </a:xfrm>
        </p:spPr>
        <p:txBody>
          <a:bodyPr/>
          <a:lstStyle/>
          <a:p>
            <a:r>
              <a:rPr lang="en-IN" sz="4400" dirty="0"/>
              <a:t>Fine-Tuning</a:t>
            </a:r>
          </a:p>
        </p:txBody>
      </p:sp>
      <p:sp>
        <p:nvSpPr>
          <p:cNvPr id="4" name="TextBox 3">
            <a:extLst>
              <a:ext uri="{FF2B5EF4-FFF2-40B4-BE49-F238E27FC236}">
                <a16:creationId xmlns:a16="http://schemas.microsoft.com/office/drawing/2014/main" id="{E7AE005E-F14E-B30E-EC3F-EBC57CCC796C}"/>
              </a:ext>
            </a:extLst>
          </p:cNvPr>
          <p:cNvSpPr txBox="1"/>
          <p:nvPr/>
        </p:nvSpPr>
        <p:spPr>
          <a:xfrm>
            <a:off x="1617955" y="1265041"/>
            <a:ext cx="8156360" cy="1200329"/>
          </a:xfrm>
          <a:prstGeom prst="rect">
            <a:avLst/>
          </a:prstGeom>
          <a:noFill/>
        </p:spPr>
        <p:txBody>
          <a:bodyPr wrap="square">
            <a:spAutoFit/>
          </a:bodyPr>
          <a:lstStyle/>
          <a:p>
            <a:r>
              <a:rPr lang="en-US" b="1" dirty="0">
                <a:solidFill>
                  <a:schemeClr val="bg2"/>
                </a:solidFill>
              </a:rPr>
              <a:t>Fine-tuning</a:t>
            </a:r>
            <a:r>
              <a:rPr lang="en-US" dirty="0">
                <a:solidFill>
                  <a:schemeClr val="bg2"/>
                </a:solidFill>
              </a:rPr>
              <a:t> is the process of </a:t>
            </a:r>
            <a:r>
              <a:rPr lang="en-US" b="1" dirty="0">
                <a:solidFill>
                  <a:schemeClr val="bg2"/>
                </a:solidFill>
              </a:rPr>
              <a:t>taking a pre-trained AI model and training it further on a smaller and more specific dataset.</a:t>
            </a:r>
            <a:r>
              <a:rPr lang="en-US" dirty="0">
                <a:solidFill>
                  <a:schemeClr val="bg2"/>
                </a:solidFill>
              </a:rPr>
              <a:t> so, it performs better on a particular task. </a:t>
            </a:r>
            <a:r>
              <a:rPr lang="en-US" dirty="0"/>
              <a:t>is the process of </a:t>
            </a:r>
            <a:r>
              <a:rPr lang="en-US" b="1" dirty="0"/>
              <a:t>taking a pre-trained AI model and training it further on a smaller, specific dataset</a:t>
            </a:r>
            <a:r>
              <a:rPr lang="en-US" dirty="0"/>
              <a:t> so it performs better on a particular task.</a:t>
            </a:r>
            <a:endParaRPr lang="en-IN" dirty="0"/>
          </a:p>
        </p:txBody>
      </p:sp>
    </p:spTree>
    <p:extLst>
      <p:ext uri="{BB962C8B-B14F-4D97-AF65-F5344CB8AC3E}">
        <p14:creationId xmlns:p14="http://schemas.microsoft.com/office/powerpoint/2010/main" val="734835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72C3F-5C01-8FAF-7E51-0846F1507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8E61B-BB96-25A0-40E6-3C094660132C}"/>
              </a:ext>
            </a:extLst>
          </p:cNvPr>
          <p:cNvSpPr>
            <a:spLocks noGrp="1"/>
          </p:cNvSpPr>
          <p:nvPr>
            <p:ph type="ctrTitle"/>
          </p:nvPr>
        </p:nvSpPr>
        <p:spPr>
          <a:xfrm>
            <a:off x="1699004" y="195308"/>
            <a:ext cx="3121572" cy="794709"/>
          </a:xfrm>
        </p:spPr>
        <p:txBody>
          <a:bodyPr/>
          <a:lstStyle/>
          <a:p>
            <a:r>
              <a:rPr lang="en-IN" sz="4400" dirty="0"/>
              <a:t>Fine-Tuning</a:t>
            </a:r>
          </a:p>
        </p:txBody>
      </p:sp>
      <p:sp>
        <p:nvSpPr>
          <p:cNvPr id="4" name="TextBox 3">
            <a:extLst>
              <a:ext uri="{FF2B5EF4-FFF2-40B4-BE49-F238E27FC236}">
                <a16:creationId xmlns:a16="http://schemas.microsoft.com/office/drawing/2014/main" id="{6CAC1BE9-DFC4-8299-2F8E-1BB7AA7F8AC4}"/>
              </a:ext>
            </a:extLst>
          </p:cNvPr>
          <p:cNvSpPr txBox="1"/>
          <p:nvPr/>
        </p:nvSpPr>
        <p:spPr>
          <a:xfrm>
            <a:off x="1617955" y="1265041"/>
            <a:ext cx="8156360" cy="1200329"/>
          </a:xfrm>
          <a:prstGeom prst="rect">
            <a:avLst/>
          </a:prstGeom>
          <a:noFill/>
        </p:spPr>
        <p:txBody>
          <a:bodyPr wrap="square">
            <a:spAutoFit/>
          </a:bodyPr>
          <a:lstStyle/>
          <a:p>
            <a:r>
              <a:rPr lang="en-US" b="1" dirty="0">
                <a:solidFill>
                  <a:schemeClr val="bg2"/>
                </a:solidFill>
              </a:rPr>
              <a:t>Fine-tuning</a:t>
            </a:r>
            <a:r>
              <a:rPr lang="en-US" dirty="0">
                <a:solidFill>
                  <a:schemeClr val="bg2"/>
                </a:solidFill>
              </a:rPr>
              <a:t> is the process of </a:t>
            </a:r>
            <a:r>
              <a:rPr lang="en-US" b="1" dirty="0">
                <a:solidFill>
                  <a:schemeClr val="bg2"/>
                </a:solidFill>
              </a:rPr>
              <a:t>taking a pre-trained AI model and training it further on a smaller and more specific dataset.</a:t>
            </a:r>
            <a:r>
              <a:rPr lang="en-US" dirty="0">
                <a:solidFill>
                  <a:schemeClr val="bg2"/>
                </a:solidFill>
              </a:rPr>
              <a:t> so, it performs better on a particular task. </a:t>
            </a:r>
            <a:r>
              <a:rPr lang="en-US" dirty="0"/>
              <a:t>is the process of </a:t>
            </a:r>
            <a:r>
              <a:rPr lang="en-US" b="1" dirty="0"/>
              <a:t>taking a pre-trained AI model and training it further on a smaller, specific dataset</a:t>
            </a:r>
            <a:r>
              <a:rPr lang="en-US" dirty="0"/>
              <a:t> so it performs better on a particular task.</a:t>
            </a:r>
            <a:endParaRPr lang="en-IN" dirty="0"/>
          </a:p>
        </p:txBody>
      </p:sp>
      <p:sp>
        <p:nvSpPr>
          <p:cNvPr id="19" name="TextBox 18">
            <a:extLst>
              <a:ext uri="{FF2B5EF4-FFF2-40B4-BE49-F238E27FC236}">
                <a16:creationId xmlns:a16="http://schemas.microsoft.com/office/drawing/2014/main" id="{C34F8314-C738-B94E-B2C2-0CA0428DE7E7}"/>
              </a:ext>
            </a:extLst>
          </p:cNvPr>
          <p:cNvSpPr txBox="1"/>
          <p:nvPr/>
        </p:nvSpPr>
        <p:spPr>
          <a:xfrm>
            <a:off x="1360502" y="2131472"/>
            <a:ext cx="6094520" cy="2031325"/>
          </a:xfrm>
          <a:prstGeom prst="rect">
            <a:avLst/>
          </a:prstGeom>
          <a:noFill/>
        </p:spPr>
        <p:txBody>
          <a:bodyPr wrap="square">
            <a:spAutoFit/>
          </a:bodyPr>
          <a:lstStyle/>
          <a:p>
            <a:pPr>
              <a:buNone/>
            </a:pPr>
            <a:r>
              <a:rPr lang="en-US" dirty="0">
                <a:solidFill>
                  <a:schemeClr val="bg1"/>
                </a:solidFill>
              </a:rPr>
              <a:t>Imagine a student named </a:t>
            </a:r>
            <a:r>
              <a:rPr lang="en-US" b="1" dirty="0">
                <a:solidFill>
                  <a:schemeClr val="bg1"/>
                </a:solidFill>
              </a:rPr>
              <a:t>Rahul</a:t>
            </a:r>
            <a:r>
              <a:rPr lang="en-US" dirty="0">
                <a:solidFill>
                  <a:schemeClr val="bg1"/>
                </a:solidFill>
              </a:rPr>
              <a:t>.</a:t>
            </a:r>
          </a:p>
          <a:p>
            <a:pPr>
              <a:buNone/>
            </a:pPr>
            <a:r>
              <a:rPr lang="en-US" dirty="0">
                <a:solidFill>
                  <a:schemeClr val="bg1"/>
                </a:solidFill>
              </a:rPr>
              <a:t>Rahul studied many subjects in college like:</a:t>
            </a:r>
          </a:p>
          <a:p>
            <a:pPr>
              <a:buFont typeface="Arial" panose="020B0604020202020204" pitchFamily="34" charset="0"/>
              <a:buChar char="•"/>
            </a:pPr>
            <a:r>
              <a:rPr lang="en-US" dirty="0">
                <a:solidFill>
                  <a:schemeClr val="bg1"/>
                </a:solidFill>
              </a:rPr>
              <a:t>Mathematics</a:t>
            </a:r>
          </a:p>
          <a:p>
            <a:pPr>
              <a:buFont typeface="Arial" panose="020B0604020202020204" pitchFamily="34" charset="0"/>
              <a:buChar char="•"/>
            </a:pPr>
            <a:r>
              <a:rPr lang="en-US" dirty="0">
                <a:solidFill>
                  <a:schemeClr val="bg1"/>
                </a:solidFill>
              </a:rPr>
              <a:t>Physics</a:t>
            </a:r>
          </a:p>
          <a:p>
            <a:pPr>
              <a:buFont typeface="Arial" panose="020B0604020202020204" pitchFamily="34" charset="0"/>
              <a:buChar char="•"/>
            </a:pPr>
            <a:r>
              <a:rPr lang="en-US" dirty="0">
                <a:solidFill>
                  <a:schemeClr val="bg1"/>
                </a:solidFill>
              </a:rPr>
              <a:t>English</a:t>
            </a:r>
          </a:p>
          <a:p>
            <a:pPr>
              <a:buFont typeface="Arial" panose="020B0604020202020204" pitchFamily="34" charset="0"/>
              <a:buChar char="•"/>
            </a:pPr>
            <a:r>
              <a:rPr lang="en-US" dirty="0">
                <a:solidFill>
                  <a:schemeClr val="bg1"/>
                </a:solidFill>
              </a:rPr>
              <a:t>Software Development</a:t>
            </a:r>
          </a:p>
          <a:p>
            <a:pPr>
              <a:buNone/>
            </a:pPr>
            <a:r>
              <a:rPr lang="en-US" dirty="0">
                <a:solidFill>
                  <a:schemeClr val="bg1"/>
                </a:solidFill>
              </a:rPr>
              <a:t>So Rahul already has </a:t>
            </a:r>
            <a:r>
              <a:rPr lang="en-US" b="1" dirty="0">
                <a:solidFill>
                  <a:schemeClr val="bg1"/>
                </a:solidFill>
              </a:rPr>
              <a:t>general knowledge and skills</a:t>
            </a:r>
            <a:r>
              <a:rPr lang="en-US" dirty="0">
                <a:solidFill>
                  <a:schemeClr val="bg1"/>
                </a:solidFill>
              </a:rPr>
              <a:t>.</a:t>
            </a:r>
          </a:p>
        </p:txBody>
      </p:sp>
      <p:sp>
        <p:nvSpPr>
          <p:cNvPr id="21" name="TextBox 20">
            <a:extLst>
              <a:ext uri="{FF2B5EF4-FFF2-40B4-BE49-F238E27FC236}">
                <a16:creationId xmlns:a16="http://schemas.microsoft.com/office/drawing/2014/main" id="{BC115A96-D0DD-0155-DA19-67B702B468E1}"/>
              </a:ext>
            </a:extLst>
          </p:cNvPr>
          <p:cNvSpPr txBox="1"/>
          <p:nvPr/>
        </p:nvSpPr>
        <p:spPr>
          <a:xfrm>
            <a:off x="2159492" y="4077369"/>
            <a:ext cx="6094520" cy="2585323"/>
          </a:xfrm>
          <a:prstGeom prst="rect">
            <a:avLst/>
          </a:prstGeom>
          <a:noFill/>
        </p:spPr>
        <p:txBody>
          <a:bodyPr wrap="square">
            <a:spAutoFit/>
          </a:bodyPr>
          <a:lstStyle/>
          <a:p>
            <a:pPr>
              <a:buNone/>
            </a:pPr>
            <a:r>
              <a:rPr lang="en-US" dirty="0">
                <a:solidFill>
                  <a:schemeClr val="bg1"/>
                </a:solidFill>
              </a:rPr>
              <a:t>Rahul gets placed in a company called </a:t>
            </a:r>
            <a:r>
              <a:rPr lang="en-US" b="1" dirty="0">
                <a:solidFill>
                  <a:schemeClr val="bg1"/>
                </a:solidFill>
              </a:rPr>
              <a:t>XYZ</a:t>
            </a:r>
            <a:r>
              <a:rPr lang="en-US" dirty="0">
                <a:solidFill>
                  <a:schemeClr val="bg1"/>
                </a:solidFill>
              </a:rPr>
              <a:t>.</a:t>
            </a:r>
          </a:p>
          <a:p>
            <a:pPr>
              <a:buNone/>
            </a:pPr>
            <a:r>
              <a:rPr lang="en-US" dirty="0">
                <a:solidFill>
                  <a:schemeClr val="bg1"/>
                </a:solidFill>
              </a:rPr>
              <a:t>Even though Rahul is educated, the company still gives him </a:t>
            </a:r>
            <a:r>
              <a:rPr lang="en-US" b="1" dirty="0">
                <a:solidFill>
                  <a:schemeClr val="bg1"/>
                </a:solidFill>
              </a:rPr>
              <a:t>2–3 months of training</a:t>
            </a:r>
            <a:r>
              <a:rPr lang="en-US" dirty="0">
                <a:solidFill>
                  <a:schemeClr val="bg1"/>
                </a:solidFill>
              </a:rPr>
              <a:t>.</a:t>
            </a:r>
          </a:p>
          <a:p>
            <a:pPr>
              <a:buNone/>
            </a:pPr>
            <a:r>
              <a:rPr lang="en-US" dirty="0">
                <a:solidFill>
                  <a:schemeClr val="bg1"/>
                </a:solidFill>
              </a:rPr>
              <a:t>During this training he learns:</a:t>
            </a:r>
          </a:p>
          <a:p>
            <a:pPr>
              <a:buFont typeface="Arial" panose="020B0604020202020204" pitchFamily="34" charset="0"/>
              <a:buChar char="•"/>
            </a:pPr>
            <a:r>
              <a:rPr lang="en-US" dirty="0">
                <a:solidFill>
                  <a:schemeClr val="bg1"/>
                </a:solidFill>
              </a:rPr>
              <a:t>how the company’s system works</a:t>
            </a:r>
          </a:p>
          <a:p>
            <a:pPr>
              <a:buFont typeface="Arial" panose="020B0604020202020204" pitchFamily="34" charset="0"/>
              <a:buChar char="•"/>
            </a:pPr>
            <a:r>
              <a:rPr lang="en-US" dirty="0">
                <a:solidFill>
                  <a:schemeClr val="bg1"/>
                </a:solidFill>
              </a:rPr>
              <a:t>how to work in a team</a:t>
            </a:r>
          </a:p>
          <a:p>
            <a:pPr>
              <a:buFont typeface="Arial" panose="020B0604020202020204" pitchFamily="34" charset="0"/>
              <a:buChar char="•"/>
            </a:pPr>
            <a:r>
              <a:rPr lang="en-US" dirty="0">
                <a:solidFill>
                  <a:schemeClr val="bg1"/>
                </a:solidFill>
              </a:rPr>
              <a:t>company coding standards</a:t>
            </a:r>
          </a:p>
          <a:p>
            <a:pPr>
              <a:buFont typeface="Arial" panose="020B0604020202020204" pitchFamily="34" charset="0"/>
              <a:buChar char="•"/>
            </a:pPr>
            <a:r>
              <a:rPr lang="en-US" dirty="0">
                <a:solidFill>
                  <a:schemeClr val="bg1"/>
                </a:solidFill>
              </a:rPr>
              <a:t>project workflow</a:t>
            </a:r>
          </a:p>
          <a:p>
            <a:pPr>
              <a:buFont typeface="Arial" panose="020B0604020202020204" pitchFamily="34" charset="0"/>
              <a:buChar char="•"/>
            </a:pPr>
            <a:r>
              <a:rPr lang="en-US" dirty="0">
                <a:solidFill>
                  <a:schemeClr val="bg1"/>
                </a:solidFill>
              </a:rPr>
              <a:t>tools used in the company</a:t>
            </a:r>
          </a:p>
        </p:txBody>
      </p:sp>
      <p:sp>
        <p:nvSpPr>
          <p:cNvPr id="23" name="TextBox 22">
            <a:extLst>
              <a:ext uri="{FF2B5EF4-FFF2-40B4-BE49-F238E27FC236}">
                <a16:creationId xmlns:a16="http://schemas.microsoft.com/office/drawing/2014/main" id="{04CF1CDD-08BD-04FC-9A3E-CC6F61662F52}"/>
              </a:ext>
            </a:extLst>
          </p:cNvPr>
          <p:cNvSpPr txBox="1"/>
          <p:nvPr/>
        </p:nvSpPr>
        <p:spPr>
          <a:xfrm>
            <a:off x="6287610" y="5370030"/>
            <a:ext cx="6094520" cy="923330"/>
          </a:xfrm>
          <a:prstGeom prst="rect">
            <a:avLst/>
          </a:prstGeom>
          <a:noFill/>
        </p:spPr>
        <p:txBody>
          <a:bodyPr wrap="square">
            <a:spAutoFit/>
          </a:bodyPr>
          <a:lstStyle/>
          <a:p>
            <a:pPr>
              <a:buNone/>
            </a:pPr>
            <a:r>
              <a:rPr lang="en-US" dirty="0">
                <a:solidFill>
                  <a:schemeClr val="bg1"/>
                </a:solidFill>
              </a:rPr>
              <a:t>After training:</a:t>
            </a:r>
          </a:p>
          <a:p>
            <a:pPr>
              <a:buFont typeface="Arial" panose="020B0604020202020204" pitchFamily="34" charset="0"/>
              <a:buChar char="•"/>
            </a:pPr>
            <a:r>
              <a:rPr lang="en-US" dirty="0">
                <a:solidFill>
                  <a:schemeClr val="bg1"/>
                </a:solidFill>
              </a:rPr>
              <a:t>Rahul performs better in </a:t>
            </a:r>
            <a:r>
              <a:rPr lang="en-US" b="1" dirty="0">
                <a:solidFill>
                  <a:schemeClr val="bg1"/>
                </a:solidFill>
              </a:rPr>
              <a:t>XYZ company projects</a:t>
            </a:r>
            <a:endParaRPr lang="en-US" dirty="0">
              <a:solidFill>
                <a:schemeClr val="bg1"/>
              </a:solidFill>
            </a:endParaRPr>
          </a:p>
          <a:p>
            <a:pPr>
              <a:buFont typeface="Arial" panose="020B0604020202020204" pitchFamily="34" charset="0"/>
              <a:buChar char="•"/>
            </a:pPr>
            <a:r>
              <a:rPr lang="en-US" dirty="0">
                <a:solidFill>
                  <a:schemeClr val="bg1"/>
                </a:solidFill>
              </a:rPr>
              <a:t>He understands </a:t>
            </a:r>
            <a:r>
              <a:rPr lang="en-US" b="1" dirty="0">
                <a:solidFill>
                  <a:schemeClr val="bg1"/>
                </a:solidFill>
              </a:rPr>
              <a:t>specific company requirements</a:t>
            </a:r>
            <a:endParaRPr lang="en-US" dirty="0">
              <a:solidFill>
                <a:schemeClr val="bg1"/>
              </a:solidFill>
            </a:endParaRPr>
          </a:p>
        </p:txBody>
      </p:sp>
    </p:spTree>
    <p:extLst>
      <p:ext uri="{BB962C8B-B14F-4D97-AF65-F5344CB8AC3E}">
        <p14:creationId xmlns:p14="http://schemas.microsoft.com/office/powerpoint/2010/main" val="3163830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F3F4D-37B1-FF3D-CC17-BE8EFDF85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2DD91-8B51-392F-329D-0939037A380F}"/>
              </a:ext>
            </a:extLst>
          </p:cNvPr>
          <p:cNvSpPr>
            <a:spLocks noGrp="1"/>
          </p:cNvSpPr>
          <p:nvPr>
            <p:ph type="ctrTitle"/>
          </p:nvPr>
        </p:nvSpPr>
        <p:spPr>
          <a:xfrm>
            <a:off x="1699004" y="195308"/>
            <a:ext cx="3121572" cy="794709"/>
          </a:xfrm>
        </p:spPr>
        <p:txBody>
          <a:bodyPr/>
          <a:lstStyle/>
          <a:p>
            <a:r>
              <a:rPr lang="en-IN" sz="4400" dirty="0"/>
              <a:t>Fine-Tuning</a:t>
            </a:r>
          </a:p>
        </p:txBody>
      </p:sp>
      <p:sp>
        <p:nvSpPr>
          <p:cNvPr id="4" name="TextBox 3">
            <a:extLst>
              <a:ext uri="{FF2B5EF4-FFF2-40B4-BE49-F238E27FC236}">
                <a16:creationId xmlns:a16="http://schemas.microsoft.com/office/drawing/2014/main" id="{31E82E18-3641-D8EE-6838-937E0711CDE5}"/>
              </a:ext>
            </a:extLst>
          </p:cNvPr>
          <p:cNvSpPr txBox="1"/>
          <p:nvPr/>
        </p:nvSpPr>
        <p:spPr>
          <a:xfrm>
            <a:off x="1617955" y="1265041"/>
            <a:ext cx="8156360" cy="1200329"/>
          </a:xfrm>
          <a:prstGeom prst="rect">
            <a:avLst/>
          </a:prstGeom>
          <a:noFill/>
        </p:spPr>
        <p:txBody>
          <a:bodyPr wrap="square">
            <a:spAutoFit/>
          </a:bodyPr>
          <a:lstStyle/>
          <a:p>
            <a:r>
              <a:rPr lang="en-US" b="1" dirty="0">
                <a:solidFill>
                  <a:schemeClr val="bg2"/>
                </a:solidFill>
              </a:rPr>
              <a:t>Fine-tuning</a:t>
            </a:r>
            <a:r>
              <a:rPr lang="en-US" dirty="0">
                <a:solidFill>
                  <a:schemeClr val="bg2"/>
                </a:solidFill>
              </a:rPr>
              <a:t> is the process of </a:t>
            </a:r>
            <a:r>
              <a:rPr lang="en-US" b="1" dirty="0">
                <a:solidFill>
                  <a:schemeClr val="bg2"/>
                </a:solidFill>
              </a:rPr>
              <a:t>taking a pre-trained AI model and training it further on a smaller and more specific dataset.</a:t>
            </a:r>
            <a:r>
              <a:rPr lang="en-US" dirty="0">
                <a:solidFill>
                  <a:schemeClr val="bg2"/>
                </a:solidFill>
              </a:rPr>
              <a:t> so, it performs better on a particular task. </a:t>
            </a:r>
            <a:r>
              <a:rPr lang="en-US" dirty="0"/>
              <a:t>is the process of </a:t>
            </a:r>
            <a:r>
              <a:rPr lang="en-US" b="1" dirty="0"/>
              <a:t>taking a pre-trained AI model and training it further on a smaller, specific dataset</a:t>
            </a:r>
            <a:r>
              <a:rPr lang="en-US" dirty="0"/>
              <a:t> so it performs better on a particular task.</a:t>
            </a:r>
            <a:endParaRPr lang="en-IN" dirty="0"/>
          </a:p>
        </p:txBody>
      </p:sp>
      <p:sp>
        <p:nvSpPr>
          <p:cNvPr id="3" name="TextBox 2">
            <a:extLst>
              <a:ext uri="{FF2B5EF4-FFF2-40B4-BE49-F238E27FC236}">
                <a16:creationId xmlns:a16="http://schemas.microsoft.com/office/drawing/2014/main" id="{6728C55F-A674-74ED-3B00-EEEF4F3A7FF3}"/>
              </a:ext>
            </a:extLst>
          </p:cNvPr>
          <p:cNvSpPr txBox="1"/>
          <p:nvPr/>
        </p:nvSpPr>
        <p:spPr>
          <a:xfrm>
            <a:off x="1591172" y="1865205"/>
            <a:ext cx="3441167" cy="369332"/>
          </a:xfrm>
          <a:prstGeom prst="rect">
            <a:avLst/>
          </a:prstGeom>
          <a:noFill/>
        </p:spPr>
        <p:txBody>
          <a:bodyPr wrap="square" rtlCol="0">
            <a:spAutoFit/>
          </a:bodyPr>
          <a:lstStyle/>
          <a:p>
            <a:r>
              <a:rPr lang="en-IN" dirty="0">
                <a:solidFill>
                  <a:schemeClr val="bg2"/>
                </a:solidFill>
              </a:rPr>
              <a:t>Example: </a:t>
            </a:r>
          </a:p>
        </p:txBody>
      </p:sp>
      <p:sp>
        <p:nvSpPr>
          <p:cNvPr id="5" name="Rectangle 4">
            <a:extLst>
              <a:ext uri="{FF2B5EF4-FFF2-40B4-BE49-F238E27FC236}">
                <a16:creationId xmlns:a16="http://schemas.microsoft.com/office/drawing/2014/main" id="{C33AAEBE-E4D0-0ECE-9DEF-F865CD8451D6}"/>
              </a:ext>
            </a:extLst>
          </p:cNvPr>
          <p:cNvSpPr/>
          <p:nvPr/>
        </p:nvSpPr>
        <p:spPr>
          <a:xfrm>
            <a:off x="4039341" y="3945838"/>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Rahul</a:t>
            </a:r>
          </a:p>
        </p:txBody>
      </p:sp>
      <p:sp>
        <p:nvSpPr>
          <p:cNvPr id="6" name="Rectangle 5">
            <a:extLst>
              <a:ext uri="{FF2B5EF4-FFF2-40B4-BE49-F238E27FC236}">
                <a16:creationId xmlns:a16="http://schemas.microsoft.com/office/drawing/2014/main" id="{DBE19620-8159-D66D-1962-96938F864469}"/>
              </a:ext>
            </a:extLst>
          </p:cNvPr>
          <p:cNvSpPr/>
          <p:nvPr/>
        </p:nvSpPr>
        <p:spPr>
          <a:xfrm>
            <a:off x="5806270" y="2623065"/>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Physics</a:t>
            </a:r>
          </a:p>
        </p:txBody>
      </p:sp>
      <p:sp>
        <p:nvSpPr>
          <p:cNvPr id="7" name="Rectangle 6">
            <a:extLst>
              <a:ext uri="{FF2B5EF4-FFF2-40B4-BE49-F238E27FC236}">
                <a16:creationId xmlns:a16="http://schemas.microsoft.com/office/drawing/2014/main" id="{B997C211-852A-60FD-2D56-4A38206F5365}"/>
              </a:ext>
            </a:extLst>
          </p:cNvPr>
          <p:cNvSpPr/>
          <p:nvPr/>
        </p:nvSpPr>
        <p:spPr>
          <a:xfrm>
            <a:off x="5806270" y="5285480"/>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English</a:t>
            </a:r>
          </a:p>
        </p:txBody>
      </p:sp>
      <p:sp>
        <p:nvSpPr>
          <p:cNvPr id="8" name="Rectangle 7">
            <a:extLst>
              <a:ext uri="{FF2B5EF4-FFF2-40B4-BE49-F238E27FC236}">
                <a16:creationId xmlns:a16="http://schemas.microsoft.com/office/drawing/2014/main" id="{0227B823-5090-34A6-CCA7-BD0B4EEA04C1}"/>
              </a:ext>
            </a:extLst>
          </p:cNvPr>
          <p:cNvSpPr/>
          <p:nvPr/>
        </p:nvSpPr>
        <p:spPr>
          <a:xfrm>
            <a:off x="2384315" y="5333713"/>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Software Development</a:t>
            </a:r>
          </a:p>
        </p:txBody>
      </p:sp>
      <p:sp>
        <p:nvSpPr>
          <p:cNvPr id="9" name="Rectangle 8">
            <a:extLst>
              <a:ext uri="{FF2B5EF4-FFF2-40B4-BE49-F238E27FC236}">
                <a16:creationId xmlns:a16="http://schemas.microsoft.com/office/drawing/2014/main" id="{736085DB-C9C0-D6AD-C1B7-C3285013E202}"/>
              </a:ext>
            </a:extLst>
          </p:cNvPr>
          <p:cNvSpPr/>
          <p:nvPr/>
        </p:nvSpPr>
        <p:spPr>
          <a:xfrm>
            <a:off x="2281411" y="2596432"/>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Mathematics</a:t>
            </a:r>
          </a:p>
        </p:txBody>
      </p:sp>
      <p:cxnSp>
        <p:nvCxnSpPr>
          <p:cNvPr id="10" name="Straight Arrow Connector 9">
            <a:extLst>
              <a:ext uri="{FF2B5EF4-FFF2-40B4-BE49-F238E27FC236}">
                <a16:creationId xmlns:a16="http://schemas.microsoft.com/office/drawing/2014/main" id="{F4ADD5E6-E1D3-AE58-578E-141FDF4B49A8}"/>
              </a:ext>
            </a:extLst>
          </p:cNvPr>
          <p:cNvCxnSpPr/>
          <p:nvPr/>
        </p:nvCxnSpPr>
        <p:spPr>
          <a:xfrm flipH="1" flipV="1">
            <a:off x="3461086" y="3297768"/>
            <a:ext cx="578255" cy="64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BE865DB0-7073-7A0C-4A02-B0039834A271}"/>
              </a:ext>
            </a:extLst>
          </p:cNvPr>
          <p:cNvCxnSpPr/>
          <p:nvPr/>
        </p:nvCxnSpPr>
        <p:spPr>
          <a:xfrm flipV="1">
            <a:off x="5591727" y="3297768"/>
            <a:ext cx="443884" cy="648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0EFC4A1-4CFC-3EE4-0990-598EF7F567DA}"/>
              </a:ext>
            </a:extLst>
          </p:cNvPr>
          <p:cNvCxnSpPr/>
          <p:nvPr/>
        </p:nvCxnSpPr>
        <p:spPr>
          <a:xfrm flipH="1">
            <a:off x="3345677" y="4620541"/>
            <a:ext cx="693664" cy="713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D02F8BE-AE0D-4C48-D0ED-F03F5E82899B}"/>
              </a:ext>
            </a:extLst>
          </p:cNvPr>
          <p:cNvCxnSpPr/>
          <p:nvPr/>
        </p:nvCxnSpPr>
        <p:spPr>
          <a:xfrm>
            <a:off x="5591727" y="4620541"/>
            <a:ext cx="701336" cy="664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Graphic 14" descr="Male profile with solid fill">
            <a:extLst>
              <a:ext uri="{FF2B5EF4-FFF2-40B4-BE49-F238E27FC236}">
                <a16:creationId xmlns:a16="http://schemas.microsoft.com/office/drawing/2014/main" id="{0E625E12-6013-0637-FF49-858F27A57C9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39341" y="4035186"/>
            <a:ext cx="534476" cy="534476"/>
          </a:xfrm>
          <a:prstGeom prst="rect">
            <a:avLst/>
          </a:prstGeom>
        </p:spPr>
      </p:pic>
      <p:sp>
        <p:nvSpPr>
          <p:cNvPr id="16" name="TextBox 15">
            <a:extLst>
              <a:ext uri="{FF2B5EF4-FFF2-40B4-BE49-F238E27FC236}">
                <a16:creationId xmlns:a16="http://schemas.microsoft.com/office/drawing/2014/main" id="{0601B156-40EA-7B19-A2A7-342A26DB65F3}"/>
              </a:ext>
            </a:extLst>
          </p:cNvPr>
          <p:cNvSpPr txBox="1"/>
          <p:nvPr/>
        </p:nvSpPr>
        <p:spPr>
          <a:xfrm>
            <a:off x="6035611" y="3708308"/>
            <a:ext cx="6094520" cy="923330"/>
          </a:xfrm>
          <a:prstGeom prst="rect">
            <a:avLst/>
          </a:prstGeom>
          <a:noFill/>
        </p:spPr>
        <p:txBody>
          <a:bodyPr wrap="square">
            <a:spAutoFit/>
          </a:bodyPr>
          <a:lstStyle/>
          <a:p>
            <a:pPr>
              <a:buNone/>
            </a:pPr>
            <a:r>
              <a:rPr lang="en-US" dirty="0">
                <a:solidFill>
                  <a:schemeClr val="bg2"/>
                </a:solidFill>
              </a:rPr>
              <a:t>The </a:t>
            </a:r>
            <a:r>
              <a:rPr lang="en-US" b="1" dirty="0">
                <a:solidFill>
                  <a:schemeClr val="bg2"/>
                </a:solidFill>
              </a:rPr>
              <a:t>pre-trained model</a:t>
            </a:r>
            <a:r>
              <a:rPr lang="en-US" dirty="0">
                <a:solidFill>
                  <a:schemeClr val="bg2"/>
                </a:solidFill>
              </a:rPr>
              <a:t> = Rahul's college education</a:t>
            </a:r>
          </a:p>
          <a:p>
            <a:pPr>
              <a:buNone/>
            </a:pPr>
            <a:r>
              <a:rPr lang="en-US" dirty="0">
                <a:solidFill>
                  <a:schemeClr val="bg2"/>
                </a:solidFill>
              </a:rPr>
              <a:t>The </a:t>
            </a:r>
            <a:r>
              <a:rPr lang="en-US" b="1" dirty="0">
                <a:solidFill>
                  <a:schemeClr val="bg2"/>
                </a:solidFill>
              </a:rPr>
              <a:t>company training program</a:t>
            </a:r>
            <a:r>
              <a:rPr lang="en-US" dirty="0">
                <a:solidFill>
                  <a:schemeClr val="bg2"/>
                </a:solidFill>
              </a:rPr>
              <a:t> = Fine-tuning</a:t>
            </a:r>
          </a:p>
          <a:p>
            <a:pPr>
              <a:buNone/>
            </a:pPr>
            <a:r>
              <a:rPr lang="en-US" dirty="0">
                <a:solidFill>
                  <a:schemeClr val="bg2"/>
                </a:solidFill>
              </a:rPr>
              <a:t>The </a:t>
            </a:r>
            <a:r>
              <a:rPr lang="en-US" b="1" dirty="0">
                <a:solidFill>
                  <a:schemeClr val="bg2"/>
                </a:solidFill>
              </a:rPr>
              <a:t>company's work style and projects</a:t>
            </a:r>
            <a:r>
              <a:rPr lang="en-US" dirty="0">
                <a:solidFill>
                  <a:schemeClr val="bg2"/>
                </a:solidFill>
              </a:rPr>
              <a:t> = specialized dataset</a:t>
            </a:r>
          </a:p>
        </p:txBody>
      </p:sp>
    </p:spTree>
    <p:extLst>
      <p:ext uri="{BB962C8B-B14F-4D97-AF65-F5344CB8AC3E}">
        <p14:creationId xmlns:p14="http://schemas.microsoft.com/office/powerpoint/2010/main" val="2564174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D02C9-E45F-5568-DC0D-3724C1A9C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66EDF-4AA6-B757-CB84-CB794969AFF6}"/>
              </a:ext>
            </a:extLst>
          </p:cNvPr>
          <p:cNvSpPr>
            <a:spLocks noGrp="1"/>
          </p:cNvSpPr>
          <p:nvPr>
            <p:ph type="ctrTitle"/>
          </p:nvPr>
        </p:nvSpPr>
        <p:spPr>
          <a:xfrm>
            <a:off x="1601348" y="248575"/>
            <a:ext cx="9145991" cy="723688"/>
          </a:xfrm>
        </p:spPr>
        <p:txBody>
          <a:bodyPr/>
          <a:lstStyle/>
          <a:p>
            <a:r>
              <a:rPr lang="en-IN" sz="4000" dirty="0"/>
              <a:t>Question: Is Fine-Tuning Enough?</a:t>
            </a:r>
          </a:p>
        </p:txBody>
      </p:sp>
    </p:spTree>
    <p:extLst>
      <p:ext uri="{BB962C8B-B14F-4D97-AF65-F5344CB8AC3E}">
        <p14:creationId xmlns:p14="http://schemas.microsoft.com/office/powerpoint/2010/main" val="340320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51081-4631-5B33-69FE-E6EDBD1D7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C3F80-D660-2187-9BAF-502F75DB87FF}"/>
              </a:ext>
            </a:extLst>
          </p:cNvPr>
          <p:cNvSpPr>
            <a:spLocks noGrp="1"/>
          </p:cNvSpPr>
          <p:nvPr>
            <p:ph type="ctrTitle"/>
          </p:nvPr>
        </p:nvSpPr>
        <p:spPr>
          <a:xfrm>
            <a:off x="1601348" y="248575"/>
            <a:ext cx="9145991" cy="723688"/>
          </a:xfrm>
        </p:spPr>
        <p:txBody>
          <a:bodyPr/>
          <a:lstStyle/>
          <a:p>
            <a:r>
              <a:rPr lang="en-IN" sz="4000" dirty="0"/>
              <a:t>Question: Is Fine-Tuning Enough?</a:t>
            </a:r>
          </a:p>
        </p:txBody>
      </p:sp>
      <p:sp>
        <p:nvSpPr>
          <p:cNvPr id="4" name="TextBox 3">
            <a:extLst>
              <a:ext uri="{FF2B5EF4-FFF2-40B4-BE49-F238E27FC236}">
                <a16:creationId xmlns:a16="http://schemas.microsoft.com/office/drawing/2014/main" id="{C8775AF0-2C24-ECB5-8ECA-2DD60FA0859D}"/>
              </a:ext>
            </a:extLst>
          </p:cNvPr>
          <p:cNvSpPr txBox="1"/>
          <p:nvPr/>
        </p:nvSpPr>
        <p:spPr>
          <a:xfrm>
            <a:off x="1706732" y="1341397"/>
            <a:ext cx="6094520" cy="646331"/>
          </a:xfrm>
          <a:prstGeom prst="rect">
            <a:avLst/>
          </a:prstGeom>
          <a:noFill/>
        </p:spPr>
        <p:txBody>
          <a:bodyPr wrap="square">
            <a:spAutoFit/>
          </a:bodyPr>
          <a:lstStyle/>
          <a:p>
            <a:r>
              <a:rPr lang="en-US" dirty="0">
                <a:solidFill>
                  <a:schemeClr val="bg2"/>
                </a:solidFill>
              </a:rPr>
              <a:t>No, </a:t>
            </a:r>
            <a:r>
              <a:rPr lang="en-US" b="1" dirty="0">
                <a:solidFill>
                  <a:schemeClr val="bg2"/>
                </a:solidFill>
              </a:rPr>
              <a:t>fine-tuning alone is often not enough</a:t>
            </a:r>
            <a:r>
              <a:rPr lang="en-US" dirty="0">
                <a:solidFill>
                  <a:schemeClr val="bg2"/>
                </a:solidFill>
              </a:rPr>
              <a:t> for many modern AI applications.</a:t>
            </a:r>
            <a:endParaRPr lang="en-IN" dirty="0">
              <a:solidFill>
                <a:schemeClr val="bg2"/>
              </a:solidFill>
            </a:endParaRPr>
          </a:p>
        </p:txBody>
      </p:sp>
    </p:spTree>
    <p:extLst>
      <p:ext uri="{BB962C8B-B14F-4D97-AF65-F5344CB8AC3E}">
        <p14:creationId xmlns:p14="http://schemas.microsoft.com/office/powerpoint/2010/main" val="353536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0BDD2-2630-6F6B-75CA-E2F39CD2D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E84F3-C02B-8523-5C53-8407C4732341}"/>
              </a:ext>
            </a:extLst>
          </p:cNvPr>
          <p:cNvSpPr>
            <a:spLocks noGrp="1"/>
          </p:cNvSpPr>
          <p:nvPr>
            <p:ph type="ctrTitle"/>
          </p:nvPr>
        </p:nvSpPr>
        <p:spPr>
          <a:xfrm>
            <a:off x="1601348" y="248575"/>
            <a:ext cx="9145991" cy="723688"/>
          </a:xfrm>
        </p:spPr>
        <p:txBody>
          <a:bodyPr/>
          <a:lstStyle/>
          <a:p>
            <a:r>
              <a:rPr lang="en-IN" sz="4000" dirty="0"/>
              <a:t>Question: Is Fine-Tuning Enough?</a:t>
            </a:r>
          </a:p>
        </p:txBody>
      </p:sp>
      <p:sp>
        <p:nvSpPr>
          <p:cNvPr id="4" name="TextBox 3">
            <a:extLst>
              <a:ext uri="{FF2B5EF4-FFF2-40B4-BE49-F238E27FC236}">
                <a16:creationId xmlns:a16="http://schemas.microsoft.com/office/drawing/2014/main" id="{C906084C-6A0A-05B1-29BB-805EE39D143F}"/>
              </a:ext>
            </a:extLst>
          </p:cNvPr>
          <p:cNvSpPr txBox="1"/>
          <p:nvPr/>
        </p:nvSpPr>
        <p:spPr>
          <a:xfrm>
            <a:off x="1706732" y="1341397"/>
            <a:ext cx="6094520" cy="646331"/>
          </a:xfrm>
          <a:prstGeom prst="rect">
            <a:avLst/>
          </a:prstGeom>
          <a:noFill/>
        </p:spPr>
        <p:txBody>
          <a:bodyPr wrap="square">
            <a:spAutoFit/>
          </a:bodyPr>
          <a:lstStyle/>
          <a:p>
            <a:r>
              <a:rPr lang="en-US" dirty="0">
                <a:solidFill>
                  <a:schemeClr val="bg2"/>
                </a:solidFill>
              </a:rPr>
              <a:t>No, </a:t>
            </a:r>
            <a:r>
              <a:rPr lang="en-US" b="1" dirty="0">
                <a:solidFill>
                  <a:schemeClr val="bg2"/>
                </a:solidFill>
              </a:rPr>
              <a:t>fine-tuning alone is often not enough</a:t>
            </a:r>
            <a:r>
              <a:rPr lang="en-US" dirty="0">
                <a:solidFill>
                  <a:schemeClr val="bg2"/>
                </a:solidFill>
              </a:rPr>
              <a:t> for many modern AI applications.</a:t>
            </a:r>
            <a:endParaRPr lang="en-IN" dirty="0">
              <a:solidFill>
                <a:schemeClr val="bg2"/>
              </a:solidFill>
            </a:endParaRPr>
          </a:p>
        </p:txBody>
      </p:sp>
      <p:sp>
        <p:nvSpPr>
          <p:cNvPr id="3" name="TextBox 2">
            <a:extLst>
              <a:ext uri="{FF2B5EF4-FFF2-40B4-BE49-F238E27FC236}">
                <a16:creationId xmlns:a16="http://schemas.microsoft.com/office/drawing/2014/main" id="{CE2090AE-3603-5C04-22E4-7F916763E0A0}"/>
              </a:ext>
            </a:extLst>
          </p:cNvPr>
          <p:cNvSpPr txBox="1"/>
          <p:nvPr/>
        </p:nvSpPr>
        <p:spPr>
          <a:xfrm>
            <a:off x="1819922" y="2565647"/>
            <a:ext cx="5788241" cy="646331"/>
          </a:xfrm>
          <a:prstGeom prst="rect">
            <a:avLst/>
          </a:prstGeom>
          <a:noFill/>
        </p:spPr>
        <p:txBody>
          <a:bodyPr wrap="square" rtlCol="0">
            <a:spAutoFit/>
          </a:bodyPr>
          <a:lstStyle/>
          <a:p>
            <a:r>
              <a:rPr lang="en-IN" dirty="0">
                <a:solidFill>
                  <a:schemeClr val="bg2"/>
                </a:solidFill>
              </a:rPr>
              <a:t>The Reason is :</a:t>
            </a:r>
          </a:p>
          <a:p>
            <a:r>
              <a:rPr lang="en-IN" dirty="0">
                <a:solidFill>
                  <a:schemeClr val="bg2"/>
                </a:solidFill>
              </a:rPr>
              <a:t>1.  Knowledge Becomes Outdated </a:t>
            </a:r>
          </a:p>
        </p:txBody>
      </p:sp>
      <p:sp>
        <p:nvSpPr>
          <p:cNvPr id="6" name="TextBox 5">
            <a:extLst>
              <a:ext uri="{FF2B5EF4-FFF2-40B4-BE49-F238E27FC236}">
                <a16:creationId xmlns:a16="http://schemas.microsoft.com/office/drawing/2014/main" id="{E653E36B-77B1-0BF3-8CB0-BB772A86C1AB}"/>
              </a:ext>
            </a:extLst>
          </p:cNvPr>
          <p:cNvSpPr txBox="1"/>
          <p:nvPr/>
        </p:nvSpPr>
        <p:spPr>
          <a:xfrm>
            <a:off x="5932502" y="2356862"/>
            <a:ext cx="6094520" cy="2031325"/>
          </a:xfrm>
          <a:prstGeom prst="rect">
            <a:avLst/>
          </a:prstGeom>
          <a:noFill/>
        </p:spPr>
        <p:txBody>
          <a:bodyPr wrap="square">
            <a:spAutoFit/>
          </a:bodyPr>
          <a:lstStyle/>
          <a:p>
            <a:pPr>
              <a:buNone/>
            </a:pPr>
            <a:r>
              <a:rPr lang="en-US" dirty="0">
                <a:solidFill>
                  <a:schemeClr val="bg1"/>
                </a:solidFill>
              </a:rPr>
              <a:t>Imagine you fine-tune a model on data from </a:t>
            </a:r>
            <a:r>
              <a:rPr lang="en-US" b="1" dirty="0">
                <a:solidFill>
                  <a:schemeClr val="bg1"/>
                </a:solidFill>
              </a:rPr>
              <a:t>2023</a:t>
            </a:r>
            <a:r>
              <a:rPr lang="en-US" dirty="0">
                <a:solidFill>
                  <a:schemeClr val="bg1"/>
                </a:solidFill>
              </a:rPr>
              <a:t>.</a:t>
            </a:r>
          </a:p>
          <a:p>
            <a:pPr>
              <a:buNone/>
            </a:pPr>
            <a:r>
              <a:rPr lang="en-US" dirty="0">
                <a:solidFill>
                  <a:schemeClr val="bg1"/>
                </a:solidFill>
              </a:rPr>
              <a:t>Now in </a:t>
            </a:r>
            <a:r>
              <a:rPr lang="en-US" b="1" dirty="0">
                <a:solidFill>
                  <a:schemeClr val="bg1"/>
                </a:solidFill>
              </a:rPr>
              <a:t>2025</a:t>
            </a:r>
            <a:r>
              <a:rPr lang="en-US" dirty="0">
                <a:solidFill>
                  <a:schemeClr val="bg1"/>
                </a:solidFill>
              </a:rPr>
              <a:t>:</a:t>
            </a:r>
          </a:p>
          <a:p>
            <a:pPr>
              <a:buFont typeface="Arial" panose="020B0604020202020204" pitchFamily="34" charset="0"/>
              <a:buChar char="•"/>
            </a:pPr>
            <a:r>
              <a:rPr lang="en-US" dirty="0">
                <a:solidFill>
                  <a:schemeClr val="bg1"/>
                </a:solidFill>
              </a:rPr>
              <a:t>New technologies appear</a:t>
            </a:r>
          </a:p>
          <a:p>
            <a:pPr>
              <a:buFont typeface="Arial" panose="020B0604020202020204" pitchFamily="34" charset="0"/>
              <a:buChar char="•"/>
            </a:pPr>
            <a:r>
              <a:rPr lang="en-US" dirty="0">
                <a:solidFill>
                  <a:schemeClr val="bg1"/>
                </a:solidFill>
              </a:rPr>
              <a:t>Company data changes</a:t>
            </a:r>
          </a:p>
          <a:p>
            <a:pPr>
              <a:buFont typeface="Arial" panose="020B0604020202020204" pitchFamily="34" charset="0"/>
              <a:buChar char="•"/>
            </a:pPr>
            <a:r>
              <a:rPr lang="en-US" dirty="0">
                <a:solidFill>
                  <a:schemeClr val="bg1"/>
                </a:solidFill>
              </a:rPr>
              <a:t>New facts are available</a:t>
            </a:r>
          </a:p>
          <a:p>
            <a:pPr>
              <a:buNone/>
            </a:pPr>
            <a:r>
              <a:rPr lang="en-US" dirty="0">
                <a:solidFill>
                  <a:schemeClr val="bg1"/>
                </a:solidFill>
              </a:rPr>
              <a:t>But, The model </a:t>
            </a:r>
            <a:r>
              <a:rPr lang="en-US" b="1" dirty="0">
                <a:solidFill>
                  <a:schemeClr val="bg1"/>
                </a:solidFill>
              </a:rPr>
              <a:t>still gives old answers</a:t>
            </a:r>
            <a:br>
              <a:rPr lang="en-US" dirty="0">
                <a:solidFill>
                  <a:schemeClr val="bg1"/>
                </a:solidFill>
              </a:rPr>
            </a:br>
            <a:r>
              <a:rPr lang="en-US" dirty="0">
                <a:solidFill>
                  <a:schemeClr val="bg1"/>
                </a:solidFill>
              </a:rPr>
              <a:t>because it </a:t>
            </a:r>
            <a:r>
              <a:rPr lang="en-US" b="1" dirty="0">
                <a:solidFill>
                  <a:schemeClr val="bg1"/>
                </a:solidFill>
              </a:rPr>
              <a:t>cannot access updated information</a:t>
            </a:r>
            <a:endParaRPr lang="en-US" dirty="0">
              <a:solidFill>
                <a:schemeClr val="bg1"/>
              </a:solidFill>
            </a:endParaRPr>
          </a:p>
        </p:txBody>
      </p:sp>
    </p:spTree>
    <p:extLst>
      <p:ext uri="{BB962C8B-B14F-4D97-AF65-F5344CB8AC3E}">
        <p14:creationId xmlns:p14="http://schemas.microsoft.com/office/powerpoint/2010/main" val="859210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2D7A4-2FE8-023C-8A5C-A784A9D15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EA50A-F06D-3BD4-6945-5DF76B4425A2}"/>
              </a:ext>
            </a:extLst>
          </p:cNvPr>
          <p:cNvSpPr>
            <a:spLocks noGrp="1"/>
          </p:cNvSpPr>
          <p:nvPr>
            <p:ph type="ctrTitle"/>
          </p:nvPr>
        </p:nvSpPr>
        <p:spPr>
          <a:xfrm>
            <a:off x="1601348" y="248575"/>
            <a:ext cx="9145991" cy="723688"/>
          </a:xfrm>
        </p:spPr>
        <p:txBody>
          <a:bodyPr/>
          <a:lstStyle/>
          <a:p>
            <a:r>
              <a:rPr lang="en-IN" sz="4000" dirty="0"/>
              <a:t>Question: Is Fine-Tuning Enough?</a:t>
            </a:r>
          </a:p>
        </p:txBody>
      </p:sp>
      <p:sp>
        <p:nvSpPr>
          <p:cNvPr id="4" name="TextBox 3">
            <a:extLst>
              <a:ext uri="{FF2B5EF4-FFF2-40B4-BE49-F238E27FC236}">
                <a16:creationId xmlns:a16="http://schemas.microsoft.com/office/drawing/2014/main" id="{4858F3B1-23CB-B4A8-C72A-A3C769E733DC}"/>
              </a:ext>
            </a:extLst>
          </p:cNvPr>
          <p:cNvSpPr txBox="1"/>
          <p:nvPr/>
        </p:nvSpPr>
        <p:spPr>
          <a:xfrm>
            <a:off x="1706732" y="1341397"/>
            <a:ext cx="6094520" cy="646331"/>
          </a:xfrm>
          <a:prstGeom prst="rect">
            <a:avLst/>
          </a:prstGeom>
          <a:noFill/>
        </p:spPr>
        <p:txBody>
          <a:bodyPr wrap="square">
            <a:spAutoFit/>
          </a:bodyPr>
          <a:lstStyle/>
          <a:p>
            <a:r>
              <a:rPr lang="en-US" dirty="0">
                <a:solidFill>
                  <a:schemeClr val="bg2"/>
                </a:solidFill>
              </a:rPr>
              <a:t>No, </a:t>
            </a:r>
            <a:r>
              <a:rPr lang="en-US" b="1" dirty="0">
                <a:solidFill>
                  <a:schemeClr val="bg2"/>
                </a:solidFill>
              </a:rPr>
              <a:t>fine-tuning alone is often not enough</a:t>
            </a:r>
            <a:r>
              <a:rPr lang="en-US" dirty="0">
                <a:solidFill>
                  <a:schemeClr val="bg2"/>
                </a:solidFill>
              </a:rPr>
              <a:t> for many modern AI applications.</a:t>
            </a:r>
            <a:endParaRPr lang="en-IN" dirty="0">
              <a:solidFill>
                <a:schemeClr val="bg2"/>
              </a:solidFill>
            </a:endParaRPr>
          </a:p>
        </p:txBody>
      </p:sp>
      <p:sp>
        <p:nvSpPr>
          <p:cNvPr id="3" name="TextBox 2">
            <a:extLst>
              <a:ext uri="{FF2B5EF4-FFF2-40B4-BE49-F238E27FC236}">
                <a16:creationId xmlns:a16="http://schemas.microsoft.com/office/drawing/2014/main" id="{2EA729ED-7156-57C4-0127-C0F0E31F9266}"/>
              </a:ext>
            </a:extLst>
          </p:cNvPr>
          <p:cNvSpPr txBox="1"/>
          <p:nvPr/>
        </p:nvSpPr>
        <p:spPr>
          <a:xfrm>
            <a:off x="1819922" y="2565647"/>
            <a:ext cx="5788241" cy="1200329"/>
          </a:xfrm>
          <a:prstGeom prst="rect">
            <a:avLst/>
          </a:prstGeom>
          <a:noFill/>
        </p:spPr>
        <p:txBody>
          <a:bodyPr wrap="square" rtlCol="0">
            <a:spAutoFit/>
          </a:bodyPr>
          <a:lstStyle/>
          <a:p>
            <a:r>
              <a:rPr lang="en-IN" dirty="0">
                <a:solidFill>
                  <a:schemeClr val="bg2"/>
                </a:solidFill>
              </a:rPr>
              <a:t>The Reason is :</a:t>
            </a:r>
          </a:p>
          <a:p>
            <a:pPr marL="342900" indent="-342900">
              <a:buAutoNum type="arabicPeriod"/>
            </a:pPr>
            <a:r>
              <a:rPr lang="en-IN" dirty="0">
                <a:solidFill>
                  <a:schemeClr val="bg2"/>
                </a:solidFill>
              </a:rPr>
              <a:t>Knowledge Becomes Outdated </a:t>
            </a:r>
          </a:p>
          <a:p>
            <a:pPr marL="342900" indent="-342900">
              <a:buAutoNum type="arabicPeriod"/>
            </a:pPr>
            <a:r>
              <a:rPr lang="en-IN" dirty="0">
                <a:solidFill>
                  <a:schemeClr val="bg2"/>
                </a:solidFill>
              </a:rPr>
              <a:t>Retraining Is Expensive</a:t>
            </a:r>
          </a:p>
          <a:p>
            <a:pPr marL="342900" indent="-342900">
              <a:buAutoNum type="arabicPeriod"/>
            </a:pPr>
            <a:r>
              <a:rPr lang="en-US" dirty="0"/>
              <a:t>Difficult to Use Large or Dynamic Data</a:t>
            </a:r>
            <a:r>
              <a:rPr lang="en-IN" dirty="0">
                <a:solidFill>
                  <a:schemeClr val="bg2"/>
                </a:solidFill>
              </a:rPr>
              <a:t> </a:t>
            </a:r>
          </a:p>
        </p:txBody>
      </p:sp>
      <p:sp>
        <p:nvSpPr>
          <p:cNvPr id="6" name="TextBox 5">
            <a:extLst>
              <a:ext uri="{FF2B5EF4-FFF2-40B4-BE49-F238E27FC236}">
                <a16:creationId xmlns:a16="http://schemas.microsoft.com/office/drawing/2014/main" id="{A337A098-52D2-3DEC-FC84-7247C8974399}"/>
              </a:ext>
            </a:extLst>
          </p:cNvPr>
          <p:cNvSpPr txBox="1"/>
          <p:nvPr/>
        </p:nvSpPr>
        <p:spPr>
          <a:xfrm>
            <a:off x="6562817" y="3026363"/>
            <a:ext cx="5501936" cy="1754326"/>
          </a:xfrm>
          <a:prstGeom prst="rect">
            <a:avLst/>
          </a:prstGeom>
          <a:noFill/>
        </p:spPr>
        <p:txBody>
          <a:bodyPr wrap="square">
            <a:spAutoFit/>
          </a:bodyPr>
          <a:lstStyle/>
          <a:p>
            <a:pPr>
              <a:buNone/>
            </a:pPr>
            <a:r>
              <a:rPr lang="en-US" dirty="0">
                <a:solidFill>
                  <a:schemeClr val="bg1"/>
                </a:solidFill>
              </a:rPr>
              <a:t>A company updates its policies every month.</a:t>
            </a:r>
          </a:p>
          <a:p>
            <a:pPr>
              <a:buNone/>
            </a:pPr>
            <a:r>
              <a:rPr lang="en-US" dirty="0">
                <a:solidFill>
                  <a:schemeClr val="bg1"/>
                </a:solidFill>
              </a:rPr>
              <a:t>With fine-tuning:</a:t>
            </a:r>
          </a:p>
          <a:p>
            <a:pPr>
              <a:buFont typeface="Arial" panose="020B0604020202020204" pitchFamily="34" charset="0"/>
              <a:buChar char="•"/>
            </a:pPr>
            <a:r>
              <a:rPr lang="en-US" dirty="0">
                <a:solidFill>
                  <a:schemeClr val="bg1"/>
                </a:solidFill>
              </a:rPr>
              <a:t>You must </a:t>
            </a:r>
            <a:r>
              <a:rPr lang="en-US" b="1" dirty="0">
                <a:solidFill>
                  <a:schemeClr val="bg1"/>
                </a:solidFill>
              </a:rPr>
              <a:t>retrain the model every time</a:t>
            </a:r>
            <a:endParaRPr lang="en-US" dirty="0">
              <a:solidFill>
                <a:schemeClr val="bg1"/>
              </a:solidFill>
            </a:endParaRPr>
          </a:p>
          <a:p>
            <a:pPr>
              <a:buFont typeface="Arial" panose="020B0604020202020204" pitchFamily="34" charset="0"/>
              <a:buChar char="•"/>
            </a:pPr>
            <a:r>
              <a:rPr lang="en-US" dirty="0">
                <a:solidFill>
                  <a:schemeClr val="bg1"/>
                </a:solidFill>
              </a:rPr>
              <a:t>This increases </a:t>
            </a:r>
            <a:r>
              <a:rPr lang="en-US" b="1" dirty="0">
                <a:solidFill>
                  <a:schemeClr val="bg1"/>
                </a:solidFill>
              </a:rPr>
              <a:t>cost and effort</a:t>
            </a:r>
          </a:p>
          <a:p>
            <a:pPr>
              <a:buFont typeface="Arial" panose="020B0604020202020204" pitchFamily="34" charset="0"/>
              <a:buChar char="•"/>
            </a:pPr>
            <a:r>
              <a:rPr lang="en-US" b="1" dirty="0">
                <a:solidFill>
                  <a:schemeClr val="bg1"/>
                </a:solidFill>
              </a:rPr>
              <a:t>So, it is ideally not good for the companies who gets updated time to time.</a:t>
            </a:r>
            <a:endParaRPr lang="en-US" dirty="0">
              <a:solidFill>
                <a:schemeClr val="bg1"/>
              </a:solidFill>
            </a:endParaRPr>
          </a:p>
        </p:txBody>
      </p:sp>
    </p:spTree>
    <p:extLst>
      <p:ext uri="{BB962C8B-B14F-4D97-AF65-F5344CB8AC3E}">
        <p14:creationId xmlns:p14="http://schemas.microsoft.com/office/powerpoint/2010/main" val="408919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66779-2B5F-F72D-83CA-CD4F4B348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C8478-E343-6D4B-6824-E922740D6625}"/>
              </a:ext>
            </a:extLst>
          </p:cNvPr>
          <p:cNvSpPr>
            <a:spLocks noGrp="1"/>
          </p:cNvSpPr>
          <p:nvPr>
            <p:ph type="ctrTitle"/>
          </p:nvPr>
        </p:nvSpPr>
        <p:spPr>
          <a:xfrm>
            <a:off x="1601348" y="248575"/>
            <a:ext cx="9145991" cy="723688"/>
          </a:xfrm>
        </p:spPr>
        <p:txBody>
          <a:bodyPr/>
          <a:lstStyle/>
          <a:p>
            <a:r>
              <a:rPr lang="en-IN" sz="4000" dirty="0"/>
              <a:t>Question: Is Fine-Tuning Enough?</a:t>
            </a:r>
          </a:p>
        </p:txBody>
      </p:sp>
      <p:sp>
        <p:nvSpPr>
          <p:cNvPr id="4" name="TextBox 3">
            <a:extLst>
              <a:ext uri="{FF2B5EF4-FFF2-40B4-BE49-F238E27FC236}">
                <a16:creationId xmlns:a16="http://schemas.microsoft.com/office/drawing/2014/main" id="{AD8D3418-1649-9288-E764-CE788C679D8A}"/>
              </a:ext>
            </a:extLst>
          </p:cNvPr>
          <p:cNvSpPr txBox="1"/>
          <p:nvPr/>
        </p:nvSpPr>
        <p:spPr>
          <a:xfrm>
            <a:off x="1706732" y="1341397"/>
            <a:ext cx="6094520" cy="646331"/>
          </a:xfrm>
          <a:prstGeom prst="rect">
            <a:avLst/>
          </a:prstGeom>
          <a:noFill/>
        </p:spPr>
        <p:txBody>
          <a:bodyPr wrap="square">
            <a:spAutoFit/>
          </a:bodyPr>
          <a:lstStyle/>
          <a:p>
            <a:r>
              <a:rPr lang="en-US" dirty="0">
                <a:solidFill>
                  <a:schemeClr val="bg2"/>
                </a:solidFill>
              </a:rPr>
              <a:t>No, </a:t>
            </a:r>
            <a:r>
              <a:rPr lang="en-US" b="1" dirty="0">
                <a:solidFill>
                  <a:schemeClr val="bg2"/>
                </a:solidFill>
              </a:rPr>
              <a:t>fine-tuning alone is often not enough</a:t>
            </a:r>
            <a:r>
              <a:rPr lang="en-US" dirty="0">
                <a:solidFill>
                  <a:schemeClr val="bg2"/>
                </a:solidFill>
              </a:rPr>
              <a:t> for many modern AI applications.</a:t>
            </a:r>
            <a:endParaRPr lang="en-IN" dirty="0">
              <a:solidFill>
                <a:schemeClr val="bg2"/>
              </a:solidFill>
            </a:endParaRPr>
          </a:p>
        </p:txBody>
      </p:sp>
      <p:sp>
        <p:nvSpPr>
          <p:cNvPr id="3" name="TextBox 2">
            <a:extLst>
              <a:ext uri="{FF2B5EF4-FFF2-40B4-BE49-F238E27FC236}">
                <a16:creationId xmlns:a16="http://schemas.microsoft.com/office/drawing/2014/main" id="{67860F29-5BE7-764E-0F28-83FD7885CCE0}"/>
              </a:ext>
            </a:extLst>
          </p:cNvPr>
          <p:cNvSpPr txBox="1"/>
          <p:nvPr/>
        </p:nvSpPr>
        <p:spPr>
          <a:xfrm>
            <a:off x="1819922" y="2565647"/>
            <a:ext cx="5788241" cy="1200329"/>
          </a:xfrm>
          <a:prstGeom prst="rect">
            <a:avLst/>
          </a:prstGeom>
          <a:noFill/>
        </p:spPr>
        <p:txBody>
          <a:bodyPr wrap="square" rtlCol="0">
            <a:spAutoFit/>
          </a:bodyPr>
          <a:lstStyle/>
          <a:p>
            <a:r>
              <a:rPr lang="en-IN" dirty="0">
                <a:solidFill>
                  <a:schemeClr val="bg2"/>
                </a:solidFill>
              </a:rPr>
              <a:t>The Reason is :</a:t>
            </a:r>
          </a:p>
          <a:p>
            <a:pPr marL="342900" indent="-342900">
              <a:buAutoNum type="arabicPeriod"/>
            </a:pPr>
            <a:r>
              <a:rPr lang="en-IN" dirty="0">
                <a:solidFill>
                  <a:schemeClr val="bg2"/>
                </a:solidFill>
              </a:rPr>
              <a:t>Knowledge Becomes Outdated </a:t>
            </a:r>
          </a:p>
          <a:p>
            <a:pPr marL="342900" indent="-342900">
              <a:buAutoNum type="arabicPeriod"/>
            </a:pPr>
            <a:r>
              <a:rPr lang="en-IN" dirty="0">
                <a:solidFill>
                  <a:schemeClr val="bg2"/>
                </a:solidFill>
              </a:rPr>
              <a:t>Retraining Is Expensive</a:t>
            </a:r>
          </a:p>
          <a:p>
            <a:pPr marL="342900" indent="-342900">
              <a:buAutoNum type="arabicPeriod"/>
            </a:pPr>
            <a:r>
              <a:rPr lang="en-US" dirty="0">
                <a:solidFill>
                  <a:schemeClr val="bg2"/>
                </a:solidFill>
              </a:rPr>
              <a:t>Difficult to Use Large or Dynamic Data</a:t>
            </a:r>
            <a:endParaRPr lang="en-IN" dirty="0">
              <a:solidFill>
                <a:schemeClr val="bg2"/>
              </a:solidFill>
            </a:endParaRPr>
          </a:p>
        </p:txBody>
      </p:sp>
      <p:sp>
        <p:nvSpPr>
          <p:cNvPr id="6" name="TextBox 5">
            <a:extLst>
              <a:ext uri="{FF2B5EF4-FFF2-40B4-BE49-F238E27FC236}">
                <a16:creationId xmlns:a16="http://schemas.microsoft.com/office/drawing/2014/main" id="{6359A0B2-C541-B29A-CEC1-4E0CB09E0787}"/>
              </a:ext>
            </a:extLst>
          </p:cNvPr>
          <p:cNvSpPr txBox="1"/>
          <p:nvPr/>
        </p:nvSpPr>
        <p:spPr>
          <a:xfrm>
            <a:off x="5160146" y="4039275"/>
            <a:ext cx="6094520" cy="1477328"/>
          </a:xfrm>
          <a:prstGeom prst="rect">
            <a:avLst/>
          </a:prstGeom>
          <a:noFill/>
        </p:spPr>
        <p:txBody>
          <a:bodyPr wrap="square">
            <a:spAutoFit/>
          </a:bodyPr>
          <a:lstStyle/>
          <a:p>
            <a:pPr>
              <a:buNone/>
            </a:pPr>
            <a:r>
              <a:rPr lang="en-US" dirty="0">
                <a:solidFill>
                  <a:schemeClr val="bg1"/>
                </a:solidFill>
              </a:rPr>
              <a:t>Basically it means that, Organizations may have:</a:t>
            </a:r>
          </a:p>
          <a:p>
            <a:pPr>
              <a:buFont typeface="Arial" panose="020B0604020202020204" pitchFamily="34" charset="0"/>
              <a:buChar char="•"/>
            </a:pPr>
            <a:r>
              <a:rPr lang="en-US" dirty="0">
                <a:solidFill>
                  <a:schemeClr val="bg1"/>
                </a:solidFill>
              </a:rPr>
              <a:t>thousands of documents</a:t>
            </a:r>
          </a:p>
          <a:p>
            <a:pPr>
              <a:buFont typeface="Arial" panose="020B0604020202020204" pitchFamily="34" charset="0"/>
              <a:buChar char="•"/>
            </a:pPr>
            <a:r>
              <a:rPr lang="en-US" dirty="0">
                <a:solidFill>
                  <a:schemeClr val="bg1"/>
                </a:solidFill>
              </a:rPr>
              <a:t>large databases</a:t>
            </a:r>
          </a:p>
          <a:p>
            <a:pPr>
              <a:buNone/>
            </a:pPr>
            <a:r>
              <a:rPr lang="en-US" dirty="0">
                <a:solidFill>
                  <a:schemeClr val="bg1"/>
                </a:solidFill>
              </a:rPr>
              <a:t>So, Fine-tuning on all this data will </a:t>
            </a:r>
            <a:r>
              <a:rPr lang="en-US" b="1" dirty="0">
                <a:solidFill>
                  <a:schemeClr val="bg1"/>
                </a:solidFill>
              </a:rPr>
              <a:t>slow the system </a:t>
            </a:r>
            <a:r>
              <a:rPr lang="en-US" b="1" dirty="0" err="1">
                <a:solidFill>
                  <a:schemeClr val="bg1"/>
                </a:solidFill>
              </a:rPr>
              <a:t>andit</a:t>
            </a:r>
            <a:r>
              <a:rPr lang="en-US" b="1" dirty="0">
                <a:solidFill>
                  <a:schemeClr val="bg1"/>
                </a:solidFill>
              </a:rPr>
              <a:t> will be inefficient</a:t>
            </a:r>
            <a:endParaRPr lang="en-US" dirty="0">
              <a:solidFill>
                <a:schemeClr val="bg1"/>
              </a:solidFill>
            </a:endParaRPr>
          </a:p>
        </p:txBody>
      </p:sp>
    </p:spTree>
    <p:extLst>
      <p:ext uri="{BB962C8B-B14F-4D97-AF65-F5344CB8AC3E}">
        <p14:creationId xmlns:p14="http://schemas.microsoft.com/office/powerpoint/2010/main" val="6055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91A8F-6796-A94C-D080-4AF3FD872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3B497-A4C1-EA1E-DFD5-FB0FF6D4CACF}"/>
              </a:ext>
            </a:extLst>
          </p:cNvPr>
          <p:cNvSpPr>
            <a:spLocks noGrp="1"/>
          </p:cNvSpPr>
          <p:nvPr>
            <p:ph type="ctrTitle"/>
          </p:nvPr>
        </p:nvSpPr>
        <p:spPr>
          <a:xfrm>
            <a:off x="1601348" y="248575"/>
            <a:ext cx="9145991" cy="723688"/>
          </a:xfrm>
        </p:spPr>
        <p:txBody>
          <a:bodyPr/>
          <a:lstStyle/>
          <a:p>
            <a:r>
              <a:rPr lang="en-IN" sz="4000" dirty="0"/>
              <a:t>Question: Is Fine-Tuning Enough?</a:t>
            </a:r>
          </a:p>
        </p:txBody>
      </p:sp>
      <p:sp>
        <p:nvSpPr>
          <p:cNvPr id="4" name="TextBox 3">
            <a:extLst>
              <a:ext uri="{FF2B5EF4-FFF2-40B4-BE49-F238E27FC236}">
                <a16:creationId xmlns:a16="http://schemas.microsoft.com/office/drawing/2014/main" id="{1CDE696E-8FF7-E47D-AA6D-60CCDA3A4BBD}"/>
              </a:ext>
            </a:extLst>
          </p:cNvPr>
          <p:cNvSpPr txBox="1"/>
          <p:nvPr/>
        </p:nvSpPr>
        <p:spPr>
          <a:xfrm>
            <a:off x="1706732" y="1341397"/>
            <a:ext cx="6094520" cy="646331"/>
          </a:xfrm>
          <a:prstGeom prst="rect">
            <a:avLst/>
          </a:prstGeom>
          <a:noFill/>
        </p:spPr>
        <p:txBody>
          <a:bodyPr wrap="square">
            <a:spAutoFit/>
          </a:bodyPr>
          <a:lstStyle/>
          <a:p>
            <a:r>
              <a:rPr lang="en-US" dirty="0">
                <a:solidFill>
                  <a:schemeClr val="bg2"/>
                </a:solidFill>
              </a:rPr>
              <a:t>No, </a:t>
            </a:r>
            <a:r>
              <a:rPr lang="en-US" b="1" dirty="0">
                <a:solidFill>
                  <a:schemeClr val="bg2"/>
                </a:solidFill>
              </a:rPr>
              <a:t>fine-tuning alone is often not enough</a:t>
            </a:r>
            <a:r>
              <a:rPr lang="en-US" dirty="0">
                <a:solidFill>
                  <a:schemeClr val="bg2"/>
                </a:solidFill>
              </a:rPr>
              <a:t> for many modern AI applications.</a:t>
            </a:r>
            <a:endParaRPr lang="en-IN" dirty="0">
              <a:solidFill>
                <a:schemeClr val="bg2"/>
              </a:solidFill>
            </a:endParaRPr>
          </a:p>
        </p:txBody>
      </p:sp>
      <p:sp>
        <p:nvSpPr>
          <p:cNvPr id="3" name="TextBox 2">
            <a:extLst>
              <a:ext uri="{FF2B5EF4-FFF2-40B4-BE49-F238E27FC236}">
                <a16:creationId xmlns:a16="http://schemas.microsoft.com/office/drawing/2014/main" id="{6E3A2ECD-DDE7-FA33-3041-28EC03A9AC61}"/>
              </a:ext>
            </a:extLst>
          </p:cNvPr>
          <p:cNvSpPr txBox="1"/>
          <p:nvPr/>
        </p:nvSpPr>
        <p:spPr>
          <a:xfrm>
            <a:off x="1819922" y="2565647"/>
            <a:ext cx="5788241" cy="1200329"/>
          </a:xfrm>
          <a:prstGeom prst="rect">
            <a:avLst/>
          </a:prstGeom>
          <a:noFill/>
        </p:spPr>
        <p:txBody>
          <a:bodyPr wrap="square" rtlCol="0">
            <a:spAutoFit/>
          </a:bodyPr>
          <a:lstStyle/>
          <a:p>
            <a:r>
              <a:rPr lang="en-IN" dirty="0">
                <a:solidFill>
                  <a:schemeClr val="bg2"/>
                </a:solidFill>
              </a:rPr>
              <a:t>The Reason is :</a:t>
            </a:r>
          </a:p>
          <a:p>
            <a:pPr marL="342900" indent="-342900">
              <a:buAutoNum type="arabicPeriod"/>
            </a:pPr>
            <a:r>
              <a:rPr lang="en-IN" dirty="0">
                <a:solidFill>
                  <a:schemeClr val="bg2"/>
                </a:solidFill>
              </a:rPr>
              <a:t>Knowledge Becomes Outdated </a:t>
            </a:r>
          </a:p>
          <a:p>
            <a:pPr marL="342900" indent="-342900">
              <a:buAutoNum type="arabicPeriod"/>
            </a:pPr>
            <a:r>
              <a:rPr lang="en-IN" dirty="0">
                <a:solidFill>
                  <a:schemeClr val="bg2"/>
                </a:solidFill>
              </a:rPr>
              <a:t>Retraining Is Expensive</a:t>
            </a:r>
          </a:p>
          <a:p>
            <a:pPr marL="342900" indent="-342900">
              <a:buAutoNum type="arabicPeriod"/>
            </a:pPr>
            <a:r>
              <a:rPr lang="en-US" dirty="0">
                <a:solidFill>
                  <a:schemeClr val="bg2"/>
                </a:solidFill>
              </a:rPr>
              <a:t>Difficult to Use Large or Dynamic Data</a:t>
            </a:r>
            <a:endParaRPr lang="en-IN" dirty="0">
              <a:solidFill>
                <a:schemeClr val="bg2"/>
              </a:solidFill>
            </a:endParaRPr>
          </a:p>
        </p:txBody>
      </p:sp>
      <p:sp>
        <p:nvSpPr>
          <p:cNvPr id="6" name="TextBox 5">
            <a:extLst>
              <a:ext uri="{FF2B5EF4-FFF2-40B4-BE49-F238E27FC236}">
                <a16:creationId xmlns:a16="http://schemas.microsoft.com/office/drawing/2014/main" id="{73A95BEE-0491-665D-269E-55B3AE4A9F6E}"/>
              </a:ext>
            </a:extLst>
          </p:cNvPr>
          <p:cNvSpPr txBox="1"/>
          <p:nvPr/>
        </p:nvSpPr>
        <p:spPr>
          <a:xfrm>
            <a:off x="1819922" y="4159229"/>
            <a:ext cx="8806649" cy="369332"/>
          </a:xfrm>
          <a:prstGeom prst="rect">
            <a:avLst/>
          </a:prstGeom>
          <a:noFill/>
        </p:spPr>
        <p:txBody>
          <a:bodyPr wrap="square">
            <a:spAutoFit/>
          </a:bodyPr>
          <a:lstStyle/>
          <a:p>
            <a:r>
              <a:rPr lang="en-US" dirty="0">
                <a:solidFill>
                  <a:schemeClr val="bg2"/>
                </a:solidFill>
              </a:rPr>
              <a:t>Because of these limitations, developers use a technique called “</a:t>
            </a:r>
            <a:r>
              <a:rPr lang="en-US" b="1" dirty="0">
                <a:solidFill>
                  <a:schemeClr val="bg2"/>
                </a:solidFill>
              </a:rPr>
              <a:t>In-Context Learning</a:t>
            </a:r>
            <a:r>
              <a:rPr lang="en-US" dirty="0">
                <a:solidFill>
                  <a:schemeClr val="bg2"/>
                </a:solidFill>
              </a:rPr>
              <a:t>”.</a:t>
            </a:r>
            <a:endParaRPr lang="en-IN" dirty="0">
              <a:solidFill>
                <a:schemeClr val="bg2"/>
              </a:solidFill>
            </a:endParaRPr>
          </a:p>
        </p:txBody>
      </p:sp>
    </p:spTree>
    <p:extLst>
      <p:ext uri="{BB962C8B-B14F-4D97-AF65-F5344CB8AC3E}">
        <p14:creationId xmlns:p14="http://schemas.microsoft.com/office/powerpoint/2010/main" val="3464472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FC553-A58D-8A76-B8A6-2ADF9B330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B4540-1058-2CA2-1B2E-03BA7339F42D}"/>
              </a:ext>
            </a:extLst>
          </p:cNvPr>
          <p:cNvSpPr>
            <a:spLocks noGrp="1"/>
          </p:cNvSpPr>
          <p:nvPr>
            <p:ph type="ctrTitle"/>
          </p:nvPr>
        </p:nvSpPr>
        <p:spPr>
          <a:xfrm>
            <a:off x="1601348" y="248575"/>
            <a:ext cx="9145991" cy="723688"/>
          </a:xfrm>
        </p:spPr>
        <p:txBody>
          <a:bodyPr/>
          <a:lstStyle/>
          <a:p>
            <a:r>
              <a:rPr lang="en-IN" sz="4000" dirty="0"/>
              <a:t>Question: Is Fine-Tuning Enough?</a:t>
            </a:r>
          </a:p>
        </p:txBody>
      </p:sp>
      <p:sp>
        <p:nvSpPr>
          <p:cNvPr id="4" name="TextBox 3">
            <a:extLst>
              <a:ext uri="{FF2B5EF4-FFF2-40B4-BE49-F238E27FC236}">
                <a16:creationId xmlns:a16="http://schemas.microsoft.com/office/drawing/2014/main" id="{F302289A-F4BF-8BFF-5BFF-0E2C5D2E8518}"/>
              </a:ext>
            </a:extLst>
          </p:cNvPr>
          <p:cNvSpPr txBox="1"/>
          <p:nvPr/>
        </p:nvSpPr>
        <p:spPr>
          <a:xfrm>
            <a:off x="1706732" y="1341397"/>
            <a:ext cx="6094520" cy="646331"/>
          </a:xfrm>
          <a:prstGeom prst="rect">
            <a:avLst/>
          </a:prstGeom>
          <a:noFill/>
        </p:spPr>
        <p:txBody>
          <a:bodyPr wrap="square">
            <a:spAutoFit/>
          </a:bodyPr>
          <a:lstStyle/>
          <a:p>
            <a:r>
              <a:rPr lang="en-US" dirty="0">
                <a:solidFill>
                  <a:schemeClr val="bg2"/>
                </a:solidFill>
              </a:rPr>
              <a:t>No, </a:t>
            </a:r>
            <a:r>
              <a:rPr lang="en-US" b="1" dirty="0">
                <a:solidFill>
                  <a:schemeClr val="bg2"/>
                </a:solidFill>
              </a:rPr>
              <a:t>fine-tuning alone is often not enough</a:t>
            </a:r>
            <a:r>
              <a:rPr lang="en-US" dirty="0">
                <a:solidFill>
                  <a:schemeClr val="bg2"/>
                </a:solidFill>
              </a:rPr>
              <a:t> for many modern AI applications.</a:t>
            </a:r>
            <a:endParaRPr lang="en-IN" dirty="0">
              <a:solidFill>
                <a:schemeClr val="bg2"/>
              </a:solidFill>
            </a:endParaRPr>
          </a:p>
        </p:txBody>
      </p:sp>
      <p:sp>
        <p:nvSpPr>
          <p:cNvPr id="3" name="TextBox 2">
            <a:extLst>
              <a:ext uri="{FF2B5EF4-FFF2-40B4-BE49-F238E27FC236}">
                <a16:creationId xmlns:a16="http://schemas.microsoft.com/office/drawing/2014/main" id="{228D8F82-EDA0-0A4A-0245-87D54682C1A1}"/>
              </a:ext>
            </a:extLst>
          </p:cNvPr>
          <p:cNvSpPr txBox="1"/>
          <p:nvPr/>
        </p:nvSpPr>
        <p:spPr>
          <a:xfrm>
            <a:off x="1819922" y="2565647"/>
            <a:ext cx="5788241" cy="1200329"/>
          </a:xfrm>
          <a:prstGeom prst="rect">
            <a:avLst/>
          </a:prstGeom>
          <a:noFill/>
        </p:spPr>
        <p:txBody>
          <a:bodyPr wrap="square" rtlCol="0">
            <a:spAutoFit/>
          </a:bodyPr>
          <a:lstStyle/>
          <a:p>
            <a:r>
              <a:rPr lang="en-IN" dirty="0">
                <a:solidFill>
                  <a:schemeClr val="bg2"/>
                </a:solidFill>
              </a:rPr>
              <a:t>The Reason is :</a:t>
            </a:r>
          </a:p>
          <a:p>
            <a:pPr marL="342900" indent="-342900">
              <a:buAutoNum type="arabicPeriod"/>
            </a:pPr>
            <a:r>
              <a:rPr lang="en-IN" dirty="0">
                <a:solidFill>
                  <a:schemeClr val="bg2"/>
                </a:solidFill>
              </a:rPr>
              <a:t>Knowledge Becomes Outdated </a:t>
            </a:r>
          </a:p>
          <a:p>
            <a:pPr marL="342900" indent="-342900">
              <a:buAutoNum type="arabicPeriod"/>
            </a:pPr>
            <a:r>
              <a:rPr lang="en-IN" dirty="0">
                <a:solidFill>
                  <a:schemeClr val="bg2"/>
                </a:solidFill>
              </a:rPr>
              <a:t>Retraining Is Expensive</a:t>
            </a:r>
          </a:p>
          <a:p>
            <a:pPr marL="342900" indent="-342900">
              <a:buAutoNum type="arabicPeriod"/>
            </a:pPr>
            <a:r>
              <a:rPr lang="en-US" dirty="0">
                <a:solidFill>
                  <a:schemeClr val="bg2"/>
                </a:solidFill>
              </a:rPr>
              <a:t>Difficult to Use Large or Dynamic Data</a:t>
            </a:r>
            <a:endParaRPr lang="en-IN" dirty="0">
              <a:solidFill>
                <a:schemeClr val="bg2"/>
              </a:solidFill>
            </a:endParaRPr>
          </a:p>
        </p:txBody>
      </p:sp>
      <p:sp>
        <p:nvSpPr>
          <p:cNvPr id="6" name="TextBox 5">
            <a:extLst>
              <a:ext uri="{FF2B5EF4-FFF2-40B4-BE49-F238E27FC236}">
                <a16:creationId xmlns:a16="http://schemas.microsoft.com/office/drawing/2014/main" id="{E6D088E6-259C-C869-6D49-EA8060EA68A1}"/>
              </a:ext>
            </a:extLst>
          </p:cNvPr>
          <p:cNvSpPr txBox="1"/>
          <p:nvPr/>
        </p:nvSpPr>
        <p:spPr>
          <a:xfrm>
            <a:off x="1819922" y="4159229"/>
            <a:ext cx="8433787" cy="369332"/>
          </a:xfrm>
          <a:prstGeom prst="rect">
            <a:avLst/>
          </a:prstGeom>
          <a:noFill/>
        </p:spPr>
        <p:txBody>
          <a:bodyPr wrap="square">
            <a:spAutoFit/>
          </a:bodyPr>
          <a:lstStyle/>
          <a:p>
            <a:r>
              <a:rPr lang="en-US" dirty="0">
                <a:solidFill>
                  <a:schemeClr val="bg2"/>
                </a:solidFill>
              </a:rPr>
              <a:t>Because of these limitations, developers use a technique called “</a:t>
            </a:r>
            <a:r>
              <a:rPr lang="en-US" b="1" dirty="0">
                <a:solidFill>
                  <a:schemeClr val="bg2"/>
                </a:solidFill>
              </a:rPr>
              <a:t>In-Context Learning</a:t>
            </a:r>
            <a:r>
              <a:rPr lang="en-US" dirty="0">
                <a:solidFill>
                  <a:schemeClr val="bg2"/>
                </a:solidFill>
              </a:rPr>
              <a:t>”.</a:t>
            </a:r>
            <a:endParaRPr lang="en-IN" dirty="0">
              <a:solidFill>
                <a:schemeClr val="bg2"/>
              </a:solidFill>
            </a:endParaRPr>
          </a:p>
        </p:txBody>
      </p:sp>
      <p:sp>
        <p:nvSpPr>
          <p:cNvPr id="7" name="TextBox 6">
            <a:extLst>
              <a:ext uri="{FF2B5EF4-FFF2-40B4-BE49-F238E27FC236}">
                <a16:creationId xmlns:a16="http://schemas.microsoft.com/office/drawing/2014/main" id="{F5672E09-62E2-264B-504B-32FE8A41F3A4}"/>
              </a:ext>
            </a:extLst>
          </p:cNvPr>
          <p:cNvSpPr txBox="1"/>
          <p:nvPr/>
        </p:nvSpPr>
        <p:spPr>
          <a:xfrm>
            <a:off x="1819922" y="4916438"/>
            <a:ext cx="8345010" cy="923330"/>
          </a:xfrm>
          <a:prstGeom prst="rect">
            <a:avLst/>
          </a:prstGeom>
          <a:noFill/>
        </p:spPr>
        <p:txBody>
          <a:bodyPr wrap="square">
            <a:spAutoFit/>
          </a:bodyPr>
          <a:lstStyle/>
          <a:p>
            <a:pPr>
              <a:buNone/>
            </a:pPr>
            <a:r>
              <a:rPr lang="en-US" b="1" dirty="0">
                <a:solidFill>
                  <a:srgbClr val="0070C0"/>
                </a:solidFill>
              </a:rPr>
              <a:t>In-Context</a:t>
            </a:r>
            <a:r>
              <a:rPr lang="en-US" dirty="0">
                <a:solidFill>
                  <a:srgbClr val="0070C0"/>
                </a:solidFill>
              </a:rPr>
              <a:t> Learning is a core capability of Large Language Models (LLMs) like GPT-3/4, Claude, and Llama, where the model learns to solve a task purely by seeing examples in the prompt.</a:t>
            </a:r>
          </a:p>
        </p:txBody>
      </p:sp>
    </p:spTree>
    <p:extLst>
      <p:ext uri="{BB962C8B-B14F-4D97-AF65-F5344CB8AC3E}">
        <p14:creationId xmlns:p14="http://schemas.microsoft.com/office/powerpoint/2010/main" val="1575408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BC8F-68C1-D99A-7B42-9D0D9C84873D}"/>
              </a:ext>
            </a:extLst>
          </p:cNvPr>
          <p:cNvSpPr>
            <a:spLocks noGrp="1"/>
          </p:cNvSpPr>
          <p:nvPr>
            <p:ph type="ctrTitle"/>
          </p:nvPr>
        </p:nvSpPr>
        <p:spPr>
          <a:xfrm>
            <a:off x="1592470" y="355107"/>
            <a:ext cx="9145991" cy="821342"/>
          </a:xfrm>
        </p:spPr>
        <p:txBody>
          <a:bodyPr/>
          <a:lstStyle/>
          <a:p>
            <a:r>
              <a:rPr lang="en-IN" sz="2800" dirty="0"/>
              <a:t>Example of In-Context Learning : </a:t>
            </a:r>
            <a:r>
              <a:rPr lang="en-IN" sz="2800" b="1" dirty="0"/>
              <a:t>Few-Shot Prompting</a:t>
            </a:r>
          </a:p>
        </p:txBody>
      </p:sp>
      <p:sp>
        <p:nvSpPr>
          <p:cNvPr id="4" name="TextBox 3">
            <a:extLst>
              <a:ext uri="{FF2B5EF4-FFF2-40B4-BE49-F238E27FC236}">
                <a16:creationId xmlns:a16="http://schemas.microsoft.com/office/drawing/2014/main" id="{41ED9248-B0C7-5C5C-B3F5-CB79D60D685A}"/>
              </a:ext>
            </a:extLst>
          </p:cNvPr>
          <p:cNvSpPr txBox="1"/>
          <p:nvPr/>
        </p:nvSpPr>
        <p:spPr>
          <a:xfrm>
            <a:off x="1592470" y="1307639"/>
            <a:ext cx="8572462" cy="1200329"/>
          </a:xfrm>
          <a:prstGeom prst="rect">
            <a:avLst/>
          </a:prstGeom>
          <a:noFill/>
        </p:spPr>
        <p:txBody>
          <a:bodyPr wrap="square">
            <a:spAutoFit/>
          </a:bodyPr>
          <a:lstStyle/>
          <a:p>
            <a:pPr>
              <a:buNone/>
            </a:pPr>
            <a:r>
              <a:rPr lang="en-US" b="1" dirty="0">
                <a:solidFill>
                  <a:schemeClr val="bg2"/>
                </a:solidFill>
              </a:rPr>
              <a:t>Few-shot prompting</a:t>
            </a:r>
            <a:r>
              <a:rPr lang="en-US" dirty="0">
                <a:solidFill>
                  <a:schemeClr val="bg2"/>
                </a:solidFill>
              </a:rPr>
              <a:t> is a technique where we provide a </a:t>
            </a:r>
            <a:r>
              <a:rPr lang="en-US" b="1" dirty="0">
                <a:solidFill>
                  <a:schemeClr val="bg2"/>
                </a:solidFill>
              </a:rPr>
              <a:t>small number of examples in the prompt</a:t>
            </a:r>
            <a:r>
              <a:rPr lang="en-US" dirty="0">
                <a:solidFill>
                  <a:schemeClr val="bg2"/>
                </a:solidFill>
              </a:rPr>
              <a:t> to help the AI model understand how to perform a task.</a:t>
            </a:r>
          </a:p>
          <a:p>
            <a:pPr>
              <a:buNone/>
            </a:pPr>
            <a:endParaRPr lang="en-US" dirty="0">
              <a:solidFill>
                <a:schemeClr val="bg2"/>
              </a:solidFill>
            </a:endParaRPr>
          </a:p>
          <a:p>
            <a:pPr>
              <a:buNone/>
            </a:pPr>
            <a:r>
              <a:rPr lang="en-US" dirty="0">
                <a:solidFill>
                  <a:schemeClr val="bg2"/>
                </a:solidFill>
              </a:rPr>
              <a:t>Instead of training the model again, we </a:t>
            </a:r>
            <a:r>
              <a:rPr lang="en-US" b="1" dirty="0">
                <a:solidFill>
                  <a:schemeClr val="bg2"/>
                </a:solidFill>
              </a:rPr>
              <a:t>guide it using a few sample inputs and outputs</a:t>
            </a:r>
            <a:r>
              <a:rPr lang="en-US" dirty="0">
                <a:solidFill>
                  <a:schemeClr val="bg2"/>
                </a:solidFill>
              </a:rPr>
              <a:t>.</a:t>
            </a:r>
          </a:p>
        </p:txBody>
      </p:sp>
      <p:sp>
        <p:nvSpPr>
          <p:cNvPr id="12" name="TextBox 11">
            <a:extLst>
              <a:ext uri="{FF2B5EF4-FFF2-40B4-BE49-F238E27FC236}">
                <a16:creationId xmlns:a16="http://schemas.microsoft.com/office/drawing/2014/main" id="{3D1201B9-7E6D-C8DF-063D-C2E6B0881077}"/>
              </a:ext>
            </a:extLst>
          </p:cNvPr>
          <p:cNvSpPr txBox="1"/>
          <p:nvPr/>
        </p:nvSpPr>
        <p:spPr>
          <a:xfrm>
            <a:off x="4911570" y="2839894"/>
            <a:ext cx="6094520" cy="3416320"/>
          </a:xfrm>
          <a:prstGeom prst="rect">
            <a:avLst/>
          </a:prstGeom>
          <a:noFill/>
        </p:spPr>
        <p:txBody>
          <a:bodyPr wrap="square">
            <a:spAutoFit/>
          </a:bodyPr>
          <a:lstStyle/>
          <a:p>
            <a:pPr>
              <a:buNone/>
            </a:pPr>
            <a:r>
              <a:rPr lang="en-US" dirty="0">
                <a:solidFill>
                  <a:schemeClr val="bg1"/>
                </a:solidFill>
              </a:rPr>
              <a:t>The simple definition to understand few-shot prompting is</a:t>
            </a:r>
          </a:p>
          <a:p>
            <a:pPr>
              <a:buNone/>
            </a:pPr>
            <a:endParaRPr lang="en-US" dirty="0">
              <a:solidFill>
                <a:schemeClr val="bg1"/>
              </a:solidFill>
            </a:endParaRPr>
          </a:p>
          <a:p>
            <a:pPr>
              <a:buNone/>
            </a:pPr>
            <a:r>
              <a:rPr lang="en-US" dirty="0">
                <a:solidFill>
                  <a:schemeClr val="bg1"/>
                </a:solidFill>
              </a:rPr>
              <a:t> Instead of training the AI again, we simply:</a:t>
            </a:r>
          </a:p>
          <a:p>
            <a:pPr>
              <a:buFont typeface="Arial" panose="020B0604020202020204" pitchFamily="34" charset="0"/>
              <a:buChar char="•"/>
            </a:pPr>
            <a:r>
              <a:rPr lang="en-US" dirty="0">
                <a:solidFill>
                  <a:schemeClr val="bg1"/>
                </a:solidFill>
              </a:rPr>
              <a:t>give </a:t>
            </a:r>
            <a:r>
              <a:rPr lang="en-US" b="1" dirty="0">
                <a:solidFill>
                  <a:schemeClr val="bg1"/>
                </a:solidFill>
              </a:rPr>
              <a:t>2–3 examples</a:t>
            </a:r>
            <a:endParaRPr lang="en-US" dirty="0">
              <a:solidFill>
                <a:schemeClr val="bg1"/>
              </a:solidFill>
            </a:endParaRPr>
          </a:p>
          <a:p>
            <a:pPr>
              <a:buFont typeface="Arial" panose="020B0604020202020204" pitchFamily="34" charset="0"/>
              <a:buChar char="•"/>
            </a:pPr>
            <a:r>
              <a:rPr lang="en-US" dirty="0">
                <a:solidFill>
                  <a:schemeClr val="bg1"/>
                </a:solidFill>
              </a:rPr>
              <a:t>and the AI understands by itself what to do and how to do</a:t>
            </a:r>
          </a:p>
          <a:p>
            <a:pPr>
              <a:buNone/>
            </a:pPr>
            <a:br>
              <a:rPr lang="en-US" dirty="0">
                <a:solidFill>
                  <a:schemeClr val="bg1"/>
                </a:solidFill>
              </a:rPr>
            </a:br>
            <a:endParaRPr lang="en-US" dirty="0">
              <a:solidFill>
                <a:schemeClr val="bg1"/>
              </a:solidFill>
            </a:endParaRPr>
          </a:p>
          <a:p>
            <a:pPr>
              <a:buNone/>
            </a:pPr>
            <a:r>
              <a:rPr lang="en-US" b="1" dirty="0">
                <a:solidFill>
                  <a:schemeClr val="bg1"/>
                </a:solidFill>
              </a:rPr>
              <a:t>In Simple Words</a:t>
            </a:r>
          </a:p>
          <a:p>
            <a:pPr>
              <a:buNone/>
            </a:pPr>
            <a:r>
              <a:rPr lang="en-US" dirty="0">
                <a:solidFill>
                  <a:schemeClr val="bg1"/>
                </a:solidFill>
              </a:rPr>
              <a:t>It’s like telling someone:</a:t>
            </a:r>
          </a:p>
          <a:p>
            <a:pPr>
              <a:buNone/>
            </a:pPr>
            <a:r>
              <a:rPr lang="en-US" dirty="0">
                <a:solidFill>
                  <a:schemeClr val="bg1"/>
                </a:solidFill>
              </a:rPr>
              <a:t>“Look at these examples and do the same thing.”</a:t>
            </a:r>
          </a:p>
          <a:p>
            <a:pPr>
              <a:buNone/>
            </a:pPr>
            <a:r>
              <a:rPr lang="en-US" dirty="0">
                <a:solidFill>
                  <a:schemeClr val="bg1"/>
                </a:solidFill>
              </a:rPr>
              <a:t>The AI sees the pattern and follows it. Lets understand it with an example:</a:t>
            </a:r>
          </a:p>
        </p:txBody>
      </p:sp>
    </p:spTree>
    <p:extLst>
      <p:ext uri="{BB962C8B-B14F-4D97-AF65-F5344CB8AC3E}">
        <p14:creationId xmlns:p14="http://schemas.microsoft.com/office/powerpoint/2010/main" val="2089009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51510-96C2-1B2B-F6F4-6C32CC26E7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1312F-96AD-3AC4-C2C9-47D5F64A7008}"/>
              </a:ext>
            </a:extLst>
          </p:cNvPr>
          <p:cNvSpPr>
            <a:spLocks noGrp="1"/>
          </p:cNvSpPr>
          <p:nvPr>
            <p:ph type="ctrTitle"/>
          </p:nvPr>
        </p:nvSpPr>
        <p:spPr>
          <a:xfrm>
            <a:off x="1592470" y="355107"/>
            <a:ext cx="9145991" cy="821342"/>
          </a:xfrm>
        </p:spPr>
        <p:txBody>
          <a:bodyPr/>
          <a:lstStyle/>
          <a:p>
            <a:r>
              <a:rPr lang="en-IN" sz="2800" dirty="0"/>
              <a:t>Example of In-Context Learning : </a:t>
            </a:r>
            <a:r>
              <a:rPr lang="en-IN" sz="2800" b="1" dirty="0"/>
              <a:t>Few-Shot Prompting</a:t>
            </a:r>
          </a:p>
        </p:txBody>
      </p:sp>
      <p:sp>
        <p:nvSpPr>
          <p:cNvPr id="4" name="TextBox 3">
            <a:extLst>
              <a:ext uri="{FF2B5EF4-FFF2-40B4-BE49-F238E27FC236}">
                <a16:creationId xmlns:a16="http://schemas.microsoft.com/office/drawing/2014/main" id="{BC17318E-2769-2A4E-52B0-05648AEE6E1B}"/>
              </a:ext>
            </a:extLst>
          </p:cNvPr>
          <p:cNvSpPr txBox="1"/>
          <p:nvPr/>
        </p:nvSpPr>
        <p:spPr>
          <a:xfrm>
            <a:off x="1592470" y="1582846"/>
            <a:ext cx="8572462" cy="1200329"/>
          </a:xfrm>
          <a:prstGeom prst="rect">
            <a:avLst/>
          </a:prstGeom>
          <a:noFill/>
        </p:spPr>
        <p:txBody>
          <a:bodyPr wrap="square">
            <a:spAutoFit/>
          </a:bodyPr>
          <a:lstStyle/>
          <a:p>
            <a:pPr>
              <a:buNone/>
            </a:pPr>
            <a:r>
              <a:rPr lang="en-US" b="1" dirty="0">
                <a:solidFill>
                  <a:schemeClr val="bg2"/>
                </a:solidFill>
              </a:rPr>
              <a:t>Few-shot prompting</a:t>
            </a:r>
            <a:r>
              <a:rPr lang="en-US" dirty="0">
                <a:solidFill>
                  <a:schemeClr val="bg2"/>
                </a:solidFill>
              </a:rPr>
              <a:t> is a technique where we provide a </a:t>
            </a:r>
            <a:r>
              <a:rPr lang="en-US" b="1" dirty="0">
                <a:solidFill>
                  <a:schemeClr val="bg2"/>
                </a:solidFill>
              </a:rPr>
              <a:t>small number of examples in the prompt</a:t>
            </a:r>
            <a:r>
              <a:rPr lang="en-US" dirty="0">
                <a:solidFill>
                  <a:schemeClr val="bg2"/>
                </a:solidFill>
              </a:rPr>
              <a:t> to help the AI model understand how to perform a task.</a:t>
            </a:r>
          </a:p>
          <a:p>
            <a:pPr>
              <a:buNone/>
            </a:pPr>
            <a:endParaRPr lang="en-US" dirty="0">
              <a:solidFill>
                <a:schemeClr val="bg2"/>
              </a:solidFill>
            </a:endParaRPr>
          </a:p>
          <a:p>
            <a:pPr>
              <a:buNone/>
            </a:pPr>
            <a:r>
              <a:rPr lang="en-US" dirty="0">
                <a:solidFill>
                  <a:schemeClr val="bg2"/>
                </a:solidFill>
              </a:rPr>
              <a:t>Instead of training the model again, we </a:t>
            </a:r>
            <a:r>
              <a:rPr lang="en-US" b="1" dirty="0">
                <a:solidFill>
                  <a:schemeClr val="bg2"/>
                </a:solidFill>
              </a:rPr>
              <a:t>guide it using a few sample inputs and outputs</a:t>
            </a:r>
            <a:r>
              <a:rPr lang="en-US" dirty="0">
                <a:solidFill>
                  <a:schemeClr val="bg2"/>
                </a:solidFill>
              </a:rPr>
              <a:t>.</a:t>
            </a:r>
          </a:p>
        </p:txBody>
      </p:sp>
      <p:sp>
        <p:nvSpPr>
          <p:cNvPr id="6" name="TextBox 5">
            <a:extLst>
              <a:ext uri="{FF2B5EF4-FFF2-40B4-BE49-F238E27FC236}">
                <a16:creationId xmlns:a16="http://schemas.microsoft.com/office/drawing/2014/main" id="{5B483191-EBB5-7A35-3545-14E60BE6A734}"/>
              </a:ext>
            </a:extLst>
          </p:cNvPr>
          <p:cNvSpPr txBox="1"/>
          <p:nvPr/>
        </p:nvSpPr>
        <p:spPr>
          <a:xfrm>
            <a:off x="1592469" y="3004906"/>
            <a:ext cx="9145991" cy="369332"/>
          </a:xfrm>
          <a:prstGeom prst="rect">
            <a:avLst/>
          </a:prstGeom>
          <a:noFill/>
        </p:spPr>
        <p:txBody>
          <a:bodyPr wrap="square">
            <a:spAutoFit/>
          </a:bodyPr>
          <a:lstStyle/>
          <a:p>
            <a:r>
              <a:rPr lang="en-US" dirty="0">
                <a:solidFill>
                  <a:schemeClr val="bg2"/>
                </a:solidFill>
              </a:rPr>
              <a:t>Suppose we want the AI to classify text as </a:t>
            </a:r>
            <a:r>
              <a:rPr lang="en-US" b="1" dirty="0">
                <a:solidFill>
                  <a:schemeClr val="bg2"/>
                </a:solidFill>
              </a:rPr>
              <a:t>Positive</a:t>
            </a:r>
            <a:r>
              <a:rPr lang="en-US" dirty="0">
                <a:solidFill>
                  <a:schemeClr val="bg2"/>
                </a:solidFill>
              </a:rPr>
              <a:t> or </a:t>
            </a:r>
            <a:r>
              <a:rPr lang="en-US" b="1" dirty="0">
                <a:solidFill>
                  <a:schemeClr val="bg2"/>
                </a:solidFill>
              </a:rPr>
              <a:t>Negative</a:t>
            </a:r>
            <a:r>
              <a:rPr lang="en-US" dirty="0">
                <a:solidFill>
                  <a:schemeClr val="bg2"/>
                </a:solidFill>
              </a:rPr>
              <a:t>. Prompt can be:</a:t>
            </a:r>
            <a:endParaRPr lang="en-IN" dirty="0">
              <a:solidFill>
                <a:schemeClr val="bg2"/>
              </a:solidFill>
            </a:endParaRPr>
          </a:p>
        </p:txBody>
      </p:sp>
      <p:sp>
        <p:nvSpPr>
          <p:cNvPr id="8" name="TextBox 7">
            <a:extLst>
              <a:ext uri="{FF2B5EF4-FFF2-40B4-BE49-F238E27FC236}">
                <a16:creationId xmlns:a16="http://schemas.microsoft.com/office/drawing/2014/main" id="{D7179B01-9B69-B1F9-9AE9-5CBA1B18D7D5}"/>
              </a:ext>
            </a:extLst>
          </p:cNvPr>
          <p:cNvSpPr txBox="1"/>
          <p:nvPr/>
        </p:nvSpPr>
        <p:spPr>
          <a:xfrm>
            <a:off x="1592470" y="3483763"/>
            <a:ext cx="3796276" cy="1815882"/>
          </a:xfrm>
          <a:prstGeom prst="rect">
            <a:avLst/>
          </a:prstGeom>
          <a:noFill/>
        </p:spPr>
        <p:txBody>
          <a:bodyPr wrap="square">
            <a:spAutoFit/>
          </a:bodyPr>
          <a:lstStyle/>
          <a:p>
            <a:r>
              <a:rPr lang="en-IN" sz="1400" dirty="0">
                <a:solidFill>
                  <a:schemeClr val="bg2"/>
                </a:solidFill>
              </a:rPr>
              <a:t>Text: I love this product.</a:t>
            </a:r>
          </a:p>
          <a:p>
            <a:r>
              <a:rPr lang="en-IN" sz="1400" dirty="0">
                <a:solidFill>
                  <a:schemeClr val="bg2"/>
                </a:solidFill>
              </a:rPr>
              <a:t>Sentiment: Positive</a:t>
            </a:r>
          </a:p>
          <a:p>
            <a:endParaRPr lang="en-IN" sz="1400" dirty="0">
              <a:solidFill>
                <a:schemeClr val="bg2"/>
              </a:solidFill>
            </a:endParaRPr>
          </a:p>
          <a:p>
            <a:r>
              <a:rPr lang="en-IN" sz="1400" dirty="0">
                <a:solidFill>
                  <a:schemeClr val="bg2"/>
                </a:solidFill>
              </a:rPr>
              <a:t>Text: This movie was terrible.</a:t>
            </a:r>
          </a:p>
          <a:p>
            <a:r>
              <a:rPr lang="en-IN" sz="1400" dirty="0">
                <a:solidFill>
                  <a:schemeClr val="bg2"/>
                </a:solidFill>
              </a:rPr>
              <a:t>Sentiment: Negative</a:t>
            </a:r>
          </a:p>
          <a:p>
            <a:endParaRPr lang="en-IN" sz="1400" dirty="0">
              <a:solidFill>
                <a:schemeClr val="bg2"/>
              </a:solidFill>
            </a:endParaRPr>
          </a:p>
          <a:p>
            <a:r>
              <a:rPr lang="en-IN" sz="1400" dirty="0">
                <a:solidFill>
                  <a:schemeClr val="bg2"/>
                </a:solidFill>
              </a:rPr>
              <a:t>Text: The service was amazing.</a:t>
            </a:r>
          </a:p>
          <a:p>
            <a:r>
              <a:rPr lang="en-IN" sz="1400" dirty="0">
                <a:solidFill>
                  <a:schemeClr val="bg2"/>
                </a:solidFill>
              </a:rPr>
              <a:t>Sentiment:</a:t>
            </a:r>
          </a:p>
        </p:txBody>
      </p:sp>
      <p:sp>
        <p:nvSpPr>
          <p:cNvPr id="10" name="TextBox 9">
            <a:extLst>
              <a:ext uri="{FF2B5EF4-FFF2-40B4-BE49-F238E27FC236}">
                <a16:creationId xmlns:a16="http://schemas.microsoft.com/office/drawing/2014/main" id="{2DA10818-08A7-C10A-BCB3-7803FB6C408E}"/>
              </a:ext>
            </a:extLst>
          </p:cNvPr>
          <p:cNvSpPr txBox="1"/>
          <p:nvPr/>
        </p:nvSpPr>
        <p:spPr>
          <a:xfrm>
            <a:off x="5302188" y="4391704"/>
            <a:ext cx="6094520" cy="523220"/>
          </a:xfrm>
          <a:prstGeom prst="rect">
            <a:avLst/>
          </a:prstGeom>
          <a:noFill/>
        </p:spPr>
        <p:txBody>
          <a:bodyPr wrap="square">
            <a:spAutoFit/>
          </a:bodyPr>
          <a:lstStyle/>
          <a:p>
            <a:pPr>
              <a:buNone/>
            </a:pPr>
            <a:r>
              <a:rPr lang="en-IN" sz="1400" dirty="0">
                <a:solidFill>
                  <a:schemeClr val="bg2"/>
                </a:solidFill>
              </a:rPr>
              <a:t>Output:</a:t>
            </a:r>
          </a:p>
          <a:p>
            <a:pPr rtl="0">
              <a:buNone/>
            </a:pPr>
            <a:r>
              <a:rPr lang="en-IN" sz="1400" dirty="0">
                <a:solidFill>
                  <a:schemeClr val="bg2"/>
                </a:solidFill>
                <a:latin typeface="Courier New" panose="02070309020205020404" pitchFamily="49" charset="0"/>
              </a:rPr>
              <a:t>Positive</a:t>
            </a:r>
          </a:p>
        </p:txBody>
      </p:sp>
    </p:spTree>
    <p:extLst>
      <p:ext uri="{BB962C8B-B14F-4D97-AF65-F5344CB8AC3E}">
        <p14:creationId xmlns:p14="http://schemas.microsoft.com/office/powerpoint/2010/main" val="709270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EBB32-0C5E-B202-476F-DAF72B646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5ACDC-DAF5-EB1A-30E1-F931922202C0}"/>
              </a:ext>
            </a:extLst>
          </p:cNvPr>
          <p:cNvSpPr>
            <a:spLocks noGrp="1"/>
          </p:cNvSpPr>
          <p:nvPr>
            <p:ph type="ctrTitle"/>
          </p:nvPr>
        </p:nvSpPr>
        <p:spPr>
          <a:xfrm>
            <a:off x="1592470" y="355107"/>
            <a:ext cx="9145991" cy="821342"/>
          </a:xfrm>
        </p:spPr>
        <p:txBody>
          <a:bodyPr/>
          <a:lstStyle/>
          <a:p>
            <a:r>
              <a:rPr lang="en-IN" sz="2800" dirty="0"/>
              <a:t>Example of In-Context Learning : </a:t>
            </a:r>
            <a:r>
              <a:rPr lang="en-IN" sz="2800" b="1" dirty="0"/>
              <a:t>Few-Shot Prompting</a:t>
            </a:r>
          </a:p>
        </p:txBody>
      </p:sp>
      <p:sp>
        <p:nvSpPr>
          <p:cNvPr id="4" name="TextBox 3">
            <a:extLst>
              <a:ext uri="{FF2B5EF4-FFF2-40B4-BE49-F238E27FC236}">
                <a16:creationId xmlns:a16="http://schemas.microsoft.com/office/drawing/2014/main" id="{3FC0A0FD-81EE-85D3-5C4D-E2EB94024598}"/>
              </a:ext>
            </a:extLst>
          </p:cNvPr>
          <p:cNvSpPr txBox="1"/>
          <p:nvPr/>
        </p:nvSpPr>
        <p:spPr>
          <a:xfrm>
            <a:off x="1592470" y="1582846"/>
            <a:ext cx="8572462" cy="1200329"/>
          </a:xfrm>
          <a:prstGeom prst="rect">
            <a:avLst/>
          </a:prstGeom>
          <a:noFill/>
        </p:spPr>
        <p:txBody>
          <a:bodyPr wrap="square">
            <a:spAutoFit/>
          </a:bodyPr>
          <a:lstStyle/>
          <a:p>
            <a:pPr>
              <a:buNone/>
            </a:pPr>
            <a:r>
              <a:rPr lang="en-US" b="1" dirty="0">
                <a:solidFill>
                  <a:schemeClr val="bg2"/>
                </a:solidFill>
              </a:rPr>
              <a:t>Few-shot prompting</a:t>
            </a:r>
            <a:r>
              <a:rPr lang="en-US" dirty="0">
                <a:solidFill>
                  <a:schemeClr val="bg2"/>
                </a:solidFill>
              </a:rPr>
              <a:t> is a technique where we provide a </a:t>
            </a:r>
            <a:r>
              <a:rPr lang="en-US" b="1" dirty="0">
                <a:solidFill>
                  <a:schemeClr val="bg2"/>
                </a:solidFill>
              </a:rPr>
              <a:t>small number of examples in the prompt</a:t>
            </a:r>
            <a:r>
              <a:rPr lang="en-US" dirty="0">
                <a:solidFill>
                  <a:schemeClr val="bg2"/>
                </a:solidFill>
              </a:rPr>
              <a:t> to help the AI model understand how to perform a task.</a:t>
            </a:r>
          </a:p>
          <a:p>
            <a:pPr>
              <a:buNone/>
            </a:pPr>
            <a:endParaRPr lang="en-US" dirty="0">
              <a:solidFill>
                <a:schemeClr val="bg2"/>
              </a:solidFill>
            </a:endParaRPr>
          </a:p>
          <a:p>
            <a:pPr>
              <a:buNone/>
            </a:pPr>
            <a:r>
              <a:rPr lang="en-US" dirty="0">
                <a:solidFill>
                  <a:schemeClr val="bg2"/>
                </a:solidFill>
              </a:rPr>
              <a:t>Instead of training the model again, we </a:t>
            </a:r>
            <a:r>
              <a:rPr lang="en-US" b="1" dirty="0">
                <a:solidFill>
                  <a:schemeClr val="bg2"/>
                </a:solidFill>
              </a:rPr>
              <a:t>guide it using a few sample inputs and outputs</a:t>
            </a:r>
            <a:r>
              <a:rPr lang="en-US" dirty="0">
                <a:solidFill>
                  <a:schemeClr val="bg2"/>
                </a:solidFill>
              </a:rPr>
              <a:t>.</a:t>
            </a:r>
          </a:p>
        </p:txBody>
      </p:sp>
      <p:sp>
        <p:nvSpPr>
          <p:cNvPr id="6" name="TextBox 5">
            <a:extLst>
              <a:ext uri="{FF2B5EF4-FFF2-40B4-BE49-F238E27FC236}">
                <a16:creationId xmlns:a16="http://schemas.microsoft.com/office/drawing/2014/main" id="{E3AAE7B2-B670-22B3-F7C1-98E33E3E4C8C}"/>
              </a:ext>
            </a:extLst>
          </p:cNvPr>
          <p:cNvSpPr txBox="1"/>
          <p:nvPr/>
        </p:nvSpPr>
        <p:spPr>
          <a:xfrm>
            <a:off x="1592469" y="3004906"/>
            <a:ext cx="9145991" cy="369332"/>
          </a:xfrm>
          <a:prstGeom prst="rect">
            <a:avLst/>
          </a:prstGeom>
          <a:noFill/>
        </p:spPr>
        <p:txBody>
          <a:bodyPr wrap="square">
            <a:spAutoFit/>
          </a:bodyPr>
          <a:lstStyle/>
          <a:p>
            <a:r>
              <a:rPr lang="en-US" dirty="0">
                <a:solidFill>
                  <a:schemeClr val="bg2"/>
                </a:solidFill>
              </a:rPr>
              <a:t>Suppose we want the AI to classify text as </a:t>
            </a:r>
            <a:r>
              <a:rPr lang="en-US" b="1" dirty="0">
                <a:solidFill>
                  <a:schemeClr val="bg2"/>
                </a:solidFill>
              </a:rPr>
              <a:t>Positive</a:t>
            </a:r>
            <a:r>
              <a:rPr lang="en-US" dirty="0">
                <a:solidFill>
                  <a:schemeClr val="bg2"/>
                </a:solidFill>
              </a:rPr>
              <a:t> or </a:t>
            </a:r>
            <a:r>
              <a:rPr lang="en-US" b="1" dirty="0">
                <a:solidFill>
                  <a:schemeClr val="bg2"/>
                </a:solidFill>
              </a:rPr>
              <a:t>Negative</a:t>
            </a:r>
            <a:r>
              <a:rPr lang="en-US" dirty="0">
                <a:solidFill>
                  <a:schemeClr val="bg2"/>
                </a:solidFill>
              </a:rPr>
              <a:t>. Prompt can be:</a:t>
            </a:r>
            <a:endParaRPr lang="en-IN" dirty="0">
              <a:solidFill>
                <a:schemeClr val="bg2"/>
              </a:solidFill>
            </a:endParaRPr>
          </a:p>
        </p:txBody>
      </p:sp>
      <p:sp>
        <p:nvSpPr>
          <p:cNvPr id="8" name="TextBox 7">
            <a:extLst>
              <a:ext uri="{FF2B5EF4-FFF2-40B4-BE49-F238E27FC236}">
                <a16:creationId xmlns:a16="http://schemas.microsoft.com/office/drawing/2014/main" id="{33CD4734-0F4D-BB57-2675-6FB2170BA104}"/>
              </a:ext>
            </a:extLst>
          </p:cNvPr>
          <p:cNvSpPr txBox="1"/>
          <p:nvPr/>
        </p:nvSpPr>
        <p:spPr>
          <a:xfrm>
            <a:off x="1592470" y="3483763"/>
            <a:ext cx="3796276" cy="1815882"/>
          </a:xfrm>
          <a:prstGeom prst="rect">
            <a:avLst/>
          </a:prstGeom>
          <a:noFill/>
        </p:spPr>
        <p:txBody>
          <a:bodyPr wrap="square">
            <a:spAutoFit/>
          </a:bodyPr>
          <a:lstStyle/>
          <a:p>
            <a:r>
              <a:rPr lang="en-IN" sz="1400" dirty="0">
                <a:solidFill>
                  <a:schemeClr val="bg2"/>
                </a:solidFill>
              </a:rPr>
              <a:t>Text: I love this product.</a:t>
            </a:r>
          </a:p>
          <a:p>
            <a:r>
              <a:rPr lang="en-IN" sz="1400" dirty="0">
                <a:solidFill>
                  <a:schemeClr val="bg2"/>
                </a:solidFill>
              </a:rPr>
              <a:t>Sentiment: Positive</a:t>
            </a:r>
          </a:p>
          <a:p>
            <a:endParaRPr lang="en-IN" sz="1400" dirty="0">
              <a:solidFill>
                <a:schemeClr val="bg2"/>
              </a:solidFill>
            </a:endParaRPr>
          </a:p>
          <a:p>
            <a:r>
              <a:rPr lang="en-IN" sz="1400" dirty="0">
                <a:solidFill>
                  <a:schemeClr val="bg2"/>
                </a:solidFill>
              </a:rPr>
              <a:t>Text: This movie was terrible.</a:t>
            </a:r>
          </a:p>
          <a:p>
            <a:r>
              <a:rPr lang="en-IN" sz="1400" dirty="0">
                <a:solidFill>
                  <a:schemeClr val="bg2"/>
                </a:solidFill>
              </a:rPr>
              <a:t>Sentiment: Negative</a:t>
            </a:r>
          </a:p>
          <a:p>
            <a:endParaRPr lang="en-IN" sz="1400" dirty="0">
              <a:solidFill>
                <a:schemeClr val="bg2"/>
              </a:solidFill>
            </a:endParaRPr>
          </a:p>
          <a:p>
            <a:r>
              <a:rPr lang="en-IN" sz="1400" dirty="0">
                <a:solidFill>
                  <a:schemeClr val="bg2"/>
                </a:solidFill>
              </a:rPr>
              <a:t>Text: The service was amazing.</a:t>
            </a:r>
          </a:p>
          <a:p>
            <a:r>
              <a:rPr lang="en-IN" sz="1400" dirty="0">
                <a:solidFill>
                  <a:schemeClr val="bg2"/>
                </a:solidFill>
              </a:rPr>
              <a:t>Sentiment:</a:t>
            </a:r>
          </a:p>
        </p:txBody>
      </p:sp>
      <p:sp>
        <p:nvSpPr>
          <p:cNvPr id="10" name="TextBox 9">
            <a:extLst>
              <a:ext uri="{FF2B5EF4-FFF2-40B4-BE49-F238E27FC236}">
                <a16:creationId xmlns:a16="http://schemas.microsoft.com/office/drawing/2014/main" id="{54AF8116-B7A2-81DC-C352-FE89BDB6C81C}"/>
              </a:ext>
            </a:extLst>
          </p:cNvPr>
          <p:cNvSpPr txBox="1"/>
          <p:nvPr/>
        </p:nvSpPr>
        <p:spPr>
          <a:xfrm>
            <a:off x="5302188" y="4391704"/>
            <a:ext cx="6094520" cy="523220"/>
          </a:xfrm>
          <a:prstGeom prst="rect">
            <a:avLst/>
          </a:prstGeom>
          <a:noFill/>
        </p:spPr>
        <p:txBody>
          <a:bodyPr wrap="square">
            <a:spAutoFit/>
          </a:bodyPr>
          <a:lstStyle/>
          <a:p>
            <a:pPr>
              <a:buNone/>
            </a:pPr>
            <a:r>
              <a:rPr lang="en-IN" sz="1400" dirty="0">
                <a:solidFill>
                  <a:schemeClr val="bg2"/>
                </a:solidFill>
              </a:rPr>
              <a:t>Output:</a:t>
            </a:r>
          </a:p>
          <a:p>
            <a:pPr rtl="0">
              <a:buNone/>
            </a:pPr>
            <a:r>
              <a:rPr lang="en-IN" sz="1400" dirty="0">
                <a:solidFill>
                  <a:schemeClr val="bg2"/>
                </a:solidFill>
                <a:latin typeface="Courier New" panose="02070309020205020404" pitchFamily="49" charset="0"/>
              </a:rPr>
              <a:t>Positive</a:t>
            </a:r>
          </a:p>
        </p:txBody>
      </p:sp>
      <p:sp>
        <p:nvSpPr>
          <p:cNvPr id="3" name="TextBox 2">
            <a:extLst>
              <a:ext uri="{FF2B5EF4-FFF2-40B4-BE49-F238E27FC236}">
                <a16:creationId xmlns:a16="http://schemas.microsoft.com/office/drawing/2014/main" id="{1BF1C57E-7648-9556-49B6-ACB88CC2B2AA}"/>
              </a:ext>
            </a:extLst>
          </p:cNvPr>
          <p:cNvSpPr txBox="1"/>
          <p:nvPr/>
        </p:nvSpPr>
        <p:spPr>
          <a:xfrm>
            <a:off x="7146524" y="3852909"/>
            <a:ext cx="3591936" cy="646331"/>
          </a:xfrm>
          <a:prstGeom prst="rect">
            <a:avLst/>
          </a:prstGeom>
          <a:noFill/>
        </p:spPr>
        <p:txBody>
          <a:bodyPr wrap="square" rtlCol="0">
            <a:spAutoFit/>
          </a:bodyPr>
          <a:lstStyle/>
          <a:p>
            <a:r>
              <a:rPr lang="en-IN" dirty="0">
                <a:solidFill>
                  <a:schemeClr val="bg2"/>
                </a:solidFill>
              </a:rPr>
              <a:t>And that’s how RAG came into the picture</a:t>
            </a:r>
          </a:p>
        </p:txBody>
      </p:sp>
    </p:spTree>
    <p:extLst>
      <p:ext uri="{BB962C8B-B14F-4D97-AF65-F5344CB8AC3E}">
        <p14:creationId xmlns:p14="http://schemas.microsoft.com/office/powerpoint/2010/main" val="3719188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B1F2B-62FD-9D29-FA16-2722F9FED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AFD85-1857-309D-3491-48A2B496668A}"/>
              </a:ext>
            </a:extLst>
          </p:cNvPr>
          <p:cNvSpPr>
            <a:spLocks noGrp="1"/>
          </p:cNvSpPr>
          <p:nvPr>
            <p:ph type="title"/>
          </p:nvPr>
        </p:nvSpPr>
        <p:spPr/>
        <p:txBody>
          <a:bodyPr/>
          <a:lstStyle/>
          <a:p>
            <a:r>
              <a:rPr lang="en-US" dirty="0"/>
              <a:t>What is RAG ?</a:t>
            </a:r>
          </a:p>
        </p:txBody>
      </p:sp>
      <p:sp>
        <p:nvSpPr>
          <p:cNvPr id="3" name="Content Placeholder 2">
            <a:extLst>
              <a:ext uri="{FF2B5EF4-FFF2-40B4-BE49-F238E27FC236}">
                <a16:creationId xmlns:a16="http://schemas.microsoft.com/office/drawing/2014/main" id="{A56F96A4-761D-B19C-B2C0-763197F032F6}"/>
              </a:ext>
            </a:extLst>
          </p:cNvPr>
          <p:cNvSpPr>
            <a:spLocks noGrp="1"/>
          </p:cNvSpPr>
          <p:nvPr>
            <p:ph sz="quarter" idx="14"/>
          </p:nvPr>
        </p:nvSpPr>
        <p:spPr>
          <a:xfrm>
            <a:off x="2676827" y="2015147"/>
            <a:ext cx="6284494" cy="3512152"/>
          </a:xfrm>
        </p:spPr>
        <p:txBody>
          <a:bodyPr>
            <a:normAutofit/>
          </a:bodyPr>
          <a:lstStyle/>
          <a:p>
            <a:pPr marL="0" indent="0">
              <a:buNone/>
            </a:pPr>
            <a:r>
              <a:rPr lang="en-US" sz="2000" b="1" dirty="0"/>
              <a:t>RAG (Retrieval-Augmented Generation)</a:t>
            </a:r>
            <a:r>
              <a:rPr lang="en-US" sz="2000" dirty="0"/>
              <a:t> is a way to make a language model Smarter by giving it extra information at the time you ask your query. </a:t>
            </a:r>
          </a:p>
        </p:txBody>
      </p:sp>
      <p:sp>
        <p:nvSpPr>
          <p:cNvPr id="5" name="TextBox 4">
            <a:extLst>
              <a:ext uri="{FF2B5EF4-FFF2-40B4-BE49-F238E27FC236}">
                <a16:creationId xmlns:a16="http://schemas.microsoft.com/office/drawing/2014/main" id="{A1C1EA1A-13B0-09CD-81B9-2C2DBF729BE5}"/>
              </a:ext>
            </a:extLst>
          </p:cNvPr>
          <p:cNvSpPr txBox="1"/>
          <p:nvPr/>
        </p:nvSpPr>
        <p:spPr>
          <a:xfrm>
            <a:off x="2796692" y="4603969"/>
            <a:ext cx="8264885" cy="369332"/>
          </a:xfrm>
          <a:prstGeom prst="rect">
            <a:avLst/>
          </a:prstGeom>
          <a:noFill/>
        </p:spPr>
        <p:txBody>
          <a:bodyPr wrap="square">
            <a:spAutoFit/>
          </a:bodyPr>
          <a:lstStyle/>
          <a:p>
            <a:r>
              <a:rPr lang="en-US" dirty="0"/>
              <a:t>RAG =       Search relevant data  +  	Generate answer using that data.</a:t>
            </a:r>
            <a:endParaRPr lang="en-IN" dirty="0"/>
          </a:p>
        </p:txBody>
      </p:sp>
      <p:sp>
        <p:nvSpPr>
          <p:cNvPr id="4" name="Rectangle 3">
            <a:extLst>
              <a:ext uri="{FF2B5EF4-FFF2-40B4-BE49-F238E27FC236}">
                <a16:creationId xmlns:a16="http://schemas.microsoft.com/office/drawing/2014/main" id="{885F82B9-B22D-D3B1-1270-EF31179E8602}"/>
              </a:ext>
            </a:extLst>
          </p:cNvPr>
          <p:cNvSpPr/>
          <p:nvPr/>
        </p:nvSpPr>
        <p:spPr>
          <a:xfrm>
            <a:off x="6096000" y="1830481"/>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LLM</a:t>
            </a:r>
            <a:endParaRPr lang="en-IN" dirty="0"/>
          </a:p>
        </p:txBody>
      </p:sp>
      <p:sp>
        <p:nvSpPr>
          <p:cNvPr id="7" name="TextBox 6">
            <a:extLst>
              <a:ext uri="{FF2B5EF4-FFF2-40B4-BE49-F238E27FC236}">
                <a16:creationId xmlns:a16="http://schemas.microsoft.com/office/drawing/2014/main" id="{E02643F5-7BBE-AF8D-A5DE-3A5BF415C876}"/>
              </a:ext>
            </a:extLst>
          </p:cNvPr>
          <p:cNvSpPr txBox="1"/>
          <p:nvPr/>
        </p:nvSpPr>
        <p:spPr>
          <a:xfrm>
            <a:off x="8477967" y="1903267"/>
            <a:ext cx="1211802" cy="369332"/>
          </a:xfrm>
          <a:prstGeom prst="rect">
            <a:avLst/>
          </a:prstGeom>
          <a:noFill/>
        </p:spPr>
        <p:txBody>
          <a:bodyPr wrap="square" rtlCol="0">
            <a:spAutoFit/>
          </a:bodyPr>
          <a:lstStyle/>
          <a:p>
            <a:r>
              <a:rPr lang="en-IN" dirty="0"/>
              <a:t>Response</a:t>
            </a:r>
          </a:p>
        </p:txBody>
      </p:sp>
      <p:cxnSp>
        <p:nvCxnSpPr>
          <p:cNvPr id="13" name="Straight Arrow Connector 12">
            <a:extLst>
              <a:ext uri="{FF2B5EF4-FFF2-40B4-BE49-F238E27FC236}">
                <a16:creationId xmlns:a16="http://schemas.microsoft.com/office/drawing/2014/main" id="{A0BE4685-6911-B0AC-B081-89D92E1AB35C}"/>
              </a:ext>
            </a:extLst>
          </p:cNvPr>
          <p:cNvCxnSpPr>
            <a:cxnSpLocks/>
          </p:cNvCxnSpPr>
          <p:nvPr/>
        </p:nvCxnSpPr>
        <p:spPr>
          <a:xfrm>
            <a:off x="4977413" y="2087933"/>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BE6C91F-E8E8-4EFF-63DE-9E558904CDD9}"/>
              </a:ext>
            </a:extLst>
          </p:cNvPr>
          <p:cNvCxnSpPr>
            <a:cxnSpLocks/>
          </p:cNvCxnSpPr>
          <p:nvPr/>
        </p:nvCxnSpPr>
        <p:spPr>
          <a:xfrm>
            <a:off x="7587448" y="2087933"/>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8B203D4-C6F5-E609-87DD-0B630203D258}"/>
              </a:ext>
            </a:extLst>
          </p:cNvPr>
          <p:cNvSpPr/>
          <p:nvPr/>
        </p:nvSpPr>
        <p:spPr>
          <a:xfrm>
            <a:off x="3625512" y="1830481"/>
            <a:ext cx="1331765"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Prompt</a:t>
            </a:r>
            <a:endParaRPr lang="en-IN" dirty="0"/>
          </a:p>
        </p:txBody>
      </p:sp>
      <p:sp>
        <p:nvSpPr>
          <p:cNvPr id="20" name="TextBox 19">
            <a:extLst>
              <a:ext uri="{FF2B5EF4-FFF2-40B4-BE49-F238E27FC236}">
                <a16:creationId xmlns:a16="http://schemas.microsoft.com/office/drawing/2014/main" id="{3BE0B18F-730D-BA0E-562D-CA3E65EF7270}"/>
              </a:ext>
            </a:extLst>
          </p:cNvPr>
          <p:cNvSpPr txBox="1"/>
          <p:nvPr/>
        </p:nvSpPr>
        <p:spPr>
          <a:xfrm>
            <a:off x="1882679" y="1611343"/>
            <a:ext cx="1286036" cy="369332"/>
          </a:xfrm>
          <a:prstGeom prst="rect">
            <a:avLst/>
          </a:prstGeom>
          <a:noFill/>
        </p:spPr>
        <p:txBody>
          <a:bodyPr wrap="square" rtlCol="0">
            <a:spAutoFit/>
          </a:bodyPr>
          <a:lstStyle/>
          <a:p>
            <a:r>
              <a:rPr lang="en-IN" dirty="0"/>
              <a:t>Query</a:t>
            </a:r>
          </a:p>
        </p:txBody>
      </p:sp>
      <p:sp>
        <p:nvSpPr>
          <p:cNvPr id="22" name="TextBox 21">
            <a:extLst>
              <a:ext uri="{FF2B5EF4-FFF2-40B4-BE49-F238E27FC236}">
                <a16:creationId xmlns:a16="http://schemas.microsoft.com/office/drawing/2014/main" id="{F55D40D8-D474-BB74-9E31-254878FFF676}"/>
              </a:ext>
            </a:extLst>
          </p:cNvPr>
          <p:cNvSpPr txBox="1"/>
          <p:nvPr/>
        </p:nvSpPr>
        <p:spPr>
          <a:xfrm>
            <a:off x="1798885" y="2284068"/>
            <a:ext cx="1233996" cy="369332"/>
          </a:xfrm>
          <a:prstGeom prst="rect">
            <a:avLst/>
          </a:prstGeom>
          <a:noFill/>
        </p:spPr>
        <p:txBody>
          <a:bodyPr wrap="square" rtlCol="0">
            <a:spAutoFit/>
          </a:bodyPr>
          <a:lstStyle/>
          <a:p>
            <a:r>
              <a:rPr lang="en-IN" dirty="0"/>
              <a:t>Context</a:t>
            </a:r>
          </a:p>
        </p:txBody>
      </p:sp>
      <p:cxnSp>
        <p:nvCxnSpPr>
          <p:cNvPr id="24" name="Straight Arrow Connector 23">
            <a:extLst>
              <a:ext uri="{FF2B5EF4-FFF2-40B4-BE49-F238E27FC236}">
                <a16:creationId xmlns:a16="http://schemas.microsoft.com/office/drawing/2014/main" id="{5F847626-5BD3-0BB0-9712-01AC4CB9C3C2}"/>
              </a:ext>
            </a:extLst>
          </p:cNvPr>
          <p:cNvCxnSpPr>
            <a:cxnSpLocks/>
          </p:cNvCxnSpPr>
          <p:nvPr/>
        </p:nvCxnSpPr>
        <p:spPr>
          <a:xfrm>
            <a:off x="2592280" y="1796009"/>
            <a:ext cx="936190" cy="231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CE7F1A1-3471-2848-6A61-F041B3908CFA}"/>
              </a:ext>
            </a:extLst>
          </p:cNvPr>
          <p:cNvCxnSpPr/>
          <p:nvPr/>
        </p:nvCxnSpPr>
        <p:spPr>
          <a:xfrm flipV="1">
            <a:off x="2592280" y="2201662"/>
            <a:ext cx="962326" cy="2670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3A1C3EB-47AF-25FE-281F-7A1D57653BEF}"/>
              </a:ext>
            </a:extLst>
          </p:cNvPr>
          <p:cNvSpPr txBox="1"/>
          <p:nvPr/>
        </p:nvSpPr>
        <p:spPr>
          <a:xfrm>
            <a:off x="2084196" y="2001744"/>
            <a:ext cx="851643" cy="369332"/>
          </a:xfrm>
          <a:prstGeom prst="rect">
            <a:avLst/>
          </a:prstGeom>
          <a:noFill/>
        </p:spPr>
        <p:txBody>
          <a:bodyPr wrap="square" rtlCol="0">
            <a:spAutoFit/>
          </a:bodyPr>
          <a:lstStyle/>
          <a:p>
            <a:r>
              <a:rPr lang="en-IN" dirty="0"/>
              <a:t>+</a:t>
            </a:r>
          </a:p>
        </p:txBody>
      </p:sp>
    </p:spTree>
    <p:extLst>
      <p:ext uri="{BB962C8B-B14F-4D97-AF65-F5344CB8AC3E}">
        <p14:creationId xmlns:p14="http://schemas.microsoft.com/office/powerpoint/2010/main" val="3340514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23126-BDA2-5B93-1584-2902FE3F1FEC}"/>
              </a:ext>
            </a:extLst>
          </p:cNvPr>
          <p:cNvSpPr>
            <a:spLocks noGrp="1"/>
          </p:cNvSpPr>
          <p:nvPr>
            <p:ph type="ctrTitle"/>
          </p:nvPr>
        </p:nvSpPr>
        <p:spPr>
          <a:xfrm>
            <a:off x="1256064" y="2529753"/>
            <a:ext cx="9145991" cy="839098"/>
          </a:xfrm>
        </p:spPr>
        <p:txBody>
          <a:bodyPr/>
          <a:lstStyle/>
          <a:p>
            <a:r>
              <a:rPr lang="en-IN" sz="3600" dirty="0"/>
              <a:t>Components Of RAG </a:t>
            </a:r>
          </a:p>
        </p:txBody>
      </p:sp>
      <p:sp>
        <p:nvSpPr>
          <p:cNvPr id="8" name="Rectangle 7">
            <a:extLst>
              <a:ext uri="{FF2B5EF4-FFF2-40B4-BE49-F238E27FC236}">
                <a16:creationId xmlns:a16="http://schemas.microsoft.com/office/drawing/2014/main" id="{860B5B67-3C32-2C37-A657-96EEDF314896}"/>
              </a:ext>
            </a:extLst>
          </p:cNvPr>
          <p:cNvSpPr/>
          <p:nvPr/>
        </p:nvSpPr>
        <p:spPr>
          <a:xfrm>
            <a:off x="8337338" y="2805344"/>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RAG </a:t>
            </a:r>
          </a:p>
        </p:txBody>
      </p:sp>
      <p:sp>
        <p:nvSpPr>
          <p:cNvPr id="9" name="Rectangle 8">
            <a:extLst>
              <a:ext uri="{FF2B5EF4-FFF2-40B4-BE49-F238E27FC236}">
                <a16:creationId xmlns:a16="http://schemas.microsoft.com/office/drawing/2014/main" id="{1639DCE2-7CD6-A5F7-56CA-DA5C9655F83D}"/>
              </a:ext>
            </a:extLst>
          </p:cNvPr>
          <p:cNvSpPr/>
          <p:nvPr/>
        </p:nvSpPr>
        <p:spPr>
          <a:xfrm>
            <a:off x="10104267" y="1482571"/>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Text </a:t>
            </a:r>
          </a:p>
          <a:p>
            <a:pPr algn="ctr"/>
            <a:r>
              <a:rPr lang="en-IN" dirty="0"/>
              <a:t>Splitters</a:t>
            </a:r>
          </a:p>
        </p:txBody>
      </p:sp>
      <p:sp>
        <p:nvSpPr>
          <p:cNvPr id="10" name="Rectangle 9">
            <a:extLst>
              <a:ext uri="{FF2B5EF4-FFF2-40B4-BE49-F238E27FC236}">
                <a16:creationId xmlns:a16="http://schemas.microsoft.com/office/drawing/2014/main" id="{8E2DF062-BB76-FCE6-3F04-1C33744B8C4F}"/>
              </a:ext>
            </a:extLst>
          </p:cNvPr>
          <p:cNvSpPr/>
          <p:nvPr/>
        </p:nvSpPr>
        <p:spPr>
          <a:xfrm>
            <a:off x="10104267" y="4144986"/>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Vector</a:t>
            </a:r>
          </a:p>
          <a:p>
            <a:pPr algn="ctr"/>
            <a:r>
              <a:rPr lang="en-IN" dirty="0"/>
              <a:t>Stores</a:t>
            </a:r>
          </a:p>
        </p:txBody>
      </p:sp>
      <p:sp>
        <p:nvSpPr>
          <p:cNvPr id="11" name="Rectangle 10">
            <a:extLst>
              <a:ext uri="{FF2B5EF4-FFF2-40B4-BE49-F238E27FC236}">
                <a16:creationId xmlns:a16="http://schemas.microsoft.com/office/drawing/2014/main" id="{AC2F7912-0176-95BF-61A8-4F466DBF5DCD}"/>
              </a:ext>
            </a:extLst>
          </p:cNvPr>
          <p:cNvSpPr/>
          <p:nvPr/>
        </p:nvSpPr>
        <p:spPr>
          <a:xfrm>
            <a:off x="6682312" y="4193219"/>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Retrievers</a:t>
            </a:r>
          </a:p>
        </p:txBody>
      </p:sp>
      <p:sp>
        <p:nvSpPr>
          <p:cNvPr id="12" name="Rectangle 11">
            <a:extLst>
              <a:ext uri="{FF2B5EF4-FFF2-40B4-BE49-F238E27FC236}">
                <a16:creationId xmlns:a16="http://schemas.microsoft.com/office/drawing/2014/main" id="{4D17E2CB-7163-A429-CDF8-4ED0C9471150}"/>
              </a:ext>
            </a:extLst>
          </p:cNvPr>
          <p:cNvSpPr/>
          <p:nvPr/>
        </p:nvSpPr>
        <p:spPr>
          <a:xfrm>
            <a:off x="6579408" y="1455938"/>
            <a:ext cx="1562470" cy="674703"/>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Document Loaders</a:t>
            </a:r>
          </a:p>
        </p:txBody>
      </p:sp>
      <p:cxnSp>
        <p:nvCxnSpPr>
          <p:cNvPr id="14" name="Straight Arrow Connector 13">
            <a:extLst>
              <a:ext uri="{FF2B5EF4-FFF2-40B4-BE49-F238E27FC236}">
                <a16:creationId xmlns:a16="http://schemas.microsoft.com/office/drawing/2014/main" id="{3463C861-165C-E776-4F41-AE9CA4E5DE9E}"/>
              </a:ext>
            </a:extLst>
          </p:cNvPr>
          <p:cNvCxnSpPr/>
          <p:nvPr/>
        </p:nvCxnSpPr>
        <p:spPr>
          <a:xfrm flipH="1" flipV="1">
            <a:off x="7759083" y="2157274"/>
            <a:ext cx="578255" cy="6480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19938959-AD58-B8ED-C04B-AF3FE0D9F513}"/>
              </a:ext>
            </a:extLst>
          </p:cNvPr>
          <p:cNvCxnSpPr/>
          <p:nvPr/>
        </p:nvCxnSpPr>
        <p:spPr>
          <a:xfrm flipV="1">
            <a:off x="9889724" y="2157274"/>
            <a:ext cx="443884" cy="648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7068B17-B5A3-08E4-2085-A3E524BC93BE}"/>
              </a:ext>
            </a:extLst>
          </p:cNvPr>
          <p:cNvCxnSpPr/>
          <p:nvPr/>
        </p:nvCxnSpPr>
        <p:spPr>
          <a:xfrm flipH="1">
            <a:off x="7643674" y="3480047"/>
            <a:ext cx="693664" cy="713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15C7A3B-66FA-1F5A-1C82-15A425F040BC}"/>
              </a:ext>
            </a:extLst>
          </p:cNvPr>
          <p:cNvCxnSpPr/>
          <p:nvPr/>
        </p:nvCxnSpPr>
        <p:spPr>
          <a:xfrm>
            <a:off x="9889724" y="3480047"/>
            <a:ext cx="701336" cy="664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C69D15F-8E8D-D7A1-DE88-78DD47829544}"/>
              </a:ext>
            </a:extLst>
          </p:cNvPr>
          <p:cNvSpPr txBox="1"/>
          <p:nvPr/>
        </p:nvSpPr>
        <p:spPr>
          <a:xfrm>
            <a:off x="1713390" y="3977196"/>
            <a:ext cx="4163355" cy="1477328"/>
          </a:xfrm>
          <a:prstGeom prst="rect">
            <a:avLst/>
          </a:prstGeom>
          <a:noFill/>
        </p:spPr>
        <p:txBody>
          <a:bodyPr wrap="square" rtlCol="0">
            <a:spAutoFit/>
          </a:bodyPr>
          <a:lstStyle/>
          <a:p>
            <a:r>
              <a:rPr lang="en-IN" dirty="0">
                <a:solidFill>
                  <a:schemeClr val="bg1"/>
                </a:solidFill>
              </a:rPr>
              <a:t>So, I hope till now you have understood the need of RAG and a basic overview of RAG, Now I will explain you more about the RAG in depth SO lets start with  components of RAG</a:t>
            </a:r>
          </a:p>
        </p:txBody>
      </p:sp>
    </p:spTree>
    <p:extLst>
      <p:ext uri="{BB962C8B-B14F-4D97-AF65-F5344CB8AC3E}">
        <p14:creationId xmlns:p14="http://schemas.microsoft.com/office/powerpoint/2010/main" val="1648294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66E7B-F41E-5F68-423D-F1E56CD4BF34}"/>
              </a:ext>
            </a:extLst>
          </p:cNvPr>
          <p:cNvSpPr>
            <a:spLocks noGrp="1"/>
          </p:cNvSpPr>
          <p:nvPr>
            <p:ph type="ctrTitle"/>
          </p:nvPr>
        </p:nvSpPr>
        <p:spPr>
          <a:xfrm>
            <a:off x="1849922" y="221941"/>
            <a:ext cx="4204648" cy="688177"/>
          </a:xfrm>
        </p:spPr>
        <p:txBody>
          <a:bodyPr/>
          <a:lstStyle/>
          <a:p>
            <a:r>
              <a:rPr lang="en-IN" sz="4000" dirty="0"/>
              <a:t>Document Loader</a:t>
            </a:r>
          </a:p>
        </p:txBody>
      </p:sp>
      <p:pic>
        <p:nvPicPr>
          <p:cNvPr id="4" name="Graphic 3" descr="Arrow: Slight curve with solid fill">
            <a:extLst>
              <a:ext uri="{FF2B5EF4-FFF2-40B4-BE49-F238E27FC236}">
                <a16:creationId xmlns:a16="http://schemas.microsoft.com/office/drawing/2014/main" id="{07A277D4-E51E-E3D3-7E90-EF7C1D1EA5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8E4A7B87-9B4B-F002-1570-9101C7F81948}"/>
              </a:ext>
            </a:extLst>
          </p:cNvPr>
          <p:cNvSpPr txBox="1"/>
          <p:nvPr/>
        </p:nvSpPr>
        <p:spPr>
          <a:xfrm>
            <a:off x="2050742" y="1071979"/>
            <a:ext cx="7830105" cy="369332"/>
          </a:xfrm>
          <a:prstGeom prst="rect">
            <a:avLst/>
          </a:prstGeom>
          <a:noFill/>
        </p:spPr>
        <p:txBody>
          <a:bodyPr wrap="square" rtlCol="0">
            <a:spAutoFit/>
          </a:bodyPr>
          <a:lstStyle/>
          <a:p>
            <a:r>
              <a:rPr lang="en-IN" dirty="0">
                <a:solidFill>
                  <a:schemeClr val="bg1"/>
                </a:solidFill>
              </a:rPr>
              <a:t>It is responsible for importing data from different sources into the RAG system.</a:t>
            </a:r>
          </a:p>
        </p:txBody>
      </p:sp>
      <p:pic>
        <p:nvPicPr>
          <p:cNvPr id="6" name="Graphic 5" descr="Arrow: Slight curve with solid fill">
            <a:extLst>
              <a:ext uri="{FF2B5EF4-FFF2-40B4-BE49-F238E27FC236}">
                <a16:creationId xmlns:a16="http://schemas.microsoft.com/office/drawing/2014/main" id="{1C2A5DB0-4A0C-7792-4C4E-E0BF4E1D6B3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445951"/>
            <a:ext cx="357326" cy="357326"/>
          </a:xfrm>
          <a:prstGeom prst="rect">
            <a:avLst/>
          </a:prstGeom>
        </p:spPr>
      </p:pic>
      <p:sp>
        <p:nvSpPr>
          <p:cNvPr id="7" name="TextBox 6">
            <a:extLst>
              <a:ext uri="{FF2B5EF4-FFF2-40B4-BE49-F238E27FC236}">
                <a16:creationId xmlns:a16="http://schemas.microsoft.com/office/drawing/2014/main" id="{F12625E1-E0FF-C66D-DEBD-0EB5ABD5A500}"/>
              </a:ext>
            </a:extLst>
          </p:cNvPr>
          <p:cNvSpPr txBox="1"/>
          <p:nvPr/>
        </p:nvSpPr>
        <p:spPr>
          <a:xfrm>
            <a:off x="2050742" y="1445951"/>
            <a:ext cx="7830105" cy="369332"/>
          </a:xfrm>
          <a:prstGeom prst="rect">
            <a:avLst/>
          </a:prstGeom>
          <a:noFill/>
        </p:spPr>
        <p:txBody>
          <a:bodyPr wrap="square" rtlCol="0">
            <a:spAutoFit/>
          </a:bodyPr>
          <a:lstStyle/>
          <a:p>
            <a:r>
              <a:rPr lang="en-IN" dirty="0">
                <a:solidFill>
                  <a:schemeClr val="bg1"/>
                </a:solidFill>
              </a:rPr>
              <a:t>It reads documents such as PDFs, Word files , databases or text files.</a:t>
            </a:r>
          </a:p>
        </p:txBody>
      </p:sp>
      <p:pic>
        <p:nvPicPr>
          <p:cNvPr id="8" name="Graphic 7" descr="Arrow: Slight curve with solid fill">
            <a:extLst>
              <a:ext uri="{FF2B5EF4-FFF2-40B4-BE49-F238E27FC236}">
                <a16:creationId xmlns:a16="http://schemas.microsoft.com/office/drawing/2014/main" id="{058AA891-B3BE-AFF0-C22B-8220372C70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815283"/>
            <a:ext cx="357326" cy="357326"/>
          </a:xfrm>
          <a:prstGeom prst="rect">
            <a:avLst/>
          </a:prstGeom>
        </p:spPr>
      </p:pic>
      <p:sp>
        <p:nvSpPr>
          <p:cNvPr id="9" name="TextBox 8">
            <a:extLst>
              <a:ext uri="{FF2B5EF4-FFF2-40B4-BE49-F238E27FC236}">
                <a16:creationId xmlns:a16="http://schemas.microsoft.com/office/drawing/2014/main" id="{90EAF0CA-847F-89D8-EE39-AD44802CB996}"/>
              </a:ext>
            </a:extLst>
          </p:cNvPr>
          <p:cNvSpPr txBox="1"/>
          <p:nvPr/>
        </p:nvSpPr>
        <p:spPr>
          <a:xfrm>
            <a:off x="2050742" y="1815283"/>
            <a:ext cx="8090516" cy="369332"/>
          </a:xfrm>
          <a:prstGeom prst="rect">
            <a:avLst/>
          </a:prstGeom>
          <a:noFill/>
        </p:spPr>
        <p:txBody>
          <a:bodyPr wrap="square" rtlCol="0">
            <a:spAutoFit/>
          </a:bodyPr>
          <a:lstStyle/>
          <a:p>
            <a:r>
              <a:rPr lang="en-IN" dirty="0">
                <a:solidFill>
                  <a:schemeClr val="bg1"/>
                </a:solidFill>
              </a:rPr>
              <a:t>It converts these documents into structured format that can be processed further.</a:t>
            </a:r>
          </a:p>
        </p:txBody>
      </p:sp>
      <p:sp>
        <p:nvSpPr>
          <p:cNvPr id="11" name="TextBox 10">
            <a:extLst>
              <a:ext uri="{FF2B5EF4-FFF2-40B4-BE49-F238E27FC236}">
                <a16:creationId xmlns:a16="http://schemas.microsoft.com/office/drawing/2014/main" id="{34AD7607-269E-7FD7-DF48-925C33119E55}"/>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Tree>
    <p:extLst>
      <p:ext uri="{BB962C8B-B14F-4D97-AF65-F5344CB8AC3E}">
        <p14:creationId xmlns:p14="http://schemas.microsoft.com/office/powerpoint/2010/main" val="290434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06852-2AA2-4048-0579-53CD306E8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2922C-5A4B-E924-446E-4D19FC5556D3}"/>
              </a:ext>
            </a:extLst>
          </p:cNvPr>
          <p:cNvSpPr>
            <a:spLocks noGrp="1"/>
          </p:cNvSpPr>
          <p:nvPr>
            <p:ph type="ctrTitle"/>
          </p:nvPr>
        </p:nvSpPr>
        <p:spPr>
          <a:xfrm>
            <a:off x="1849922" y="221941"/>
            <a:ext cx="4204648" cy="688177"/>
          </a:xfrm>
        </p:spPr>
        <p:txBody>
          <a:bodyPr/>
          <a:lstStyle/>
          <a:p>
            <a:r>
              <a:rPr lang="en-IN" sz="4000" dirty="0"/>
              <a:t>Document Loader</a:t>
            </a:r>
          </a:p>
        </p:txBody>
      </p:sp>
      <p:pic>
        <p:nvPicPr>
          <p:cNvPr id="4" name="Graphic 3" descr="Arrow: Slight curve with solid fill">
            <a:extLst>
              <a:ext uri="{FF2B5EF4-FFF2-40B4-BE49-F238E27FC236}">
                <a16:creationId xmlns:a16="http://schemas.microsoft.com/office/drawing/2014/main" id="{8315B855-9311-C796-BC55-4B1FC81E53B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9994782A-41CF-EE3F-55B9-23379BEA7443}"/>
              </a:ext>
            </a:extLst>
          </p:cNvPr>
          <p:cNvSpPr txBox="1"/>
          <p:nvPr/>
        </p:nvSpPr>
        <p:spPr>
          <a:xfrm>
            <a:off x="2050742" y="1071979"/>
            <a:ext cx="7830105" cy="369332"/>
          </a:xfrm>
          <a:prstGeom prst="rect">
            <a:avLst/>
          </a:prstGeom>
          <a:noFill/>
        </p:spPr>
        <p:txBody>
          <a:bodyPr wrap="square" rtlCol="0">
            <a:spAutoFit/>
          </a:bodyPr>
          <a:lstStyle/>
          <a:p>
            <a:r>
              <a:rPr lang="en-IN" dirty="0">
                <a:solidFill>
                  <a:schemeClr val="bg1"/>
                </a:solidFill>
              </a:rPr>
              <a:t>It is responsible for importing data from different sources into the RAG system.</a:t>
            </a:r>
          </a:p>
        </p:txBody>
      </p:sp>
      <p:pic>
        <p:nvPicPr>
          <p:cNvPr id="6" name="Graphic 5" descr="Arrow: Slight curve with solid fill">
            <a:extLst>
              <a:ext uri="{FF2B5EF4-FFF2-40B4-BE49-F238E27FC236}">
                <a16:creationId xmlns:a16="http://schemas.microsoft.com/office/drawing/2014/main" id="{02FB35F2-AB6E-BECD-7D76-B17C6FC900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445951"/>
            <a:ext cx="357326" cy="357326"/>
          </a:xfrm>
          <a:prstGeom prst="rect">
            <a:avLst/>
          </a:prstGeom>
        </p:spPr>
      </p:pic>
      <p:sp>
        <p:nvSpPr>
          <p:cNvPr id="7" name="TextBox 6">
            <a:extLst>
              <a:ext uri="{FF2B5EF4-FFF2-40B4-BE49-F238E27FC236}">
                <a16:creationId xmlns:a16="http://schemas.microsoft.com/office/drawing/2014/main" id="{711EEB75-9354-37B0-A512-BCBDB7FFA3D9}"/>
              </a:ext>
            </a:extLst>
          </p:cNvPr>
          <p:cNvSpPr txBox="1"/>
          <p:nvPr/>
        </p:nvSpPr>
        <p:spPr>
          <a:xfrm>
            <a:off x="2050742" y="1445951"/>
            <a:ext cx="7830105" cy="369332"/>
          </a:xfrm>
          <a:prstGeom prst="rect">
            <a:avLst/>
          </a:prstGeom>
          <a:noFill/>
        </p:spPr>
        <p:txBody>
          <a:bodyPr wrap="square" rtlCol="0">
            <a:spAutoFit/>
          </a:bodyPr>
          <a:lstStyle/>
          <a:p>
            <a:r>
              <a:rPr lang="en-IN" dirty="0">
                <a:solidFill>
                  <a:schemeClr val="bg1"/>
                </a:solidFill>
              </a:rPr>
              <a:t>It reads documents such as PDFs, Word files , databases or text files.</a:t>
            </a:r>
          </a:p>
        </p:txBody>
      </p:sp>
      <p:pic>
        <p:nvPicPr>
          <p:cNvPr id="8" name="Graphic 7" descr="Arrow: Slight curve with solid fill">
            <a:extLst>
              <a:ext uri="{FF2B5EF4-FFF2-40B4-BE49-F238E27FC236}">
                <a16:creationId xmlns:a16="http://schemas.microsoft.com/office/drawing/2014/main" id="{71A157D0-4921-753C-E626-4CA80681F0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815283"/>
            <a:ext cx="357326" cy="357326"/>
          </a:xfrm>
          <a:prstGeom prst="rect">
            <a:avLst/>
          </a:prstGeom>
        </p:spPr>
      </p:pic>
      <p:sp>
        <p:nvSpPr>
          <p:cNvPr id="9" name="TextBox 8">
            <a:extLst>
              <a:ext uri="{FF2B5EF4-FFF2-40B4-BE49-F238E27FC236}">
                <a16:creationId xmlns:a16="http://schemas.microsoft.com/office/drawing/2014/main" id="{1AC6F53B-82A1-6325-3B9F-DDB922D088DC}"/>
              </a:ext>
            </a:extLst>
          </p:cNvPr>
          <p:cNvSpPr txBox="1"/>
          <p:nvPr/>
        </p:nvSpPr>
        <p:spPr>
          <a:xfrm>
            <a:off x="2050742" y="1815283"/>
            <a:ext cx="8090516" cy="369332"/>
          </a:xfrm>
          <a:prstGeom prst="rect">
            <a:avLst/>
          </a:prstGeom>
          <a:noFill/>
        </p:spPr>
        <p:txBody>
          <a:bodyPr wrap="square" rtlCol="0">
            <a:spAutoFit/>
          </a:bodyPr>
          <a:lstStyle/>
          <a:p>
            <a:r>
              <a:rPr lang="en-IN" dirty="0">
                <a:solidFill>
                  <a:schemeClr val="bg1"/>
                </a:solidFill>
              </a:rPr>
              <a:t>It converts these documents into structured format that can be processed further.</a:t>
            </a:r>
          </a:p>
        </p:txBody>
      </p:sp>
      <p:pic>
        <p:nvPicPr>
          <p:cNvPr id="10" name="Graphic 9" descr="Arrow: Slight curve with solid fill">
            <a:extLst>
              <a:ext uri="{FF2B5EF4-FFF2-40B4-BE49-F238E27FC236}">
                <a16:creationId xmlns:a16="http://schemas.microsoft.com/office/drawing/2014/main" id="{96014A8F-D344-D52E-EE9E-66F7C4D7E7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2891700"/>
            <a:ext cx="357326" cy="357326"/>
          </a:xfrm>
          <a:prstGeom prst="rect">
            <a:avLst/>
          </a:prstGeom>
        </p:spPr>
      </p:pic>
      <p:sp>
        <p:nvSpPr>
          <p:cNvPr id="11" name="TextBox 10">
            <a:extLst>
              <a:ext uri="{FF2B5EF4-FFF2-40B4-BE49-F238E27FC236}">
                <a16:creationId xmlns:a16="http://schemas.microsoft.com/office/drawing/2014/main" id="{BD4D3766-C358-8A32-512F-295F1ECD6E72}"/>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12" name="TextBox 11">
            <a:extLst>
              <a:ext uri="{FF2B5EF4-FFF2-40B4-BE49-F238E27FC236}">
                <a16:creationId xmlns:a16="http://schemas.microsoft.com/office/drawing/2014/main" id="{5BCC5CD5-69B3-5590-FF0C-E31D421E2509}"/>
              </a:ext>
            </a:extLst>
          </p:cNvPr>
          <p:cNvSpPr txBox="1"/>
          <p:nvPr/>
        </p:nvSpPr>
        <p:spPr>
          <a:xfrm>
            <a:off x="2050742" y="2899267"/>
            <a:ext cx="6800295" cy="369332"/>
          </a:xfrm>
          <a:prstGeom prst="rect">
            <a:avLst/>
          </a:prstGeom>
          <a:noFill/>
        </p:spPr>
        <p:txBody>
          <a:bodyPr wrap="square" rtlCol="0">
            <a:spAutoFit/>
          </a:bodyPr>
          <a:lstStyle/>
          <a:p>
            <a:r>
              <a:rPr lang="en-IN" dirty="0">
                <a:solidFill>
                  <a:schemeClr val="bg1"/>
                </a:solidFill>
              </a:rPr>
              <a:t>Document Objects</a:t>
            </a:r>
          </a:p>
        </p:txBody>
      </p:sp>
      <p:pic>
        <p:nvPicPr>
          <p:cNvPr id="13" name="Picture 12">
            <a:extLst>
              <a:ext uri="{FF2B5EF4-FFF2-40B4-BE49-F238E27FC236}">
                <a16:creationId xmlns:a16="http://schemas.microsoft.com/office/drawing/2014/main" id="{AEBBB850-0F39-CFC1-CAF2-6789419C46A0}"/>
              </a:ext>
            </a:extLst>
          </p:cNvPr>
          <p:cNvPicPr>
            <a:picLocks noChangeAspect="1"/>
          </p:cNvPicPr>
          <p:nvPr/>
        </p:nvPicPr>
        <p:blipFill>
          <a:blip r:embed="rId3"/>
          <a:stretch>
            <a:fillRect/>
          </a:stretch>
        </p:blipFill>
        <p:spPr>
          <a:xfrm>
            <a:off x="6196761" y="2899267"/>
            <a:ext cx="4179630" cy="2266775"/>
          </a:xfrm>
          <a:prstGeom prst="rect">
            <a:avLst/>
          </a:prstGeom>
        </p:spPr>
      </p:pic>
      <p:sp>
        <p:nvSpPr>
          <p:cNvPr id="15" name="TextBox 14">
            <a:extLst>
              <a:ext uri="{FF2B5EF4-FFF2-40B4-BE49-F238E27FC236}">
                <a16:creationId xmlns:a16="http://schemas.microsoft.com/office/drawing/2014/main" id="{F5966BDC-CF4F-64F6-863E-53A9A566AB32}"/>
              </a:ext>
            </a:extLst>
          </p:cNvPr>
          <p:cNvSpPr txBox="1"/>
          <p:nvPr/>
        </p:nvSpPr>
        <p:spPr>
          <a:xfrm>
            <a:off x="1298358" y="3249026"/>
            <a:ext cx="4756212" cy="2369880"/>
          </a:xfrm>
          <a:prstGeom prst="rect">
            <a:avLst/>
          </a:prstGeom>
          <a:noFill/>
        </p:spPr>
        <p:txBody>
          <a:bodyPr wrap="square">
            <a:spAutoFit/>
          </a:bodyPr>
          <a:lstStyle/>
          <a:p>
            <a:pPr>
              <a:buNone/>
            </a:pPr>
            <a:r>
              <a:rPr lang="en-US" sz="1600" dirty="0">
                <a:solidFill>
                  <a:schemeClr val="bg1"/>
                </a:solidFill>
              </a:rPr>
              <a:t>A </a:t>
            </a:r>
            <a:r>
              <a:rPr lang="en-US" sz="1600" b="1" dirty="0">
                <a:solidFill>
                  <a:schemeClr val="bg1"/>
                </a:solidFill>
              </a:rPr>
              <a:t>Document Object</a:t>
            </a:r>
            <a:r>
              <a:rPr lang="en-US" sz="1600" dirty="0">
                <a:solidFill>
                  <a:schemeClr val="bg1"/>
                </a:solidFill>
              </a:rPr>
              <a:t> is a structured way to store </a:t>
            </a:r>
            <a:r>
              <a:rPr lang="en-US" sz="1600" b="1" dirty="0">
                <a:solidFill>
                  <a:schemeClr val="bg1"/>
                </a:solidFill>
              </a:rPr>
              <a:t>text data along with its extra information (metadata)</a:t>
            </a:r>
            <a:r>
              <a:rPr lang="en-US" sz="1600" dirty="0">
                <a:solidFill>
                  <a:schemeClr val="bg1"/>
                </a:solidFill>
              </a:rPr>
              <a:t>.</a:t>
            </a:r>
          </a:p>
          <a:p>
            <a:pPr>
              <a:buNone/>
            </a:pPr>
            <a:r>
              <a:rPr lang="en-US" sz="1600" dirty="0">
                <a:solidFill>
                  <a:schemeClr val="bg1"/>
                </a:solidFill>
              </a:rPr>
              <a:t>It is the </a:t>
            </a:r>
            <a:r>
              <a:rPr lang="en-US" sz="1600" b="1" dirty="0">
                <a:solidFill>
                  <a:schemeClr val="bg1"/>
                </a:solidFill>
              </a:rPr>
              <a:t>basic unit of data</a:t>
            </a:r>
            <a:r>
              <a:rPr lang="en-US" sz="1600" dirty="0">
                <a:solidFill>
                  <a:schemeClr val="bg1"/>
                </a:solidFill>
              </a:rPr>
              <a:t> that the system processes.</a:t>
            </a:r>
          </a:p>
          <a:p>
            <a:pPr>
              <a:buNone/>
            </a:pPr>
            <a:br>
              <a:rPr lang="en-US" sz="1600" dirty="0">
                <a:solidFill>
                  <a:schemeClr val="bg1"/>
                </a:solidFill>
              </a:rPr>
            </a:br>
            <a:endParaRPr lang="en-US" sz="1600" dirty="0">
              <a:solidFill>
                <a:schemeClr val="bg1"/>
              </a:solidFill>
            </a:endParaRPr>
          </a:p>
          <a:p>
            <a:pPr>
              <a:buNone/>
            </a:pPr>
            <a:r>
              <a:rPr lang="en-US" sz="1600" b="1" dirty="0">
                <a:solidFill>
                  <a:schemeClr val="bg1"/>
                </a:solidFill>
              </a:rPr>
              <a:t>🧠 Simple Explanation</a:t>
            </a:r>
          </a:p>
          <a:p>
            <a:pPr>
              <a:buNone/>
            </a:pPr>
            <a:r>
              <a:rPr lang="en-US" sz="1600" dirty="0">
                <a:solidFill>
                  <a:schemeClr val="bg1"/>
                </a:solidFill>
              </a:rPr>
              <a:t>Instead of storing just plain text, we store:</a:t>
            </a:r>
          </a:p>
          <a:p>
            <a:pPr>
              <a:buNone/>
            </a:pPr>
            <a:r>
              <a:rPr lang="en-US" sz="1600" dirty="0">
                <a:solidFill>
                  <a:schemeClr val="bg1"/>
                </a:solidFill>
              </a:rPr>
              <a:t>👉 </a:t>
            </a:r>
            <a:r>
              <a:rPr lang="en-US" sz="1600" b="1" dirty="0">
                <a:solidFill>
                  <a:schemeClr val="bg1"/>
                </a:solidFill>
              </a:rPr>
              <a:t>Text + Information about the text</a:t>
            </a:r>
            <a:endParaRPr lang="en-US" sz="1600" dirty="0">
              <a:solidFill>
                <a:schemeClr val="bg1"/>
              </a:solidFill>
            </a:endParaRPr>
          </a:p>
          <a:p>
            <a:pPr>
              <a:buNone/>
            </a:pPr>
            <a:r>
              <a:rPr lang="en-US" sz="1600" dirty="0">
                <a:solidFill>
                  <a:schemeClr val="bg1"/>
                </a:solidFill>
              </a:rPr>
              <a:t>This combination is called a </a:t>
            </a:r>
            <a:r>
              <a:rPr lang="en-US" sz="1600" b="1" dirty="0">
                <a:solidFill>
                  <a:schemeClr val="bg1"/>
                </a:solidFill>
              </a:rPr>
              <a:t>Document Object</a:t>
            </a:r>
            <a:r>
              <a:rPr lang="en-US" sz="1600" dirty="0">
                <a:solidFill>
                  <a:schemeClr val="bg1"/>
                </a:solidFill>
              </a:rPr>
              <a:t>.</a:t>
            </a:r>
          </a:p>
        </p:txBody>
      </p:sp>
    </p:spTree>
    <p:extLst>
      <p:ext uri="{BB962C8B-B14F-4D97-AF65-F5344CB8AC3E}">
        <p14:creationId xmlns:p14="http://schemas.microsoft.com/office/powerpoint/2010/main" val="1040995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A9129-E48B-88DE-04C4-003B31735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DB70D-39D3-A985-BB9A-94D197496258}"/>
              </a:ext>
            </a:extLst>
          </p:cNvPr>
          <p:cNvSpPr>
            <a:spLocks noGrp="1"/>
          </p:cNvSpPr>
          <p:nvPr>
            <p:ph type="ctrTitle"/>
          </p:nvPr>
        </p:nvSpPr>
        <p:spPr>
          <a:xfrm>
            <a:off x="1849922" y="221941"/>
            <a:ext cx="4204648" cy="688177"/>
          </a:xfrm>
        </p:spPr>
        <p:txBody>
          <a:bodyPr/>
          <a:lstStyle/>
          <a:p>
            <a:r>
              <a:rPr lang="en-IN" sz="4000" dirty="0"/>
              <a:t>Document Loader</a:t>
            </a:r>
          </a:p>
        </p:txBody>
      </p:sp>
      <p:pic>
        <p:nvPicPr>
          <p:cNvPr id="4" name="Graphic 3" descr="Arrow: Slight curve with solid fill">
            <a:extLst>
              <a:ext uri="{FF2B5EF4-FFF2-40B4-BE49-F238E27FC236}">
                <a16:creationId xmlns:a16="http://schemas.microsoft.com/office/drawing/2014/main" id="{6E4DECE5-DE6D-3F04-FC39-565DC5B79C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0DE214EA-E7E3-02E2-81F9-417FE81249CD}"/>
              </a:ext>
            </a:extLst>
          </p:cNvPr>
          <p:cNvSpPr txBox="1"/>
          <p:nvPr/>
        </p:nvSpPr>
        <p:spPr>
          <a:xfrm>
            <a:off x="2050742" y="1071979"/>
            <a:ext cx="7830105" cy="369332"/>
          </a:xfrm>
          <a:prstGeom prst="rect">
            <a:avLst/>
          </a:prstGeom>
          <a:noFill/>
        </p:spPr>
        <p:txBody>
          <a:bodyPr wrap="square" rtlCol="0">
            <a:spAutoFit/>
          </a:bodyPr>
          <a:lstStyle/>
          <a:p>
            <a:r>
              <a:rPr lang="en-IN" dirty="0">
                <a:solidFill>
                  <a:schemeClr val="bg1"/>
                </a:solidFill>
              </a:rPr>
              <a:t>It is responsible for importing data from different sources into the RAG system.</a:t>
            </a:r>
          </a:p>
        </p:txBody>
      </p:sp>
      <p:pic>
        <p:nvPicPr>
          <p:cNvPr id="6" name="Graphic 5" descr="Arrow: Slight curve with solid fill">
            <a:extLst>
              <a:ext uri="{FF2B5EF4-FFF2-40B4-BE49-F238E27FC236}">
                <a16:creationId xmlns:a16="http://schemas.microsoft.com/office/drawing/2014/main" id="{6BF6CC49-BDE7-346D-90A9-8E570DE5EFD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445951"/>
            <a:ext cx="357326" cy="357326"/>
          </a:xfrm>
          <a:prstGeom prst="rect">
            <a:avLst/>
          </a:prstGeom>
        </p:spPr>
      </p:pic>
      <p:sp>
        <p:nvSpPr>
          <p:cNvPr id="7" name="TextBox 6">
            <a:extLst>
              <a:ext uri="{FF2B5EF4-FFF2-40B4-BE49-F238E27FC236}">
                <a16:creationId xmlns:a16="http://schemas.microsoft.com/office/drawing/2014/main" id="{8A2F4B9C-DC6B-FD4B-2E79-14DAE335B90E}"/>
              </a:ext>
            </a:extLst>
          </p:cNvPr>
          <p:cNvSpPr txBox="1"/>
          <p:nvPr/>
        </p:nvSpPr>
        <p:spPr>
          <a:xfrm>
            <a:off x="2050742" y="1445951"/>
            <a:ext cx="7830105" cy="369332"/>
          </a:xfrm>
          <a:prstGeom prst="rect">
            <a:avLst/>
          </a:prstGeom>
          <a:noFill/>
        </p:spPr>
        <p:txBody>
          <a:bodyPr wrap="square" rtlCol="0">
            <a:spAutoFit/>
          </a:bodyPr>
          <a:lstStyle/>
          <a:p>
            <a:r>
              <a:rPr lang="en-IN" dirty="0">
                <a:solidFill>
                  <a:schemeClr val="bg1"/>
                </a:solidFill>
              </a:rPr>
              <a:t>It reads documents such as PDFs, Word files , databases or text files.</a:t>
            </a:r>
          </a:p>
        </p:txBody>
      </p:sp>
      <p:pic>
        <p:nvPicPr>
          <p:cNvPr id="8" name="Graphic 7" descr="Arrow: Slight curve with solid fill">
            <a:extLst>
              <a:ext uri="{FF2B5EF4-FFF2-40B4-BE49-F238E27FC236}">
                <a16:creationId xmlns:a16="http://schemas.microsoft.com/office/drawing/2014/main" id="{64CC277D-ECC4-D5C5-6339-8FEF75B58D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815283"/>
            <a:ext cx="357326" cy="357326"/>
          </a:xfrm>
          <a:prstGeom prst="rect">
            <a:avLst/>
          </a:prstGeom>
        </p:spPr>
      </p:pic>
      <p:sp>
        <p:nvSpPr>
          <p:cNvPr id="9" name="TextBox 8">
            <a:extLst>
              <a:ext uri="{FF2B5EF4-FFF2-40B4-BE49-F238E27FC236}">
                <a16:creationId xmlns:a16="http://schemas.microsoft.com/office/drawing/2014/main" id="{B17F96B7-1668-911D-7438-40C5C085280B}"/>
              </a:ext>
            </a:extLst>
          </p:cNvPr>
          <p:cNvSpPr txBox="1"/>
          <p:nvPr/>
        </p:nvSpPr>
        <p:spPr>
          <a:xfrm>
            <a:off x="2050742" y="1815283"/>
            <a:ext cx="8090516" cy="369332"/>
          </a:xfrm>
          <a:prstGeom prst="rect">
            <a:avLst/>
          </a:prstGeom>
          <a:noFill/>
        </p:spPr>
        <p:txBody>
          <a:bodyPr wrap="square" rtlCol="0">
            <a:spAutoFit/>
          </a:bodyPr>
          <a:lstStyle/>
          <a:p>
            <a:r>
              <a:rPr lang="en-IN" dirty="0">
                <a:solidFill>
                  <a:schemeClr val="bg1"/>
                </a:solidFill>
              </a:rPr>
              <a:t>It converts these documents into structured format that can be processed further.</a:t>
            </a:r>
          </a:p>
        </p:txBody>
      </p:sp>
      <p:pic>
        <p:nvPicPr>
          <p:cNvPr id="10" name="Graphic 9" descr="Arrow: Slight curve with solid fill">
            <a:extLst>
              <a:ext uri="{FF2B5EF4-FFF2-40B4-BE49-F238E27FC236}">
                <a16:creationId xmlns:a16="http://schemas.microsoft.com/office/drawing/2014/main" id="{AA65F559-3D8C-6446-8398-29A67FAE2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2891700"/>
            <a:ext cx="357326" cy="357326"/>
          </a:xfrm>
          <a:prstGeom prst="rect">
            <a:avLst/>
          </a:prstGeom>
        </p:spPr>
      </p:pic>
      <p:sp>
        <p:nvSpPr>
          <p:cNvPr id="11" name="TextBox 10">
            <a:extLst>
              <a:ext uri="{FF2B5EF4-FFF2-40B4-BE49-F238E27FC236}">
                <a16:creationId xmlns:a16="http://schemas.microsoft.com/office/drawing/2014/main" id="{6B36F808-7864-2EF1-D498-ADE863A6D4F2}"/>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12" name="TextBox 11">
            <a:extLst>
              <a:ext uri="{FF2B5EF4-FFF2-40B4-BE49-F238E27FC236}">
                <a16:creationId xmlns:a16="http://schemas.microsoft.com/office/drawing/2014/main" id="{3CDB97A0-CA8E-4BC0-1B0A-EBA65F6577FF}"/>
              </a:ext>
            </a:extLst>
          </p:cNvPr>
          <p:cNvSpPr txBox="1"/>
          <p:nvPr/>
        </p:nvSpPr>
        <p:spPr>
          <a:xfrm>
            <a:off x="2050742" y="2899267"/>
            <a:ext cx="6800295" cy="369332"/>
          </a:xfrm>
          <a:prstGeom prst="rect">
            <a:avLst/>
          </a:prstGeom>
          <a:noFill/>
        </p:spPr>
        <p:txBody>
          <a:bodyPr wrap="square" rtlCol="0">
            <a:spAutoFit/>
          </a:bodyPr>
          <a:lstStyle/>
          <a:p>
            <a:r>
              <a:rPr lang="en-IN" dirty="0">
                <a:solidFill>
                  <a:schemeClr val="bg1"/>
                </a:solidFill>
              </a:rPr>
              <a:t>Document Objects</a:t>
            </a:r>
          </a:p>
        </p:txBody>
      </p:sp>
      <p:pic>
        <p:nvPicPr>
          <p:cNvPr id="13" name="Picture 12">
            <a:extLst>
              <a:ext uri="{FF2B5EF4-FFF2-40B4-BE49-F238E27FC236}">
                <a16:creationId xmlns:a16="http://schemas.microsoft.com/office/drawing/2014/main" id="{FC03FE12-BB17-D0DD-22F9-7118E5858C2E}"/>
              </a:ext>
            </a:extLst>
          </p:cNvPr>
          <p:cNvPicPr>
            <a:picLocks noChangeAspect="1"/>
          </p:cNvPicPr>
          <p:nvPr/>
        </p:nvPicPr>
        <p:blipFill>
          <a:blip r:embed="rId3"/>
          <a:stretch>
            <a:fillRect/>
          </a:stretch>
        </p:blipFill>
        <p:spPr>
          <a:xfrm>
            <a:off x="6196761" y="2899267"/>
            <a:ext cx="4179630" cy="2266775"/>
          </a:xfrm>
          <a:prstGeom prst="rect">
            <a:avLst/>
          </a:prstGeom>
        </p:spPr>
      </p:pic>
      <p:sp>
        <p:nvSpPr>
          <p:cNvPr id="14" name="TextBox 13">
            <a:extLst>
              <a:ext uri="{FF2B5EF4-FFF2-40B4-BE49-F238E27FC236}">
                <a16:creationId xmlns:a16="http://schemas.microsoft.com/office/drawing/2014/main" id="{4A5AD426-FAE2-0353-555F-42DC91E61EB6}"/>
              </a:ext>
            </a:extLst>
          </p:cNvPr>
          <p:cNvSpPr txBox="1"/>
          <p:nvPr/>
        </p:nvSpPr>
        <p:spPr>
          <a:xfrm>
            <a:off x="1744501" y="3701988"/>
            <a:ext cx="3342404" cy="1754326"/>
          </a:xfrm>
          <a:prstGeom prst="rect">
            <a:avLst/>
          </a:prstGeom>
          <a:noFill/>
        </p:spPr>
        <p:txBody>
          <a:bodyPr wrap="square" rtlCol="0">
            <a:spAutoFit/>
          </a:bodyPr>
          <a:lstStyle/>
          <a:p>
            <a:r>
              <a:rPr lang="en-IN" b="1" dirty="0">
                <a:solidFill>
                  <a:schemeClr val="bg1"/>
                </a:solidFill>
              </a:rPr>
              <a:t>Example sources:</a:t>
            </a:r>
            <a:endParaRPr lang="en-IN" dirty="0">
              <a:solidFill>
                <a:schemeClr val="bg1"/>
              </a:solidFill>
            </a:endParaRPr>
          </a:p>
          <a:p>
            <a:pPr lvl="0"/>
            <a:r>
              <a:rPr lang="en-IN" dirty="0" err="1">
                <a:solidFill>
                  <a:schemeClr val="bg1"/>
                </a:solidFill>
              </a:rPr>
              <a:t>TextLoader</a:t>
            </a:r>
            <a:endParaRPr lang="en-IN" dirty="0">
              <a:solidFill>
                <a:schemeClr val="bg1"/>
              </a:solidFill>
            </a:endParaRPr>
          </a:p>
          <a:p>
            <a:pPr lvl="0"/>
            <a:r>
              <a:rPr lang="en-IN" dirty="0" err="1">
                <a:solidFill>
                  <a:schemeClr val="bg1"/>
                </a:solidFill>
              </a:rPr>
              <a:t>PyPDFLoader</a:t>
            </a:r>
            <a:endParaRPr lang="en-IN" dirty="0">
              <a:solidFill>
                <a:schemeClr val="bg1"/>
              </a:solidFill>
            </a:endParaRPr>
          </a:p>
          <a:p>
            <a:pPr lvl="0"/>
            <a:r>
              <a:rPr lang="en-IN" dirty="0" err="1">
                <a:solidFill>
                  <a:schemeClr val="bg1"/>
                </a:solidFill>
              </a:rPr>
              <a:t>WebBaseLoader</a:t>
            </a:r>
            <a:endParaRPr lang="en-IN" dirty="0">
              <a:solidFill>
                <a:schemeClr val="bg1"/>
              </a:solidFill>
            </a:endParaRPr>
          </a:p>
          <a:p>
            <a:pPr lvl="0"/>
            <a:r>
              <a:rPr lang="en-IN" dirty="0">
                <a:solidFill>
                  <a:schemeClr val="bg1"/>
                </a:solidFill>
              </a:rPr>
              <a:t>CSV loader</a:t>
            </a:r>
          </a:p>
          <a:p>
            <a:endParaRPr lang="en-IN" dirty="0">
              <a:solidFill>
                <a:schemeClr val="bg1"/>
              </a:solidFill>
            </a:endParaRPr>
          </a:p>
        </p:txBody>
      </p:sp>
    </p:spTree>
    <p:extLst>
      <p:ext uri="{BB962C8B-B14F-4D97-AF65-F5344CB8AC3E}">
        <p14:creationId xmlns:p14="http://schemas.microsoft.com/office/powerpoint/2010/main" val="1053140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42667-900D-ABAB-E53B-0B59EC823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8350E-9031-53BA-E2B2-CDDE5733AD6B}"/>
              </a:ext>
            </a:extLst>
          </p:cNvPr>
          <p:cNvSpPr>
            <a:spLocks noGrp="1"/>
          </p:cNvSpPr>
          <p:nvPr>
            <p:ph type="ctrTitle"/>
          </p:nvPr>
        </p:nvSpPr>
        <p:spPr>
          <a:xfrm>
            <a:off x="1849922" y="221941"/>
            <a:ext cx="4204648" cy="688177"/>
          </a:xfrm>
        </p:spPr>
        <p:txBody>
          <a:bodyPr/>
          <a:lstStyle/>
          <a:p>
            <a:r>
              <a:rPr lang="en-IN" sz="4000" dirty="0"/>
              <a:t>2. Text Splitter</a:t>
            </a:r>
          </a:p>
        </p:txBody>
      </p:sp>
      <p:pic>
        <p:nvPicPr>
          <p:cNvPr id="4" name="Graphic 3" descr="Arrow: Slight curve with solid fill">
            <a:extLst>
              <a:ext uri="{FF2B5EF4-FFF2-40B4-BE49-F238E27FC236}">
                <a16:creationId xmlns:a16="http://schemas.microsoft.com/office/drawing/2014/main" id="{FDC6CFBB-DDBA-8CDC-AD6D-66A071B73CD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038B4264-E5A5-A714-2258-B668B87EB8F9}"/>
              </a:ext>
            </a:extLst>
          </p:cNvPr>
          <p:cNvSpPr txBox="1"/>
          <p:nvPr/>
        </p:nvSpPr>
        <p:spPr>
          <a:xfrm>
            <a:off x="2050742" y="1071979"/>
            <a:ext cx="7830105" cy="369332"/>
          </a:xfrm>
          <a:prstGeom prst="rect">
            <a:avLst/>
          </a:prstGeom>
          <a:noFill/>
        </p:spPr>
        <p:txBody>
          <a:bodyPr wrap="square" rtlCol="0">
            <a:spAutoFit/>
          </a:bodyPr>
          <a:lstStyle/>
          <a:p>
            <a:r>
              <a:rPr lang="en-IN" dirty="0">
                <a:solidFill>
                  <a:schemeClr val="bg1"/>
                </a:solidFill>
              </a:rPr>
              <a:t>It is very difficult and time taking to process very large documents.</a:t>
            </a:r>
          </a:p>
        </p:txBody>
      </p:sp>
      <p:pic>
        <p:nvPicPr>
          <p:cNvPr id="6" name="Graphic 5" descr="Arrow: Slight curve with solid fill">
            <a:extLst>
              <a:ext uri="{FF2B5EF4-FFF2-40B4-BE49-F238E27FC236}">
                <a16:creationId xmlns:a16="http://schemas.microsoft.com/office/drawing/2014/main" id="{492231A4-7B4C-997D-176C-FDA38F95938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445951"/>
            <a:ext cx="357326" cy="357326"/>
          </a:xfrm>
          <a:prstGeom prst="rect">
            <a:avLst/>
          </a:prstGeom>
        </p:spPr>
      </p:pic>
      <p:sp>
        <p:nvSpPr>
          <p:cNvPr id="7" name="TextBox 6">
            <a:extLst>
              <a:ext uri="{FF2B5EF4-FFF2-40B4-BE49-F238E27FC236}">
                <a16:creationId xmlns:a16="http://schemas.microsoft.com/office/drawing/2014/main" id="{E78752A5-39AE-B869-B70E-DF0B17E91F88}"/>
              </a:ext>
            </a:extLst>
          </p:cNvPr>
          <p:cNvSpPr txBox="1"/>
          <p:nvPr/>
        </p:nvSpPr>
        <p:spPr>
          <a:xfrm>
            <a:off x="2050742" y="1445951"/>
            <a:ext cx="7830105" cy="369332"/>
          </a:xfrm>
          <a:prstGeom prst="rect">
            <a:avLst/>
          </a:prstGeom>
          <a:noFill/>
        </p:spPr>
        <p:txBody>
          <a:bodyPr wrap="square" rtlCol="0">
            <a:spAutoFit/>
          </a:bodyPr>
          <a:lstStyle/>
          <a:p>
            <a:r>
              <a:rPr lang="en-IN" dirty="0">
                <a:solidFill>
                  <a:schemeClr val="bg1"/>
                </a:solidFill>
              </a:rPr>
              <a:t>Text Splitting divides documents into smaller chunks.</a:t>
            </a:r>
          </a:p>
        </p:txBody>
      </p:sp>
      <p:sp>
        <p:nvSpPr>
          <p:cNvPr id="11" name="TextBox 10">
            <a:extLst>
              <a:ext uri="{FF2B5EF4-FFF2-40B4-BE49-F238E27FC236}">
                <a16:creationId xmlns:a16="http://schemas.microsoft.com/office/drawing/2014/main" id="{FF16AF7A-257B-2FD2-9A67-C970C55D4DFE}"/>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pic>
        <p:nvPicPr>
          <p:cNvPr id="3" name="Picture 2">
            <a:extLst>
              <a:ext uri="{FF2B5EF4-FFF2-40B4-BE49-F238E27FC236}">
                <a16:creationId xmlns:a16="http://schemas.microsoft.com/office/drawing/2014/main" id="{3D3C70F5-60B8-F6AF-3CE9-FAE8074A9821}"/>
              </a:ext>
            </a:extLst>
          </p:cNvPr>
          <p:cNvPicPr>
            <a:picLocks noChangeAspect="1"/>
          </p:cNvPicPr>
          <p:nvPr/>
        </p:nvPicPr>
        <p:blipFill>
          <a:blip r:embed="rId3"/>
          <a:stretch>
            <a:fillRect/>
          </a:stretch>
        </p:blipFill>
        <p:spPr>
          <a:xfrm>
            <a:off x="5562907" y="1972976"/>
            <a:ext cx="3643939" cy="2261673"/>
          </a:xfrm>
          <a:prstGeom prst="rect">
            <a:avLst/>
          </a:prstGeom>
        </p:spPr>
      </p:pic>
    </p:spTree>
    <p:extLst>
      <p:ext uri="{BB962C8B-B14F-4D97-AF65-F5344CB8AC3E}">
        <p14:creationId xmlns:p14="http://schemas.microsoft.com/office/powerpoint/2010/main" val="37413521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DD533-BBD4-CC89-042A-4714A26A1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B4385-90CF-BEDE-AAFD-54B6EFF038D4}"/>
              </a:ext>
            </a:extLst>
          </p:cNvPr>
          <p:cNvSpPr>
            <a:spLocks noGrp="1"/>
          </p:cNvSpPr>
          <p:nvPr>
            <p:ph type="ctrTitle"/>
          </p:nvPr>
        </p:nvSpPr>
        <p:spPr>
          <a:xfrm>
            <a:off x="1849922" y="221941"/>
            <a:ext cx="4204648" cy="688177"/>
          </a:xfrm>
        </p:spPr>
        <p:txBody>
          <a:bodyPr/>
          <a:lstStyle/>
          <a:p>
            <a:r>
              <a:rPr lang="en-IN" sz="4000" dirty="0"/>
              <a:t>2. Text Splitter</a:t>
            </a:r>
          </a:p>
        </p:txBody>
      </p:sp>
      <p:pic>
        <p:nvPicPr>
          <p:cNvPr id="4" name="Graphic 3" descr="Arrow: Slight curve with solid fill">
            <a:extLst>
              <a:ext uri="{FF2B5EF4-FFF2-40B4-BE49-F238E27FC236}">
                <a16:creationId xmlns:a16="http://schemas.microsoft.com/office/drawing/2014/main" id="{677570D9-38BA-D9F0-E1C7-3CC8C81C9BC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55BE9071-D816-6ADD-CA17-93AFCDA7621D}"/>
              </a:ext>
            </a:extLst>
          </p:cNvPr>
          <p:cNvSpPr txBox="1"/>
          <p:nvPr/>
        </p:nvSpPr>
        <p:spPr>
          <a:xfrm>
            <a:off x="2050742" y="1071979"/>
            <a:ext cx="7830105" cy="369332"/>
          </a:xfrm>
          <a:prstGeom prst="rect">
            <a:avLst/>
          </a:prstGeom>
          <a:noFill/>
        </p:spPr>
        <p:txBody>
          <a:bodyPr wrap="square" rtlCol="0">
            <a:spAutoFit/>
          </a:bodyPr>
          <a:lstStyle/>
          <a:p>
            <a:r>
              <a:rPr lang="en-IN" dirty="0">
                <a:solidFill>
                  <a:schemeClr val="bg1"/>
                </a:solidFill>
              </a:rPr>
              <a:t>It is very difficult and time taking to process very large documents.</a:t>
            </a:r>
          </a:p>
        </p:txBody>
      </p:sp>
      <p:pic>
        <p:nvPicPr>
          <p:cNvPr id="6" name="Graphic 5" descr="Arrow: Slight curve with solid fill">
            <a:extLst>
              <a:ext uri="{FF2B5EF4-FFF2-40B4-BE49-F238E27FC236}">
                <a16:creationId xmlns:a16="http://schemas.microsoft.com/office/drawing/2014/main" id="{401C8116-95CA-2EC5-5BC5-6E211E966E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445951"/>
            <a:ext cx="357326" cy="357326"/>
          </a:xfrm>
          <a:prstGeom prst="rect">
            <a:avLst/>
          </a:prstGeom>
        </p:spPr>
      </p:pic>
      <p:sp>
        <p:nvSpPr>
          <p:cNvPr id="7" name="TextBox 6">
            <a:extLst>
              <a:ext uri="{FF2B5EF4-FFF2-40B4-BE49-F238E27FC236}">
                <a16:creationId xmlns:a16="http://schemas.microsoft.com/office/drawing/2014/main" id="{53D32FF3-1BB1-17A9-4C77-50A9BFF9708F}"/>
              </a:ext>
            </a:extLst>
          </p:cNvPr>
          <p:cNvSpPr txBox="1"/>
          <p:nvPr/>
        </p:nvSpPr>
        <p:spPr>
          <a:xfrm>
            <a:off x="2050742" y="1445951"/>
            <a:ext cx="7830105" cy="369332"/>
          </a:xfrm>
          <a:prstGeom prst="rect">
            <a:avLst/>
          </a:prstGeom>
          <a:noFill/>
        </p:spPr>
        <p:txBody>
          <a:bodyPr wrap="square" rtlCol="0">
            <a:spAutoFit/>
          </a:bodyPr>
          <a:lstStyle/>
          <a:p>
            <a:r>
              <a:rPr lang="en-IN" dirty="0">
                <a:solidFill>
                  <a:schemeClr val="bg1"/>
                </a:solidFill>
              </a:rPr>
              <a:t>Text Splitting divides documents into smaller chunks.</a:t>
            </a:r>
          </a:p>
        </p:txBody>
      </p:sp>
      <p:pic>
        <p:nvPicPr>
          <p:cNvPr id="10" name="Graphic 9" descr="Arrow: Slight curve with solid fill">
            <a:extLst>
              <a:ext uri="{FF2B5EF4-FFF2-40B4-BE49-F238E27FC236}">
                <a16:creationId xmlns:a16="http://schemas.microsoft.com/office/drawing/2014/main" id="{AE334D25-E97B-2664-A144-B36A208855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3964587"/>
            <a:ext cx="357326" cy="357326"/>
          </a:xfrm>
          <a:prstGeom prst="rect">
            <a:avLst/>
          </a:prstGeom>
        </p:spPr>
      </p:pic>
      <p:sp>
        <p:nvSpPr>
          <p:cNvPr id="11" name="TextBox 10">
            <a:extLst>
              <a:ext uri="{FF2B5EF4-FFF2-40B4-BE49-F238E27FC236}">
                <a16:creationId xmlns:a16="http://schemas.microsoft.com/office/drawing/2014/main" id="{E645E889-F15E-B254-4BAA-876DDE021020}"/>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12" name="TextBox 11">
            <a:extLst>
              <a:ext uri="{FF2B5EF4-FFF2-40B4-BE49-F238E27FC236}">
                <a16:creationId xmlns:a16="http://schemas.microsoft.com/office/drawing/2014/main" id="{71C5C325-F7E0-3DCA-4A27-39B54C7CEFF6}"/>
              </a:ext>
            </a:extLst>
          </p:cNvPr>
          <p:cNvSpPr txBox="1"/>
          <p:nvPr/>
        </p:nvSpPr>
        <p:spPr>
          <a:xfrm>
            <a:off x="2050742" y="3964587"/>
            <a:ext cx="6800295" cy="1200329"/>
          </a:xfrm>
          <a:prstGeom prst="rect">
            <a:avLst/>
          </a:prstGeom>
          <a:noFill/>
        </p:spPr>
        <p:txBody>
          <a:bodyPr wrap="square" rtlCol="0">
            <a:spAutoFit/>
          </a:bodyPr>
          <a:lstStyle/>
          <a:p>
            <a:pPr lvl="0"/>
            <a:r>
              <a:rPr lang="en-IN" dirty="0">
                <a:solidFill>
                  <a:schemeClr val="bg1"/>
                </a:solidFill>
              </a:rPr>
              <a:t>Types :</a:t>
            </a:r>
          </a:p>
          <a:p>
            <a:pPr lvl="0"/>
            <a:r>
              <a:rPr lang="en-IN" dirty="0">
                <a:solidFill>
                  <a:schemeClr val="bg1"/>
                </a:solidFill>
              </a:rPr>
              <a:t>1. Character Text Splitter</a:t>
            </a:r>
          </a:p>
          <a:p>
            <a:pPr lvl="0"/>
            <a:r>
              <a:rPr lang="en-IN" dirty="0">
                <a:solidFill>
                  <a:schemeClr val="bg1"/>
                </a:solidFill>
              </a:rPr>
              <a:t>2. Recursive Character Text Splitter</a:t>
            </a:r>
          </a:p>
          <a:p>
            <a:pPr lvl="0"/>
            <a:r>
              <a:rPr lang="en-IN" dirty="0">
                <a:solidFill>
                  <a:schemeClr val="bg1"/>
                </a:solidFill>
              </a:rPr>
              <a:t>3. Recursive Character Text Splitter Based On Languages</a:t>
            </a:r>
          </a:p>
        </p:txBody>
      </p:sp>
      <p:pic>
        <p:nvPicPr>
          <p:cNvPr id="3" name="Picture 2">
            <a:extLst>
              <a:ext uri="{FF2B5EF4-FFF2-40B4-BE49-F238E27FC236}">
                <a16:creationId xmlns:a16="http://schemas.microsoft.com/office/drawing/2014/main" id="{893656C0-0F63-4601-B6C7-6B1A8BD0129F}"/>
              </a:ext>
            </a:extLst>
          </p:cNvPr>
          <p:cNvPicPr>
            <a:picLocks noChangeAspect="1"/>
          </p:cNvPicPr>
          <p:nvPr/>
        </p:nvPicPr>
        <p:blipFill>
          <a:blip r:embed="rId3"/>
          <a:stretch>
            <a:fillRect/>
          </a:stretch>
        </p:blipFill>
        <p:spPr>
          <a:xfrm>
            <a:off x="5562907" y="1972976"/>
            <a:ext cx="3643939" cy="2261673"/>
          </a:xfrm>
          <a:prstGeom prst="rect">
            <a:avLst/>
          </a:prstGeom>
        </p:spPr>
      </p:pic>
    </p:spTree>
    <p:extLst>
      <p:ext uri="{BB962C8B-B14F-4D97-AF65-F5344CB8AC3E}">
        <p14:creationId xmlns:p14="http://schemas.microsoft.com/office/powerpoint/2010/main" val="7992913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734A0-DAB5-7169-705D-4967D5245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55C24-1F6E-3CC5-325E-CBD6A476FE22}"/>
              </a:ext>
            </a:extLst>
          </p:cNvPr>
          <p:cNvSpPr>
            <a:spLocks noGrp="1"/>
          </p:cNvSpPr>
          <p:nvPr>
            <p:ph type="ctrTitle"/>
          </p:nvPr>
        </p:nvSpPr>
        <p:spPr>
          <a:xfrm>
            <a:off x="1849922" y="221941"/>
            <a:ext cx="4204648" cy="688177"/>
          </a:xfrm>
        </p:spPr>
        <p:txBody>
          <a:bodyPr/>
          <a:lstStyle/>
          <a:p>
            <a:r>
              <a:rPr lang="en-IN" sz="4000" dirty="0"/>
              <a:t>3. Vector Stores</a:t>
            </a:r>
          </a:p>
        </p:txBody>
      </p:sp>
      <p:pic>
        <p:nvPicPr>
          <p:cNvPr id="4" name="Graphic 3" descr="Arrow: Slight curve with solid fill">
            <a:extLst>
              <a:ext uri="{FF2B5EF4-FFF2-40B4-BE49-F238E27FC236}">
                <a16:creationId xmlns:a16="http://schemas.microsoft.com/office/drawing/2014/main" id="{07967ECA-D795-7E55-9505-91C39FD9A72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F2176BF5-C571-630A-957E-B46D4D1E486F}"/>
              </a:ext>
            </a:extLst>
          </p:cNvPr>
          <p:cNvSpPr txBox="1"/>
          <p:nvPr/>
        </p:nvSpPr>
        <p:spPr>
          <a:xfrm>
            <a:off x="2050742" y="1071979"/>
            <a:ext cx="9419208" cy="369332"/>
          </a:xfrm>
          <a:prstGeom prst="rect">
            <a:avLst/>
          </a:prstGeom>
          <a:noFill/>
        </p:spPr>
        <p:txBody>
          <a:bodyPr wrap="square" rtlCol="0">
            <a:spAutoFit/>
          </a:bodyPr>
          <a:lstStyle/>
          <a:p>
            <a:r>
              <a:rPr lang="en-US" dirty="0">
                <a:solidFill>
                  <a:schemeClr val="bg1"/>
                </a:solidFill>
              </a:rPr>
              <a:t>A vector store is a system designed to store and retrieve data represented as numerical vectors.</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1938AE7B-A6FD-4D38-123B-033FE42E76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445951"/>
            <a:ext cx="357326" cy="357326"/>
          </a:xfrm>
          <a:prstGeom prst="rect">
            <a:avLst/>
          </a:prstGeom>
        </p:spPr>
      </p:pic>
      <p:sp>
        <p:nvSpPr>
          <p:cNvPr id="7" name="TextBox 6">
            <a:extLst>
              <a:ext uri="{FF2B5EF4-FFF2-40B4-BE49-F238E27FC236}">
                <a16:creationId xmlns:a16="http://schemas.microsoft.com/office/drawing/2014/main" id="{3A0801BA-302A-1AB7-897C-701BFB3517E6}"/>
              </a:ext>
            </a:extLst>
          </p:cNvPr>
          <p:cNvSpPr txBox="1"/>
          <p:nvPr/>
        </p:nvSpPr>
        <p:spPr>
          <a:xfrm>
            <a:off x="2050742" y="1445951"/>
            <a:ext cx="7830105" cy="646331"/>
          </a:xfrm>
          <a:prstGeom prst="rect">
            <a:avLst/>
          </a:prstGeom>
          <a:noFill/>
        </p:spPr>
        <p:txBody>
          <a:bodyPr wrap="square" rtlCol="0">
            <a:spAutoFit/>
          </a:bodyPr>
          <a:lstStyle/>
          <a:p>
            <a:r>
              <a:rPr lang="en-US" dirty="0">
                <a:solidFill>
                  <a:schemeClr val="bg1"/>
                </a:solidFill>
              </a:rPr>
              <a:t>Typically refers to a lightweight library or service that focuses on storing vectors (embeddings) and performing similarity search.</a:t>
            </a:r>
            <a:endParaRPr lang="en-IN" dirty="0">
              <a:solidFill>
                <a:schemeClr val="bg1"/>
              </a:solidFill>
            </a:endParaRPr>
          </a:p>
        </p:txBody>
      </p:sp>
      <p:sp>
        <p:nvSpPr>
          <p:cNvPr id="11" name="TextBox 10">
            <a:extLst>
              <a:ext uri="{FF2B5EF4-FFF2-40B4-BE49-F238E27FC236}">
                <a16:creationId xmlns:a16="http://schemas.microsoft.com/office/drawing/2014/main" id="{1FB574CB-2990-3B0F-AA14-293F6D0EA3E2}"/>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23" name="TextBox 22">
            <a:extLst>
              <a:ext uri="{FF2B5EF4-FFF2-40B4-BE49-F238E27FC236}">
                <a16:creationId xmlns:a16="http://schemas.microsoft.com/office/drawing/2014/main" id="{74B64E26-766C-E522-710C-6B055F2D1A9A}"/>
              </a:ext>
            </a:extLst>
          </p:cNvPr>
          <p:cNvSpPr txBox="1"/>
          <p:nvPr/>
        </p:nvSpPr>
        <p:spPr>
          <a:xfrm>
            <a:off x="1744501" y="3038784"/>
            <a:ext cx="6094520" cy="1477328"/>
          </a:xfrm>
          <a:prstGeom prst="rect">
            <a:avLst/>
          </a:prstGeom>
          <a:noFill/>
        </p:spPr>
        <p:txBody>
          <a:bodyPr wrap="square">
            <a:spAutoFit/>
          </a:bodyPr>
          <a:lstStyle/>
          <a:p>
            <a:pPr>
              <a:buNone/>
            </a:pPr>
            <a:r>
              <a:rPr lang="en-US" b="1" dirty="0">
                <a:solidFill>
                  <a:schemeClr val="bg1"/>
                </a:solidFill>
              </a:rPr>
              <a:t>🧠 Simple Explanation</a:t>
            </a:r>
          </a:p>
          <a:p>
            <a:pPr>
              <a:buNone/>
            </a:pPr>
            <a:r>
              <a:rPr lang="en-US" dirty="0">
                <a:solidFill>
                  <a:schemeClr val="bg1"/>
                </a:solidFill>
              </a:rPr>
              <a:t>Instead of storing text normally, we convert it into </a:t>
            </a:r>
            <a:r>
              <a:rPr lang="en-US" b="1" dirty="0">
                <a:solidFill>
                  <a:schemeClr val="bg1"/>
                </a:solidFill>
              </a:rPr>
              <a:t>numbers that represent meaning</a:t>
            </a:r>
            <a:r>
              <a:rPr lang="en-US" dirty="0">
                <a:solidFill>
                  <a:schemeClr val="bg1"/>
                </a:solidFill>
              </a:rPr>
              <a:t>.</a:t>
            </a:r>
          </a:p>
          <a:p>
            <a:pPr>
              <a:buNone/>
            </a:pPr>
            <a:r>
              <a:rPr lang="en-US" dirty="0">
                <a:solidFill>
                  <a:schemeClr val="bg1"/>
                </a:solidFill>
              </a:rPr>
              <a:t>👉 These numbers are called </a:t>
            </a:r>
            <a:r>
              <a:rPr lang="en-US" b="1" dirty="0">
                <a:solidFill>
                  <a:schemeClr val="bg1"/>
                </a:solidFill>
              </a:rPr>
              <a:t>embeddings</a:t>
            </a:r>
            <a:br>
              <a:rPr lang="en-US" dirty="0">
                <a:solidFill>
                  <a:schemeClr val="bg1"/>
                </a:solidFill>
              </a:rPr>
            </a:br>
            <a:r>
              <a:rPr lang="en-US" dirty="0">
                <a:solidFill>
                  <a:schemeClr val="bg1"/>
                </a:solidFill>
              </a:rPr>
              <a:t>👉 And they are stored inside a </a:t>
            </a:r>
            <a:r>
              <a:rPr lang="en-US" b="1" dirty="0">
                <a:solidFill>
                  <a:schemeClr val="bg1"/>
                </a:solidFill>
              </a:rPr>
              <a:t>vector store</a:t>
            </a:r>
            <a:endParaRPr lang="en-US" dirty="0">
              <a:solidFill>
                <a:schemeClr val="bg1"/>
              </a:solidFill>
            </a:endParaRPr>
          </a:p>
        </p:txBody>
      </p:sp>
    </p:spTree>
    <p:extLst>
      <p:ext uri="{BB962C8B-B14F-4D97-AF65-F5344CB8AC3E}">
        <p14:creationId xmlns:p14="http://schemas.microsoft.com/office/powerpoint/2010/main" val="1618933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969D7-3289-010D-120E-D1EFD79ED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15FE7-C2D7-8498-40FC-CD4A1DC662BB}"/>
              </a:ext>
            </a:extLst>
          </p:cNvPr>
          <p:cNvSpPr>
            <a:spLocks noGrp="1"/>
          </p:cNvSpPr>
          <p:nvPr>
            <p:ph type="ctrTitle"/>
          </p:nvPr>
        </p:nvSpPr>
        <p:spPr>
          <a:xfrm>
            <a:off x="1849922" y="221941"/>
            <a:ext cx="4204648" cy="688177"/>
          </a:xfrm>
        </p:spPr>
        <p:txBody>
          <a:bodyPr/>
          <a:lstStyle/>
          <a:p>
            <a:r>
              <a:rPr lang="en-IN" sz="4000" dirty="0"/>
              <a:t>Vector Stores</a:t>
            </a:r>
          </a:p>
        </p:txBody>
      </p:sp>
      <p:pic>
        <p:nvPicPr>
          <p:cNvPr id="4" name="Graphic 3" descr="Arrow: Slight curve with solid fill">
            <a:extLst>
              <a:ext uri="{FF2B5EF4-FFF2-40B4-BE49-F238E27FC236}">
                <a16:creationId xmlns:a16="http://schemas.microsoft.com/office/drawing/2014/main" id="{995B6D93-65C6-E578-9D1A-F8D1B67A39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C333AD70-2C95-DAC6-5987-33FC4799CCA4}"/>
              </a:ext>
            </a:extLst>
          </p:cNvPr>
          <p:cNvSpPr txBox="1"/>
          <p:nvPr/>
        </p:nvSpPr>
        <p:spPr>
          <a:xfrm>
            <a:off x="2050742" y="1071979"/>
            <a:ext cx="9419208" cy="369332"/>
          </a:xfrm>
          <a:prstGeom prst="rect">
            <a:avLst/>
          </a:prstGeom>
          <a:noFill/>
        </p:spPr>
        <p:txBody>
          <a:bodyPr wrap="square" rtlCol="0">
            <a:spAutoFit/>
          </a:bodyPr>
          <a:lstStyle/>
          <a:p>
            <a:r>
              <a:rPr lang="en-US" dirty="0">
                <a:solidFill>
                  <a:schemeClr val="bg1"/>
                </a:solidFill>
              </a:rPr>
              <a:t>A vector store is a system designed to store and retrieve data represented as numerical vectors.</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9C83C775-F985-F143-18FF-4272313364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445951"/>
            <a:ext cx="357326" cy="357326"/>
          </a:xfrm>
          <a:prstGeom prst="rect">
            <a:avLst/>
          </a:prstGeom>
        </p:spPr>
      </p:pic>
      <p:sp>
        <p:nvSpPr>
          <p:cNvPr id="7" name="TextBox 6">
            <a:extLst>
              <a:ext uri="{FF2B5EF4-FFF2-40B4-BE49-F238E27FC236}">
                <a16:creationId xmlns:a16="http://schemas.microsoft.com/office/drawing/2014/main" id="{6028F382-5609-2850-093C-CB0FEAA31D16}"/>
              </a:ext>
            </a:extLst>
          </p:cNvPr>
          <p:cNvSpPr txBox="1"/>
          <p:nvPr/>
        </p:nvSpPr>
        <p:spPr>
          <a:xfrm>
            <a:off x="2050742" y="1445951"/>
            <a:ext cx="7830105" cy="646331"/>
          </a:xfrm>
          <a:prstGeom prst="rect">
            <a:avLst/>
          </a:prstGeom>
          <a:noFill/>
        </p:spPr>
        <p:txBody>
          <a:bodyPr wrap="square" rtlCol="0">
            <a:spAutoFit/>
          </a:bodyPr>
          <a:lstStyle/>
          <a:p>
            <a:r>
              <a:rPr lang="en-US" dirty="0">
                <a:solidFill>
                  <a:schemeClr val="bg1"/>
                </a:solidFill>
              </a:rPr>
              <a:t>Typically refers to a lightweight library or service that focuses on storing vectors (embeddings) and performing similarity search.</a:t>
            </a:r>
            <a:endParaRPr lang="en-IN" dirty="0">
              <a:solidFill>
                <a:schemeClr val="bg1"/>
              </a:solidFill>
            </a:endParaRPr>
          </a:p>
        </p:txBody>
      </p:sp>
      <p:sp>
        <p:nvSpPr>
          <p:cNvPr id="11" name="TextBox 10">
            <a:extLst>
              <a:ext uri="{FF2B5EF4-FFF2-40B4-BE49-F238E27FC236}">
                <a16:creationId xmlns:a16="http://schemas.microsoft.com/office/drawing/2014/main" id="{5CB8032E-4CC2-FCA5-06DF-E4F09B24A17E}"/>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16" name="Title 1">
            <a:extLst>
              <a:ext uri="{FF2B5EF4-FFF2-40B4-BE49-F238E27FC236}">
                <a16:creationId xmlns:a16="http://schemas.microsoft.com/office/drawing/2014/main" id="{058A21F2-E439-95A4-E13C-1BE5FD171548}"/>
              </a:ext>
            </a:extLst>
          </p:cNvPr>
          <p:cNvSpPr txBox="1">
            <a:spLocks/>
          </p:cNvSpPr>
          <p:nvPr/>
        </p:nvSpPr>
        <p:spPr>
          <a:xfrm>
            <a:off x="1849922" y="2445719"/>
            <a:ext cx="4204648" cy="688177"/>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6500" kern="1200" cap="none">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000" dirty="0"/>
              <a:t>Vector Databases</a:t>
            </a:r>
          </a:p>
        </p:txBody>
      </p:sp>
      <p:pic>
        <p:nvPicPr>
          <p:cNvPr id="17" name="Graphic 16" descr="Arrow: Slight curve with solid fill">
            <a:extLst>
              <a:ext uri="{FF2B5EF4-FFF2-40B4-BE49-F238E27FC236}">
                <a16:creationId xmlns:a16="http://schemas.microsoft.com/office/drawing/2014/main" id="{2F133046-506B-061B-44B6-3ACD3E8B2F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3295757"/>
            <a:ext cx="357326" cy="357326"/>
          </a:xfrm>
          <a:prstGeom prst="rect">
            <a:avLst/>
          </a:prstGeom>
        </p:spPr>
      </p:pic>
      <p:sp>
        <p:nvSpPr>
          <p:cNvPr id="18" name="TextBox 17">
            <a:extLst>
              <a:ext uri="{FF2B5EF4-FFF2-40B4-BE49-F238E27FC236}">
                <a16:creationId xmlns:a16="http://schemas.microsoft.com/office/drawing/2014/main" id="{8BF6308C-332E-CD0C-F278-D00D6602A2D1}"/>
              </a:ext>
            </a:extLst>
          </p:cNvPr>
          <p:cNvSpPr txBox="1"/>
          <p:nvPr/>
        </p:nvSpPr>
        <p:spPr>
          <a:xfrm>
            <a:off x="2050742" y="3295757"/>
            <a:ext cx="9419208" cy="369332"/>
          </a:xfrm>
          <a:prstGeom prst="rect">
            <a:avLst/>
          </a:prstGeom>
          <a:noFill/>
        </p:spPr>
        <p:txBody>
          <a:bodyPr wrap="square" rtlCol="0">
            <a:spAutoFit/>
          </a:bodyPr>
          <a:lstStyle/>
          <a:p>
            <a:r>
              <a:rPr lang="en-US" dirty="0">
                <a:solidFill>
                  <a:schemeClr val="bg1"/>
                </a:solidFill>
              </a:rPr>
              <a:t>A full-fledged database system designed to store and query vectors.</a:t>
            </a:r>
            <a:endParaRPr lang="en-IN" dirty="0">
              <a:solidFill>
                <a:schemeClr val="bg1"/>
              </a:solidFill>
            </a:endParaRPr>
          </a:p>
        </p:txBody>
      </p:sp>
      <p:pic>
        <p:nvPicPr>
          <p:cNvPr id="19" name="Graphic 18" descr="Arrow: Slight curve with solid fill">
            <a:extLst>
              <a:ext uri="{FF2B5EF4-FFF2-40B4-BE49-F238E27FC236}">
                <a16:creationId xmlns:a16="http://schemas.microsoft.com/office/drawing/2014/main" id="{DC04D3C0-1C78-AED8-015B-DD056060033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3669729"/>
            <a:ext cx="357326" cy="357326"/>
          </a:xfrm>
          <a:prstGeom prst="rect">
            <a:avLst/>
          </a:prstGeom>
        </p:spPr>
      </p:pic>
      <p:sp>
        <p:nvSpPr>
          <p:cNvPr id="20" name="TextBox 19">
            <a:extLst>
              <a:ext uri="{FF2B5EF4-FFF2-40B4-BE49-F238E27FC236}">
                <a16:creationId xmlns:a16="http://schemas.microsoft.com/office/drawing/2014/main" id="{57207EF7-1F4B-1FC6-A4D1-ACE38B515896}"/>
              </a:ext>
            </a:extLst>
          </p:cNvPr>
          <p:cNvSpPr txBox="1"/>
          <p:nvPr/>
        </p:nvSpPr>
        <p:spPr>
          <a:xfrm>
            <a:off x="2050742" y="3669729"/>
            <a:ext cx="7830105" cy="1446550"/>
          </a:xfrm>
          <a:prstGeom prst="rect">
            <a:avLst/>
          </a:prstGeom>
          <a:noFill/>
        </p:spPr>
        <p:txBody>
          <a:bodyPr wrap="square" rtlCol="0">
            <a:spAutoFit/>
          </a:bodyPr>
          <a:lstStyle/>
          <a:p>
            <a:r>
              <a:rPr lang="en-IN" dirty="0">
                <a:solidFill>
                  <a:schemeClr val="bg1"/>
                </a:solidFill>
              </a:rPr>
              <a:t>Offers additional “database-like” features:</a:t>
            </a:r>
          </a:p>
          <a:p>
            <a:r>
              <a:rPr lang="en-IN" sz="1400" dirty="0">
                <a:solidFill>
                  <a:schemeClr val="bg1"/>
                </a:solidFill>
              </a:rPr>
              <a:t> ▪ Distributed architecture for horizontal scaling </a:t>
            </a:r>
          </a:p>
          <a:p>
            <a:r>
              <a:rPr lang="en-IN" sz="1400" dirty="0">
                <a:solidFill>
                  <a:schemeClr val="bg1"/>
                </a:solidFill>
              </a:rPr>
              <a:t> ▪ Durability and persistence (replication, backup/restore)</a:t>
            </a:r>
          </a:p>
          <a:p>
            <a:r>
              <a:rPr lang="en-IN" sz="1400" dirty="0">
                <a:solidFill>
                  <a:schemeClr val="bg1"/>
                </a:solidFill>
              </a:rPr>
              <a:t> ▪ Metadata handling (schemas, filters)</a:t>
            </a:r>
          </a:p>
          <a:p>
            <a:r>
              <a:rPr lang="en-IN" sz="1400" dirty="0">
                <a:solidFill>
                  <a:schemeClr val="bg1"/>
                </a:solidFill>
              </a:rPr>
              <a:t> ▪ Potential for ACID or near-ACID guarantees</a:t>
            </a:r>
          </a:p>
          <a:p>
            <a:r>
              <a:rPr lang="en-IN" sz="1400" dirty="0">
                <a:solidFill>
                  <a:schemeClr val="bg1"/>
                </a:solidFill>
              </a:rPr>
              <a:t> ▪ Authentication/authorization and more advanced security </a:t>
            </a:r>
          </a:p>
        </p:txBody>
      </p:sp>
    </p:spTree>
    <p:extLst>
      <p:ext uri="{BB962C8B-B14F-4D97-AF65-F5344CB8AC3E}">
        <p14:creationId xmlns:p14="http://schemas.microsoft.com/office/powerpoint/2010/main" val="1408126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AF43F-5765-47D0-E4C6-BB1387484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80D95-668F-8308-FB9F-1CC99E1ADD39}"/>
              </a:ext>
            </a:extLst>
          </p:cNvPr>
          <p:cNvSpPr>
            <a:spLocks noGrp="1"/>
          </p:cNvSpPr>
          <p:nvPr>
            <p:ph type="ctrTitle"/>
          </p:nvPr>
        </p:nvSpPr>
        <p:spPr>
          <a:xfrm>
            <a:off x="1849922" y="221941"/>
            <a:ext cx="4204648" cy="688177"/>
          </a:xfrm>
        </p:spPr>
        <p:txBody>
          <a:bodyPr/>
          <a:lstStyle/>
          <a:p>
            <a:r>
              <a:rPr lang="en-IN" sz="4000" dirty="0"/>
              <a:t>Vector Stores</a:t>
            </a:r>
          </a:p>
        </p:txBody>
      </p:sp>
      <p:pic>
        <p:nvPicPr>
          <p:cNvPr id="4" name="Graphic 3" descr="Arrow: Slight curve with solid fill">
            <a:extLst>
              <a:ext uri="{FF2B5EF4-FFF2-40B4-BE49-F238E27FC236}">
                <a16:creationId xmlns:a16="http://schemas.microsoft.com/office/drawing/2014/main" id="{A0F3F4BA-8C76-DBF0-27EB-FE0B9B0EB4F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FFD53CB9-77C3-36A6-889E-B0DB607BADE4}"/>
              </a:ext>
            </a:extLst>
          </p:cNvPr>
          <p:cNvSpPr txBox="1"/>
          <p:nvPr/>
        </p:nvSpPr>
        <p:spPr>
          <a:xfrm>
            <a:off x="2050742" y="1071979"/>
            <a:ext cx="9419208" cy="369332"/>
          </a:xfrm>
          <a:prstGeom prst="rect">
            <a:avLst/>
          </a:prstGeom>
          <a:noFill/>
        </p:spPr>
        <p:txBody>
          <a:bodyPr wrap="square" rtlCol="0">
            <a:spAutoFit/>
          </a:bodyPr>
          <a:lstStyle/>
          <a:p>
            <a:r>
              <a:rPr lang="en-US" dirty="0">
                <a:solidFill>
                  <a:schemeClr val="bg1"/>
                </a:solidFill>
              </a:rPr>
              <a:t>A vector store is a system designed to store and retrieve data represented as numerical vectors.</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75AD59A5-1D2A-E5C9-E896-C7A54EB661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445951"/>
            <a:ext cx="357326" cy="357326"/>
          </a:xfrm>
          <a:prstGeom prst="rect">
            <a:avLst/>
          </a:prstGeom>
        </p:spPr>
      </p:pic>
      <p:sp>
        <p:nvSpPr>
          <p:cNvPr id="7" name="TextBox 6">
            <a:extLst>
              <a:ext uri="{FF2B5EF4-FFF2-40B4-BE49-F238E27FC236}">
                <a16:creationId xmlns:a16="http://schemas.microsoft.com/office/drawing/2014/main" id="{1D2DD16A-F872-6F25-F973-76C6A3B0F709}"/>
              </a:ext>
            </a:extLst>
          </p:cNvPr>
          <p:cNvSpPr txBox="1"/>
          <p:nvPr/>
        </p:nvSpPr>
        <p:spPr>
          <a:xfrm>
            <a:off x="2050742" y="1445951"/>
            <a:ext cx="7830105" cy="646331"/>
          </a:xfrm>
          <a:prstGeom prst="rect">
            <a:avLst/>
          </a:prstGeom>
          <a:noFill/>
        </p:spPr>
        <p:txBody>
          <a:bodyPr wrap="square" rtlCol="0">
            <a:spAutoFit/>
          </a:bodyPr>
          <a:lstStyle/>
          <a:p>
            <a:r>
              <a:rPr lang="en-US" dirty="0">
                <a:solidFill>
                  <a:schemeClr val="bg1"/>
                </a:solidFill>
              </a:rPr>
              <a:t>Typically refers to a lightweight library or service that focuses on storing vectors (embeddings) and performing similarity search.</a:t>
            </a:r>
            <a:endParaRPr lang="en-IN" dirty="0">
              <a:solidFill>
                <a:schemeClr val="bg1"/>
              </a:solidFill>
            </a:endParaRPr>
          </a:p>
        </p:txBody>
      </p:sp>
      <p:pic>
        <p:nvPicPr>
          <p:cNvPr id="10" name="Graphic 9" descr="Arrow: Slight curve with solid fill">
            <a:extLst>
              <a:ext uri="{FF2B5EF4-FFF2-40B4-BE49-F238E27FC236}">
                <a16:creationId xmlns:a16="http://schemas.microsoft.com/office/drawing/2014/main" id="{D00D835D-FB04-1531-E971-16DFAFC2F5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06871" y="5677977"/>
            <a:ext cx="357326" cy="357326"/>
          </a:xfrm>
          <a:prstGeom prst="rect">
            <a:avLst/>
          </a:prstGeom>
        </p:spPr>
      </p:pic>
      <p:sp>
        <p:nvSpPr>
          <p:cNvPr id="11" name="TextBox 10">
            <a:extLst>
              <a:ext uri="{FF2B5EF4-FFF2-40B4-BE49-F238E27FC236}">
                <a16:creationId xmlns:a16="http://schemas.microsoft.com/office/drawing/2014/main" id="{1000484B-D9BF-0C71-D3CE-9D8576AE8523}"/>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16" name="Title 1">
            <a:extLst>
              <a:ext uri="{FF2B5EF4-FFF2-40B4-BE49-F238E27FC236}">
                <a16:creationId xmlns:a16="http://schemas.microsoft.com/office/drawing/2014/main" id="{F34E2C48-935D-D5D9-0F49-29E01F631974}"/>
              </a:ext>
            </a:extLst>
          </p:cNvPr>
          <p:cNvSpPr txBox="1">
            <a:spLocks/>
          </p:cNvSpPr>
          <p:nvPr/>
        </p:nvSpPr>
        <p:spPr>
          <a:xfrm>
            <a:off x="1849922" y="2445719"/>
            <a:ext cx="4204648" cy="688177"/>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6500" kern="1200" cap="none">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000" dirty="0"/>
              <a:t>Vector Databases</a:t>
            </a:r>
          </a:p>
        </p:txBody>
      </p:sp>
      <p:pic>
        <p:nvPicPr>
          <p:cNvPr id="17" name="Graphic 16" descr="Arrow: Slight curve with solid fill">
            <a:extLst>
              <a:ext uri="{FF2B5EF4-FFF2-40B4-BE49-F238E27FC236}">
                <a16:creationId xmlns:a16="http://schemas.microsoft.com/office/drawing/2014/main" id="{38BBA909-0F86-E997-0639-556AEFFA6B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3295757"/>
            <a:ext cx="357326" cy="357326"/>
          </a:xfrm>
          <a:prstGeom prst="rect">
            <a:avLst/>
          </a:prstGeom>
        </p:spPr>
      </p:pic>
      <p:sp>
        <p:nvSpPr>
          <p:cNvPr id="18" name="TextBox 17">
            <a:extLst>
              <a:ext uri="{FF2B5EF4-FFF2-40B4-BE49-F238E27FC236}">
                <a16:creationId xmlns:a16="http://schemas.microsoft.com/office/drawing/2014/main" id="{EFF1A82A-47B7-1715-4B03-EEDB46E6472B}"/>
              </a:ext>
            </a:extLst>
          </p:cNvPr>
          <p:cNvSpPr txBox="1"/>
          <p:nvPr/>
        </p:nvSpPr>
        <p:spPr>
          <a:xfrm>
            <a:off x="2050742" y="3295757"/>
            <a:ext cx="9419208" cy="369332"/>
          </a:xfrm>
          <a:prstGeom prst="rect">
            <a:avLst/>
          </a:prstGeom>
          <a:noFill/>
        </p:spPr>
        <p:txBody>
          <a:bodyPr wrap="square" rtlCol="0">
            <a:spAutoFit/>
          </a:bodyPr>
          <a:lstStyle/>
          <a:p>
            <a:r>
              <a:rPr lang="en-US" dirty="0">
                <a:solidFill>
                  <a:schemeClr val="bg1"/>
                </a:solidFill>
              </a:rPr>
              <a:t>A full-fledged database system designed to store and query vectors.</a:t>
            </a:r>
            <a:endParaRPr lang="en-IN" dirty="0">
              <a:solidFill>
                <a:schemeClr val="bg1"/>
              </a:solidFill>
            </a:endParaRPr>
          </a:p>
        </p:txBody>
      </p:sp>
      <p:pic>
        <p:nvPicPr>
          <p:cNvPr id="19" name="Graphic 18" descr="Arrow: Slight curve with solid fill">
            <a:extLst>
              <a:ext uri="{FF2B5EF4-FFF2-40B4-BE49-F238E27FC236}">
                <a16:creationId xmlns:a16="http://schemas.microsoft.com/office/drawing/2014/main" id="{98A03757-7E52-C362-C49C-620531E91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3669729"/>
            <a:ext cx="357326" cy="357326"/>
          </a:xfrm>
          <a:prstGeom prst="rect">
            <a:avLst/>
          </a:prstGeom>
        </p:spPr>
      </p:pic>
      <p:sp>
        <p:nvSpPr>
          <p:cNvPr id="20" name="TextBox 19">
            <a:extLst>
              <a:ext uri="{FF2B5EF4-FFF2-40B4-BE49-F238E27FC236}">
                <a16:creationId xmlns:a16="http://schemas.microsoft.com/office/drawing/2014/main" id="{99F8DBC3-36F2-58BE-8668-614465697F41}"/>
              </a:ext>
            </a:extLst>
          </p:cNvPr>
          <p:cNvSpPr txBox="1"/>
          <p:nvPr/>
        </p:nvSpPr>
        <p:spPr>
          <a:xfrm>
            <a:off x="2050742" y="3669729"/>
            <a:ext cx="7830105" cy="1446550"/>
          </a:xfrm>
          <a:prstGeom prst="rect">
            <a:avLst/>
          </a:prstGeom>
          <a:noFill/>
        </p:spPr>
        <p:txBody>
          <a:bodyPr wrap="square" rtlCol="0">
            <a:spAutoFit/>
          </a:bodyPr>
          <a:lstStyle/>
          <a:p>
            <a:r>
              <a:rPr lang="en-IN" dirty="0">
                <a:solidFill>
                  <a:schemeClr val="bg1"/>
                </a:solidFill>
              </a:rPr>
              <a:t>Offers additional “database-like” features:</a:t>
            </a:r>
          </a:p>
          <a:p>
            <a:r>
              <a:rPr lang="en-IN" sz="1400" dirty="0">
                <a:solidFill>
                  <a:schemeClr val="bg1"/>
                </a:solidFill>
              </a:rPr>
              <a:t> ▪ Distributed architecture for horizontal scaling </a:t>
            </a:r>
          </a:p>
          <a:p>
            <a:r>
              <a:rPr lang="en-IN" sz="1400" dirty="0">
                <a:solidFill>
                  <a:schemeClr val="bg1"/>
                </a:solidFill>
              </a:rPr>
              <a:t> ▪ Durability and persistence (replication, backup/restore)</a:t>
            </a:r>
          </a:p>
          <a:p>
            <a:r>
              <a:rPr lang="en-IN" sz="1400" dirty="0">
                <a:solidFill>
                  <a:schemeClr val="bg1"/>
                </a:solidFill>
              </a:rPr>
              <a:t> ▪ Metadata handling (schemas, filters)</a:t>
            </a:r>
          </a:p>
          <a:p>
            <a:r>
              <a:rPr lang="en-IN" sz="1400" dirty="0">
                <a:solidFill>
                  <a:schemeClr val="bg1"/>
                </a:solidFill>
              </a:rPr>
              <a:t> ▪ Potential for ACID or near-ACID guarantees</a:t>
            </a:r>
          </a:p>
          <a:p>
            <a:r>
              <a:rPr lang="en-IN" sz="1400" dirty="0">
                <a:solidFill>
                  <a:schemeClr val="bg1"/>
                </a:solidFill>
              </a:rPr>
              <a:t> ▪ Authentication/authorization and more advanced security </a:t>
            </a:r>
          </a:p>
        </p:txBody>
      </p:sp>
      <p:sp>
        <p:nvSpPr>
          <p:cNvPr id="21" name="TextBox 20">
            <a:extLst>
              <a:ext uri="{FF2B5EF4-FFF2-40B4-BE49-F238E27FC236}">
                <a16:creationId xmlns:a16="http://schemas.microsoft.com/office/drawing/2014/main" id="{5BAEF365-5759-62CD-7138-9F62B45F7F9D}"/>
              </a:ext>
            </a:extLst>
          </p:cNvPr>
          <p:cNvSpPr txBox="1"/>
          <p:nvPr/>
        </p:nvSpPr>
        <p:spPr>
          <a:xfrm>
            <a:off x="2974019" y="5677977"/>
            <a:ext cx="7182035" cy="369332"/>
          </a:xfrm>
          <a:prstGeom prst="rect">
            <a:avLst/>
          </a:prstGeom>
          <a:noFill/>
        </p:spPr>
        <p:txBody>
          <a:bodyPr wrap="square" rtlCol="0">
            <a:spAutoFit/>
          </a:bodyPr>
          <a:lstStyle/>
          <a:p>
            <a:r>
              <a:rPr lang="en-IN" dirty="0">
                <a:solidFill>
                  <a:schemeClr val="bg1"/>
                </a:solidFill>
              </a:rPr>
              <a:t>Vector Database = Vector Store + Database features </a:t>
            </a:r>
          </a:p>
        </p:txBody>
      </p:sp>
    </p:spTree>
    <p:extLst>
      <p:ext uri="{BB962C8B-B14F-4D97-AF65-F5344CB8AC3E}">
        <p14:creationId xmlns:p14="http://schemas.microsoft.com/office/powerpoint/2010/main" val="1094965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9132B-54B3-D85E-30A6-F80EF99E5F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21E2C2-D1E3-FCBA-247C-611193DE0D1B}"/>
              </a:ext>
            </a:extLst>
          </p:cNvPr>
          <p:cNvSpPr>
            <a:spLocks noGrp="1"/>
          </p:cNvSpPr>
          <p:nvPr>
            <p:ph type="ctrTitle"/>
          </p:nvPr>
        </p:nvSpPr>
        <p:spPr>
          <a:xfrm>
            <a:off x="1849922" y="221941"/>
            <a:ext cx="4204648" cy="688177"/>
          </a:xfrm>
        </p:spPr>
        <p:txBody>
          <a:bodyPr/>
          <a:lstStyle/>
          <a:p>
            <a:r>
              <a:rPr lang="en-IN" sz="4000" dirty="0"/>
              <a:t>4. Retrievers</a:t>
            </a:r>
          </a:p>
        </p:txBody>
      </p:sp>
      <p:pic>
        <p:nvPicPr>
          <p:cNvPr id="4" name="Graphic 3" descr="Arrow: Slight curve with solid fill">
            <a:extLst>
              <a:ext uri="{FF2B5EF4-FFF2-40B4-BE49-F238E27FC236}">
                <a16:creationId xmlns:a16="http://schemas.microsoft.com/office/drawing/2014/main" id="{4D5BABF3-D792-DF4B-4FDC-8F43700BF0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F469CFB8-2EB4-8163-1E70-A9E35AEA71B0}"/>
              </a:ext>
            </a:extLst>
          </p:cNvPr>
          <p:cNvSpPr txBox="1"/>
          <p:nvPr/>
        </p:nvSpPr>
        <p:spPr>
          <a:xfrm>
            <a:off x="2050742" y="1071979"/>
            <a:ext cx="8984202" cy="646331"/>
          </a:xfrm>
          <a:prstGeom prst="rect">
            <a:avLst/>
          </a:prstGeom>
          <a:noFill/>
        </p:spPr>
        <p:txBody>
          <a:bodyPr wrap="square" rtlCol="0">
            <a:spAutoFit/>
          </a:bodyPr>
          <a:lstStyle/>
          <a:p>
            <a:r>
              <a:rPr lang="en-US" dirty="0">
                <a:solidFill>
                  <a:schemeClr val="bg1"/>
                </a:solidFill>
              </a:rPr>
              <a:t>A retriever is a component in RAG that fetches relevant documents from a data source in response to a user’s query.</a:t>
            </a:r>
            <a:endParaRPr lang="en-IN" dirty="0">
              <a:solidFill>
                <a:schemeClr val="bg1"/>
              </a:solidFill>
            </a:endParaRPr>
          </a:p>
        </p:txBody>
      </p:sp>
    </p:spTree>
    <p:extLst>
      <p:ext uri="{BB962C8B-B14F-4D97-AF65-F5344CB8AC3E}">
        <p14:creationId xmlns:p14="http://schemas.microsoft.com/office/powerpoint/2010/main" val="2614460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6FF25-C7B0-B0B1-3F9F-60FE31C05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EED09-8312-3D45-B434-FEDCE4712777}"/>
              </a:ext>
            </a:extLst>
          </p:cNvPr>
          <p:cNvSpPr>
            <a:spLocks noGrp="1"/>
          </p:cNvSpPr>
          <p:nvPr>
            <p:ph type="ctrTitle"/>
          </p:nvPr>
        </p:nvSpPr>
        <p:spPr>
          <a:xfrm>
            <a:off x="1849922" y="221941"/>
            <a:ext cx="4204648" cy="688177"/>
          </a:xfrm>
        </p:spPr>
        <p:txBody>
          <a:bodyPr/>
          <a:lstStyle/>
          <a:p>
            <a:r>
              <a:rPr lang="en-IN" sz="4000" dirty="0"/>
              <a:t>4. Retrievers</a:t>
            </a:r>
          </a:p>
        </p:txBody>
      </p:sp>
      <p:pic>
        <p:nvPicPr>
          <p:cNvPr id="4" name="Graphic 3" descr="Arrow: Slight curve with solid fill">
            <a:extLst>
              <a:ext uri="{FF2B5EF4-FFF2-40B4-BE49-F238E27FC236}">
                <a16:creationId xmlns:a16="http://schemas.microsoft.com/office/drawing/2014/main" id="{8742A3B3-0B4A-37EC-5AA1-FE5FEA33E1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92E457CC-6249-DB5D-74DE-DD1E76F76276}"/>
              </a:ext>
            </a:extLst>
          </p:cNvPr>
          <p:cNvSpPr txBox="1"/>
          <p:nvPr/>
        </p:nvSpPr>
        <p:spPr>
          <a:xfrm>
            <a:off x="2050742" y="1071979"/>
            <a:ext cx="8984202" cy="646331"/>
          </a:xfrm>
          <a:prstGeom prst="rect">
            <a:avLst/>
          </a:prstGeom>
          <a:noFill/>
        </p:spPr>
        <p:txBody>
          <a:bodyPr wrap="square" rtlCol="0">
            <a:spAutoFit/>
          </a:bodyPr>
          <a:lstStyle/>
          <a:p>
            <a:r>
              <a:rPr lang="en-US" dirty="0">
                <a:solidFill>
                  <a:schemeClr val="bg1"/>
                </a:solidFill>
              </a:rPr>
              <a:t>A retriever is a component in </a:t>
            </a:r>
            <a:r>
              <a:rPr lang="en-US" dirty="0" err="1">
                <a:solidFill>
                  <a:schemeClr val="bg1"/>
                </a:solidFill>
              </a:rPr>
              <a:t>LangChain</a:t>
            </a:r>
            <a:r>
              <a:rPr lang="en-US" dirty="0">
                <a:solidFill>
                  <a:schemeClr val="bg1"/>
                </a:solidFill>
              </a:rPr>
              <a:t> that fetches relevant documents from a data source in response to a user’s query.</a:t>
            </a:r>
            <a:endParaRPr lang="en-IN" dirty="0">
              <a:solidFill>
                <a:schemeClr val="bg1"/>
              </a:solidFill>
            </a:endParaRPr>
          </a:p>
        </p:txBody>
      </p:sp>
      <p:sp>
        <p:nvSpPr>
          <p:cNvPr id="11" name="TextBox 10">
            <a:extLst>
              <a:ext uri="{FF2B5EF4-FFF2-40B4-BE49-F238E27FC236}">
                <a16:creationId xmlns:a16="http://schemas.microsoft.com/office/drawing/2014/main" id="{63E4887B-39CB-A7A2-6EAE-8A81BE2610DF}"/>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8" name="Rectangle 7">
            <a:extLst>
              <a:ext uri="{FF2B5EF4-FFF2-40B4-BE49-F238E27FC236}">
                <a16:creationId xmlns:a16="http://schemas.microsoft.com/office/drawing/2014/main" id="{0D541B41-CB32-496E-F4DD-5BB135676C05}"/>
              </a:ext>
            </a:extLst>
          </p:cNvPr>
          <p:cNvSpPr/>
          <p:nvPr/>
        </p:nvSpPr>
        <p:spPr>
          <a:xfrm>
            <a:off x="5862953" y="2796507"/>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Document</a:t>
            </a:r>
          </a:p>
        </p:txBody>
      </p:sp>
      <p:sp>
        <p:nvSpPr>
          <p:cNvPr id="9" name="TextBox 8">
            <a:extLst>
              <a:ext uri="{FF2B5EF4-FFF2-40B4-BE49-F238E27FC236}">
                <a16:creationId xmlns:a16="http://schemas.microsoft.com/office/drawing/2014/main" id="{6602B26B-08E6-F213-1305-B9CD78C0804E}"/>
              </a:ext>
            </a:extLst>
          </p:cNvPr>
          <p:cNvSpPr txBox="1"/>
          <p:nvPr/>
        </p:nvSpPr>
        <p:spPr>
          <a:xfrm>
            <a:off x="8244920" y="2869293"/>
            <a:ext cx="1211802" cy="369332"/>
          </a:xfrm>
          <a:prstGeom prst="rect">
            <a:avLst/>
          </a:prstGeom>
          <a:noFill/>
        </p:spPr>
        <p:txBody>
          <a:bodyPr wrap="square" rtlCol="0">
            <a:spAutoFit/>
          </a:bodyPr>
          <a:lstStyle/>
          <a:p>
            <a:r>
              <a:rPr lang="en-IN" dirty="0">
                <a:solidFill>
                  <a:schemeClr val="bg1"/>
                </a:solidFill>
              </a:rPr>
              <a:t>Response</a:t>
            </a:r>
          </a:p>
        </p:txBody>
      </p:sp>
      <p:cxnSp>
        <p:nvCxnSpPr>
          <p:cNvPr id="13" name="Straight Arrow Connector 12">
            <a:extLst>
              <a:ext uri="{FF2B5EF4-FFF2-40B4-BE49-F238E27FC236}">
                <a16:creationId xmlns:a16="http://schemas.microsoft.com/office/drawing/2014/main" id="{7A7D67C5-7E33-5D55-B5B9-C8AC20707145}"/>
              </a:ext>
            </a:extLst>
          </p:cNvPr>
          <p:cNvCxnSpPr>
            <a:cxnSpLocks/>
          </p:cNvCxnSpPr>
          <p:nvPr/>
        </p:nvCxnSpPr>
        <p:spPr>
          <a:xfrm>
            <a:off x="4744366" y="3053959"/>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E7ED079-AFD8-BF5C-38BE-05B260022FB0}"/>
              </a:ext>
            </a:extLst>
          </p:cNvPr>
          <p:cNvCxnSpPr>
            <a:cxnSpLocks/>
          </p:cNvCxnSpPr>
          <p:nvPr/>
        </p:nvCxnSpPr>
        <p:spPr>
          <a:xfrm>
            <a:off x="7354401" y="3053959"/>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202EA82-4EF8-D119-3306-FF2F4489CD9B}"/>
              </a:ext>
            </a:extLst>
          </p:cNvPr>
          <p:cNvSpPr/>
          <p:nvPr/>
        </p:nvSpPr>
        <p:spPr>
          <a:xfrm>
            <a:off x="3392465" y="2796507"/>
            <a:ext cx="1331765"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Retriever</a:t>
            </a:r>
          </a:p>
        </p:txBody>
      </p:sp>
      <p:sp>
        <p:nvSpPr>
          <p:cNvPr id="16" name="TextBox 15">
            <a:extLst>
              <a:ext uri="{FF2B5EF4-FFF2-40B4-BE49-F238E27FC236}">
                <a16:creationId xmlns:a16="http://schemas.microsoft.com/office/drawing/2014/main" id="{8E43DD55-A3B4-9073-8145-1F02750390D7}"/>
              </a:ext>
            </a:extLst>
          </p:cNvPr>
          <p:cNvSpPr txBox="1"/>
          <p:nvPr/>
        </p:nvSpPr>
        <p:spPr>
          <a:xfrm>
            <a:off x="1610724" y="2843983"/>
            <a:ext cx="1286036" cy="369332"/>
          </a:xfrm>
          <a:prstGeom prst="rect">
            <a:avLst/>
          </a:prstGeom>
          <a:noFill/>
        </p:spPr>
        <p:txBody>
          <a:bodyPr wrap="square" rtlCol="0">
            <a:spAutoFit/>
          </a:bodyPr>
          <a:lstStyle/>
          <a:p>
            <a:r>
              <a:rPr lang="en-IN" dirty="0">
                <a:solidFill>
                  <a:schemeClr val="bg1"/>
                </a:solidFill>
              </a:rPr>
              <a:t>Query</a:t>
            </a:r>
          </a:p>
        </p:txBody>
      </p:sp>
      <p:cxnSp>
        <p:nvCxnSpPr>
          <p:cNvPr id="18" name="Straight Arrow Connector 17">
            <a:extLst>
              <a:ext uri="{FF2B5EF4-FFF2-40B4-BE49-F238E27FC236}">
                <a16:creationId xmlns:a16="http://schemas.microsoft.com/office/drawing/2014/main" id="{51AD3698-5CD9-3CAD-C474-0C4E59B2DC4A}"/>
              </a:ext>
            </a:extLst>
          </p:cNvPr>
          <p:cNvCxnSpPr>
            <a:cxnSpLocks/>
          </p:cNvCxnSpPr>
          <p:nvPr/>
        </p:nvCxnSpPr>
        <p:spPr>
          <a:xfrm>
            <a:off x="2413169" y="3028649"/>
            <a:ext cx="8905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29727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61850-3931-DC47-E008-D5F3C5399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55004-70EB-5BE0-C3D6-EE40589CC053}"/>
              </a:ext>
            </a:extLst>
          </p:cNvPr>
          <p:cNvSpPr>
            <a:spLocks noGrp="1"/>
          </p:cNvSpPr>
          <p:nvPr>
            <p:ph type="ctrTitle"/>
          </p:nvPr>
        </p:nvSpPr>
        <p:spPr>
          <a:xfrm>
            <a:off x="1849922" y="221941"/>
            <a:ext cx="4204648" cy="688177"/>
          </a:xfrm>
        </p:spPr>
        <p:txBody>
          <a:bodyPr/>
          <a:lstStyle/>
          <a:p>
            <a:r>
              <a:rPr lang="en-IN" sz="4000" dirty="0"/>
              <a:t>4. Retrievers</a:t>
            </a:r>
          </a:p>
        </p:txBody>
      </p:sp>
      <p:pic>
        <p:nvPicPr>
          <p:cNvPr id="4" name="Graphic 3" descr="Arrow: Slight curve with solid fill">
            <a:extLst>
              <a:ext uri="{FF2B5EF4-FFF2-40B4-BE49-F238E27FC236}">
                <a16:creationId xmlns:a16="http://schemas.microsoft.com/office/drawing/2014/main" id="{8146043F-4D03-570D-3EE7-73257A7833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83C6DD68-B042-713E-4439-A9F149974733}"/>
              </a:ext>
            </a:extLst>
          </p:cNvPr>
          <p:cNvSpPr txBox="1"/>
          <p:nvPr/>
        </p:nvSpPr>
        <p:spPr>
          <a:xfrm>
            <a:off x="2050742" y="1071979"/>
            <a:ext cx="8984202" cy="646331"/>
          </a:xfrm>
          <a:prstGeom prst="rect">
            <a:avLst/>
          </a:prstGeom>
          <a:noFill/>
        </p:spPr>
        <p:txBody>
          <a:bodyPr wrap="square" rtlCol="0">
            <a:spAutoFit/>
          </a:bodyPr>
          <a:lstStyle/>
          <a:p>
            <a:r>
              <a:rPr lang="en-US" dirty="0">
                <a:solidFill>
                  <a:schemeClr val="bg1"/>
                </a:solidFill>
              </a:rPr>
              <a:t>A retriever is a component in </a:t>
            </a:r>
            <a:r>
              <a:rPr lang="en-US" dirty="0" err="1">
                <a:solidFill>
                  <a:schemeClr val="bg1"/>
                </a:solidFill>
              </a:rPr>
              <a:t>LangChain</a:t>
            </a:r>
            <a:r>
              <a:rPr lang="en-US" dirty="0">
                <a:solidFill>
                  <a:schemeClr val="bg1"/>
                </a:solidFill>
              </a:rPr>
              <a:t> that fetches relevant documents from a data source in response to a user’s query.</a:t>
            </a:r>
            <a:endParaRPr lang="en-IN" dirty="0">
              <a:solidFill>
                <a:schemeClr val="bg1"/>
              </a:solidFill>
            </a:endParaRPr>
          </a:p>
        </p:txBody>
      </p:sp>
      <p:pic>
        <p:nvPicPr>
          <p:cNvPr id="10" name="Graphic 9" descr="Arrow: Slight curve with solid fill">
            <a:extLst>
              <a:ext uri="{FF2B5EF4-FFF2-40B4-BE49-F238E27FC236}">
                <a16:creationId xmlns:a16="http://schemas.microsoft.com/office/drawing/2014/main" id="{C359FDDF-FF28-7977-ADB4-7EA6407D1A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3964587"/>
            <a:ext cx="357326" cy="357326"/>
          </a:xfrm>
          <a:prstGeom prst="rect">
            <a:avLst/>
          </a:prstGeom>
        </p:spPr>
      </p:pic>
      <p:sp>
        <p:nvSpPr>
          <p:cNvPr id="11" name="TextBox 10">
            <a:extLst>
              <a:ext uri="{FF2B5EF4-FFF2-40B4-BE49-F238E27FC236}">
                <a16:creationId xmlns:a16="http://schemas.microsoft.com/office/drawing/2014/main" id="{CE942924-C7F9-2E53-2591-2F04A161CCA2}"/>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12" name="TextBox 11">
            <a:extLst>
              <a:ext uri="{FF2B5EF4-FFF2-40B4-BE49-F238E27FC236}">
                <a16:creationId xmlns:a16="http://schemas.microsoft.com/office/drawing/2014/main" id="{E6FC6F80-8529-672F-87D6-EAAB0E97FA81}"/>
              </a:ext>
            </a:extLst>
          </p:cNvPr>
          <p:cNvSpPr txBox="1"/>
          <p:nvPr/>
        </p:nvSpPr>
        <p:spPr>
          <a:xfrm>
            <a:off x="2050742" y="3964587"/>
            <a:ext cx="6800295" cy="1200329"/>
          </a:xfrm>
          <a:prstGeom prst="rect">
            <a:avLst/>
          </a:prstGeom>
          <a:noFill/>
        </p:spPr>
        <p:txBody>
          <a:bodyPr wrap="square" rtlCol="0">
            <a:spAutoFit/>
          </a:bodyPr>
          <a:lstStyle/>
          <a:p>
            <a:pPr lvl="0"/>
            <a:r>
              <a:rPr lang="en-IN" dirty="0">
                <a:solidFill>
                  <a:schemeClr val="bg1"/>
                </a:solidFill>
              </a:rPr>
              <a:t>Types :</a:t>
            </a:r>
          </a:p>
          <a:p>
            <a:pPr lvl="0"/>
            <a:r>
              <a:rPr lang="en-IN" dirty="0">
                <a:solidFill>
                  <a:schemeClr val="bg1"/>
                </a:solidFill>
              </a:rPr>
              <a:t>1. Wikipedia Retriever</a:t>
            </a:r>
          </a:p>
          <a:p>
            <a:pPr lvl="0"/>
            <a:r>
              <a:rPr lang="en-IN" dirty="0">
                <a:solidFill>
                  <a:schemeClr val="bg1"/>
                </a:solidFill>
              </a:rPr>
              <a:t>2. Vector Store Retriever</a:t>
            </a:r>
          </a:p>
          <a:p>
            <a:pPr lvl="0"/>
            <a:r>
              <a:rPr lang="en-IN" dirty="0">
                <a:solidFill>
                  <a:schemeClr val="bg1"/>
                </a:solidFill>
              </a:rPr>
              <a:t>3. Multi-Query Retriever</a:t>
            </a:r>
          </a:p>
        </p:txBody>
      </p:sp>
      <p:sp>
        <p:nvSpPr>
          <p:cNvPr id="8" name="Rectangle 7">
            <a:extLst>
              <a:ext uri="{FF2B5EF4-FFF2-40B4-BE49-F238E27FC236}">
                <a16:creationId xmlns:a16="http://schemas.microsoft.com/office/drawing/2014/main" id="{6A81999C-1AC0-0753-C467-B18EE39CA9C1}"/>
              </a:ext>
            </a:extLst>
          </p:cNvPr>
          <p:cNvSpPr/>
          <p:nvPr/>
        </p:nvSpPr>
        <p:spPr>
          <a:xfrm>
            <a:off x="5862953" y="2796507"/>
            <a:ext cx="1402671"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Document</a:t>
            </a:r>
          </a:p>
        </p:txBody>
      </p:sp>
      <p:sp>
        <p:nvSpPr>
          <p:cNvPr id="9" name="TextBox 8">
            <a:extLst>
              <a:ext uri="{FF2B5EF4-FFF2-40B4-BE49-F238E27FC236}">
                <a16:creationId xmlns:a16="http://schemas.microsoft.com/office/drawing/2014/main" id="{5EF6E3B3-548D-B594-3E87-8094B8265AE4}"/>
              </a:ext>
            </a:extLst>
          </p:cNvPr>
          <p:cNvSpPr txBox="1"/>
          <p:nvPr/>
        </p:nvSpPr>
        <p:spPr>
          <a:xfrm>
            <a:off x="8244920" y="2869293"/>
            <a:ext cx="1211802" cy="369332"/>
          </a:xfrm>
          <a:prstGeom prst="rect">
            <a:avLst/>
          </a:prstGeom>
          <a:noFill/>
        </p:spPr>
        <p:txBody>
          <a:bodyPr wrap="square" rtlCol="0">
            <a:spAutoFit/>
          </a:bodyPr>
          <a:lstStyle/>
          <a:p>
            <a:r>
              <a:rPr lang="en-IN" dirty="0">
                <a:solidFill>
                  <a:schemeClr val="bg1"/>
                </a:solidFill>
              </a:rPr>
              <a:t>Response</a:t>
            </a:r>
          </a:p>
        </p:txBody>
      </p:sp>
      <p:cxnSp>
        <p:nvCxnSpPr>
          <p:cNvPr id="13" name="Straight Arrow Connector 12">
            <a:extLst>
              <a:ext uri="{FF2B5EF4-FFF2-40B4-BE49-F238E27FC236}">
                <a16:creationId xmlns:a16="http://schemas.microsoft.com/office/drawing/2014/main" id="{B735AF1B-18B9-7D47-3A2F-D1EE7769EE03}"/>
              </a:ext>
            </a:extLst>
          </p:cNvPr>
          <p:cNvCxnSpPr>
            <a:cxnSpLocks/>
          </p:cNvCxnSpPr>
          <p:nvPr/>
        </p:nvCxnSpPr>
        <p:spPr>
          <a:xfrm>
            <a:off x="4744366" y="3053959"/>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C0EE6AF-DEDB-0C6C-F5D8-3F484AD471A9}"/>
              </a:ext>
            </a:extLst>
          </p:cNvPr>
          <p:cNvCxnSpPr>
            <a:cxnSpLocks/>
          </p:cNvCxnSpPr>
          <p:nvPr/>
        </p:nvCxnSpPr>
        <p:spPr>
          <a:xfrm>
            <a:off x="7354401" y="3053959"/>
            <a:ext cx="874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7C06149-F768-D3C3-7128-3674018A100D}"/>
              </a:ext>
            </a:extLst>
          </p:cNvPr>
          <p:cNvSpPr/>
          <p:nvPr/>
        </p:nvSpPr>
        <p:spPr>
          <a:xfrm>
            <a:off x="3392465" y="2796507"/>
            <a:ext cx="1331765"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Retriever</a:t>
            </a:r>
          </a:p>
        </p:txBody>
      </p:sp>
      <p:sp>
        <p:nvSpPr>
          <p:cNvPr id="16" name="TextBox 15">
            <a:extLst>
              <a:ext uri="{FF2B5EF4-FFF2-40B4-BE49-F238E27FC236}">
                <a16:creationId xmlns:a16="http://schemas.microsoft.com/office/drawing/2014/main" id="{7852BEE4-2262-3F3B-43A5-93EE51822B01}"/>
              </a:ext>
            </a:extLst>
          </p:cNvPr>
          <p:cNvSpPr txBox="1"/>
          <p:nvPr/>
        </p:nvSpPr>
        <p:spPr>
          <a:xfrm>
            <a:off x="1610724" y="2843983"/>
            <a:ext cx="1286036" cy="369332"/>
          </a:xfrm>
          <a:prstGeom prst="rect">
            <a:avLst/>
          </a:prstGeom>
          <a:noFill/>
        </p:spPr>
        <p:txBody>
          <a:bodyPr wrap="square" rtlCol="0">
            <a:spAutoFit/>
          </a:bodyPr>
          <a:lstStyle/>
          <a:p>
            <a:r>
              <a:rPr lang="en-IN" dirty="0">
                <a:solidFill>
                  <a:schemeClr val="bg1"/>
                </a:solidFill>
              </a:rPr>
              <a:t>Query</a:t>
            </a:r>
          </a:p>
        </p:txBody>
      </p:sp>
      <p:cxnSp>
        <p:nvCxnSpPr>
          <p:cNvPr id="18" name="Straight Arrow Connector 17">
            <a:extLst>
              <a:ext uri="{FF2B5EF4-FFF2-40B4-BE49-F238E27FC236}">
                <a16:creationId xmlns:a16="http://schemas.microsoft.com/office/drawing/2014/main" id="{D1F95D02-0FD8-FDAD-B47B-894AAA30B604}"/>
              </a:ext>
            </a:extLst>
          </p:cNvPr>
          <p:cNvCxnSpPr>
            <a:cxnSpLocks/>
          </p:cNvCxnSpPr>
          <p:nvPr/>
        </p:nvCxnSpPr>
        <p:spPr>
          <a:xfrm>
            <a:off x="2413169" y="3028649"/>
            <a:ext cx="8905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6282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008F4-EC13-6F36-A66E-DC43C8A2E244}"/>
              </a:ext>
            </a:extLst>
          </p:cNvPr>
          <p:cNvSpPr>
            <a:spLocks noGrp="1"/>
          </p:cNvSpPr>
          <p:nvPr>
            <p:ph type="ctrTitle"/>
          </p:nvPr>
        </p:nvSpPr>
        <p:spPr>
          <a:xfrm>
            <a:off x="1627982" y="0"/>
            <a:ext cx="9145991" cy="1191985"/>
          </a:xfrm>
        </p:spPr>
        <p:txBody>
          <a:bodyPr/>
          <a:lstStyle/>
          <a:p>
            <a:r>
              <a:rPr lang="en-IN" dirty="0"/>
              <a:t>RAG Pipeline</a:t>
            </a:r>
          </a:p>
        </p:txBody>
      </p:sp>
      <p:sp>
        <p:nvSpPr>
          <p:cNvPr id="3" name="TextBox 2">
            <a:extLst>
              <a:ext uri="{FF2B5EF4-FFF2-40B4-BE49-F238E27FC236}">
                <a16:creationId xmlns:a16="http://schemas.microsoft.com/office/drawing/2014/main" id="{F0AAB3EA-97F4-C061-B899-DDBF3264C08D}"/>
              </a:ext>
            </a:extLst>
          </p:cNvPr>
          <p:cNvSpPr txBox="1"/>
          <p:nvPr/>
        </p:nvSpPr>
        <p:spPr>
          <a:xfrm>
            <a:off x="1731146" y="1562470"/>
            <a:ext cx="7386221" cy="923330"/>
          </a:xfrm>
          <a:prstGeom prst="rect">
            <a:avLst/>
          </a:prstGeom>
          <a:noFill/>
        </p:spPr>
        <p:txBody>
          <a:bodyPr wrap="square" rtlCol="0">
            <a:spAutoFit/>
          </a:bodyPr>
          <a:lstStyle/>
          <a:p>
            <a:r>
              <a:rPr lang="en-IN" dirty="0">
                <a:solidFill>
                  <a:schemeClr val="bg1"/>
                </a:solidFill>
              </a:rPr>
              <a:t>A </a:t>
            </a:r>
            <a:r>
              <a:rPr lang="en-IN" b="1" dirty="0">
                <a:solidFill>
                  <a:schemeClr val="bg1"/>
                </a:solidFill>
              </a:rPr>
              <a:t>RAG pipeline </a:t>
            </a:r>
            <a:r>
              <a:rPr lang="en-IN" dirty="0">
                <a:solidFill>
                  <a:schemeClr val="bg1"/>
                </a:solidFill>
              </a:rPr>
              <a:t>is a sequence of steps where a system retrieves relevant data from external sources and augments it with a user query to generate accurate responses.</a:t>
            </a:r>
          </a:p>
        </p:txBody>
      </p:sp>
    </p:spTree>
    <p:extLst>
      <p:ext uri="{BB962C8B-B14F-4D97-AF65-F5344CB8AC3E}">
        <p14:creationId xmlns:p14="http://schemas.microsoft.com/office/powerpoint/2010/main" val="509734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35E53-17A7-ABBC-CD80-F8ECDEF80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73E13-1B92-E512-BFA6-9B26E7C6DF94}"/>
              </a:ext>
            </a:extLst>
          </p:cNvPr>
          <p:cNvSpPr>
            <a:spLocks noGrp="1"/>
          </p:cNvSpPr>
          <p:nvPr>
            <p:ph type="ctrTitle"/>
          </p:nvPr>
        </p:nvSpPr>
        <p:spPr>
          <a:xfrm>
            <a:off x="1627982" y="0"/>
            <a:ext cx="9145991" cy="1191985"/>
          </a:xfrm>
        </p:spPr>
        <p:txBody>
          <a:bodyPr/>
          <a:lstStyle/>
          <a:p>
            <a:r>
              <a:rPr lang="en-IN" dirty="0"/>
              <a:t>RAG Pipeline</a:t>
            </a:r>
          </a:p>
        </p:txBody>
      </p:sp>
      <p:sp>
        <p:nvSpPr>
          <p:cNvPr id="3" name="TextBox 2">
            <a:extLst>
              <a:ext uri="{FF2B5EF4-FFF2-40B4-BE49-F238E27FC236}">
                <a16:creationId xmlns:a16="http://schemas.microsoft.com/office/drawing/2014/main" id="{C0B3FD12-0A09-F5CA-0A8A-6B65B77D690C}"/>
              </a:ext>
            </a:extLst>
          </p:cNvPr>
          <p:cNvSpPr txBox="1"/>
          <p:nvPr/>
        </p:nvSpPr>
        <p:spPr>
          <a:xfrm>
            <a:off x="1731146" y="1562470"/>
            <a:ext cx="7386221" cy="923330"/>
          </a:xfrm>
          <a:prstGeom prst="rect">
            <a:avLst/>
          </a:prstGeom>
          <a:noFill/>
        </p:spPr>
        <p:txBody>
          <a:bodyPr wrap="square" rtlCol="0">
            <a:spAutoFit/>
          </a:bodyPr>
          <a:lstStyle/>
          <a:p>
            <a:r>
              <a:rPr lang="en-IN" dirty="0">
                <a:solidFill>
                  <a:schemeClr val="bg1"/>
                </a:solidFill>
              </a:rPr>
              <a:t>A </a:t>
            </a:r>
            <a:r>
              <a:rPr lang="en-IN" b="1" dirty="0">
                <a:solidFill>
                  <a:schemeClr val="bg1"/>
                </a:solidFill>
              </a:rPr>
              <a:t>RAG pipeline </a:t>
            </a:r>
            <a:r>
              <a:rPr lang="en-IN" dirty="0">
                <a:solidFill>
                  <a:schemeClr val="bg1"/>
                </a:solidFill>
              </a:rPr>
              <a:t>is a sequence of steps where a system retrieves relevant data from external sources and augments it with a user query to generate accurate responses.</a:t>
            </a:r>
          </a:p>
        </p:txBody>
      </p:sp>
      <p:sp>
        <p:nvSpPr>
          <p:cNvPr id="4" name="Rectangle 3">
            <a:extLst>
              <a:ext uri="{FF2B5EF4-FFF2-40B4-BE49-F238E27FC236}">
                <a16:creationId xmlns:a16="http://schemas.microsoft.com/office/drawing/2014/main" id="{D5C78C27-79CB-AB9C-98D9-0EF823357B02}"/>
              </a:ext>
            </a:extLst>
          </p:cNvPr>
          <p:cNvSpPr/>
          <p:nvPr/>
        </p:nvSpPr>
        <p:spPr>
          <a:xfrm>
            <a:off x="6530430" y="2621216"/>
            <a:ext cx="1548249" cy="8167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 Relevant Documents</a:t>
            </a:r>
          </a:p>
        </p:txBody>
      </p:sp>
      <p:cxnSp>
        <p:nvCxnSpPr>
          <p:cNvPr id="5" name="Straight Arrow Connector 4">
            <a:extLst>
              <a:ext uri="{FF2B5EF4-FFF2-40B4-BE49-F238E27FC236}">
                <a16:creationId xmlns:a16="http://schemas.microsoft.com/office/drawing/2014/main" id="{3957E966-82FB-8FE2-07E1-93022F0EE53D}"/>
              </a:ext>
            </a:extLst>
          </p:cNvPr>
          <p:cNvCxnSpPr>
            <a:cxnSpLocks/>
          </p:cNvCxnSpPr>
          <p:nvPr/>
        </p:nvCxnSpPr>
        <p:spPr>
          <a:xfrm>
            <a:off x="5420721" y="3045081"/>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1D92E1C-1443-0041-FE57-0A1B2E34D342}"/>
              </a:ext>
            </a:extLst>
          </p:cNvPr>
          <p:cNvSpPr/>
          <p:nvPr/>
        </p:nvSpPr>
        <p:spPr>
          <a:xfrm>
            <a:off x="4068820" y="2787629"/>
            <a:ext cx="1331765"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Convert to Embedding</a:t>
            </a:r>
          </a:p>
        </p:txBody>
      </p:sp>
      <p:cxnSp>
        <p:nvCxnSpPr>
          <p:cNvPr id="7" name="Straight Arrow Connector 6">
            <a:extLst>
              <a:ext uri="{FF2B5EF4-FFF2-40B4-BE49-F238E27FC236}">
                <a16:creationId xmlns:a16="http://schemas.microsoft.com/office/drawing/2014/main" id="{A9C40E02-3915-B6B7-FD4A-526B18B2A070}"/>
              </a:ext>
            </a:extLst>
          </p:cNvPr>
          <p:cNvCxnSpPr>
            <a:cxnSpLocks/>
          </p:cNvCxnSpPr>
          <p:nvPr/>
        </p:nvCxnSpPr>
        <p:spPr>
          <a:xfrm>
            <a:off x="3089524" y="3019771"/>
            <a:ext cx="8905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4A5E1F1-2F2F-D527-1131-D8B49DDE7C9C}"/>
              </a:ext>
            </a:extLst>
          </p:cNvPr>
          <p:cNvSpPr/>
          <p:nvPr/>
        </p:nvSpPr>
        <p:spPr>
          <a:xfrm>
            <a:off x="1737623" y="2787629"/>
            <a:ext cx="1331765"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Prompt</a:t>
            </a:r>
          </a:p>
        </p:txBody>
      </p:sp>
      <p:cxnSp>
        <p:nvCxnSpPr>
          <p:cNvPr id="9" name="Straight Arrow Connector 8">
            <a:extLst>
              <a:ext uri="{FF2B5EF4-FFF2-40B4-BE49-F238E27FC236}">
                <a16:creationId xmlns:a16="http://schemas.microsoft.com/office/drawing/2014/main" id="{BB4DFF0D-D8E5-54E9-8A17-CD004433FA62}"/>
              </a:ext>
            </a:extLst>
          </p:cNvPr>
          <p:cNvCxnSpPr>
            <a:cxnSpLocks/>
          </p:cNvCxnSpPr>
          <p:nvPr/>
        </p:nvCxnSpPr>
        <p:spPr>
          <a:xfrm>
            <a:off x="9914590" y="3579961"/>
            <a:ext cx="0" cy="601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ED80F6E-8679-0C1B-F7D2-8963C70F8090}"/>
              </a:ext>
            </a:extLst>
          </p:cNvPr>
          <p:cNvSpPr/>
          <p:nvPr/>
        </p:nvSpPr>
        <p:spPr>
          <a:xfrm>
            <a:off x="9335198" y="2636730"/>
            <a:ext cx="1548249" cy="8167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Add Context to Prompt</a:t>
            </a:r>
          </a:p>
        </p:txBody>
      </p:sp>
      <p:cxnSp>
        <p:nvCxnSpPr>
          <p:cNvPr id="15" name="Straight Arrow Connector 14">
            <a:extLst>
              <a:ext uri="{FF2B5EF4-FFF2-40B4-BE49-F238E27FC236}">
                <a16:creationId xmlns:a16="http://schemas.microsoft.com/office/drawing/2014/main" id="{3FD40F97-C6E4-D4B4-87F1-DF719D5642D0}"/>
              </a:ext>
            </a:extLst>
          </p:cNvPr>
          <p:cNvCxnSpPr>
            <a:cxnSpLocks/>
          </p:cNvCxnSpPr>
          <p:nvPr/>
        </p:nvCxnSpPr>
        <p:spPr>
          <a:xfrm>
            <a:off x="8209789" y="3045081"/>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D053F668-4B6A-BEC6-6407-D679869EA338}"/>
              </a:ext>
            </a:extLst>
          </p:cNvPr>
          <p:cNvSpPr/>
          <p:nvPr/>
        </p:nvSpPr>
        <p:spPr>
          <a:xfrm>
            <a:off x="9342308" y="4307912"/>
            <a:ext cx="1548249" cy="8167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LLM generates Answer</a:t>
            </a:r>
          </a:p>
        </p:txBody>
      </p:sp>
    </p:spTree>
    <p:extLst>
      <p:ext uri="{BB962C8B-B14F-4D97-AF65-F5344CB8AC3E}">
        <p14:creationId xmlns:p14="http://schemas.microsoft.com/office/powerpoint/2010/main" val="1993690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5AF5-6F42-5CDA-607B-1A6660B632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10F44-3DEA-CDD1-D5D4-782CCC3FC49A}"/>
              </a:ext>
            </a:extLst>
          </p:cNvPr>
          <p:cNvSpPr>
            <a:spLocks noGrp="1"/>
          </p:cNvSpPr>
          <p:nvPr>
            <p:ph type="ctrTitle"/>
          </p:nvPr>
        </p:nvSpPr>
        <p:spPr>
          <a:xfrm>
            <a:off x="1627982" y="0"/>
            <a:ext cx="9145991" cy="1191985"/>
          </a:xfrm>
        </p:spPr>
        <p:txBody>
          <a:bodyPr/>
          <a:lstStyle/>
          <a:p>
            <a:r>
              <a:rPr lang="en-IN" dirty="0"/>
              <a:t>RAG Pipeline</a:t>
            </a:r>
          </a:p>
        </p:txBody>
      </p:sp>
      <p:sp>
        <p:nvSpPr>
          <p:cNvPr id="3" name="TextBox 2">
            <a:extLst>
              <a:ext uri="{FF2B5EF4-FFF2-40B4-BE49-F238E27FC236}">
                <a16:creationId xmlns:a16="http://schemas.microsoft.com/office/drawing/2014/main" id="{98F579D1-7688-1EB1-E092-4A7E93F22ACD}"/>
              </a:ext>
            </a:extLst>
          </p:cNvPr>
          <p:cNvSpPr txBox="1"/>
          <p:nvPr/>
        </p:nvSpPr>
        <p:spPr>
          <a:xfrm>
            <a:off x="1731146" y="1562470"/>
            <a:ext cx="7386221" cy="923330"/>
          </a:xfrm>
          <a:prstGeom prst="rect">
            <a:avLst/>
          </a:prstGeom>
          <a:noFill/>
        </p:spPr>
        <p:txBody>
          <a:bodyPr wrap="square" rtlCol="0">
            <a:spAutoFit/>
          </a:bodyPr>
          <a:lstStyle/>
          <a:p>
            <a:r>
              <a:rPr lang="en-IN" dirty="0">
                <a:solidFill>
                  <a:schemeClr val="bg1"/>
                </a:solidFill>
              </a:rPr>
              <a:t>A </a:t>
            </a:r>
            <a:r>
              <a:rPr lang="en-IN" b="1" dirty="0">
                <a:solidFill>
                  <a:schemeClr val="bg1"/>
                </a:solidFill>
              </a:rPr>
              <a:t>RAG pipeline </a:t>
            </a:r>
            <a:r>
              <a:rPr lang="en-IN" dirty="0">
                <a:solidFill>
                  <a:schemeClr val="bg1"/>
                </a:solidFill>
              </a:rPr>
              <a:t>is a sequence of steps where a system retrieves relevant data from external sources and augments it with a user query to generate accurate responses.</a:t>
            </a:r>
          </a:p>
        </p:txBody>
      </p:sp>
      <p:sp>
        <p:nvSpPr>
          <p:cNvPr id="4" name="Rectangle 3">
            <a:extLst>
              <a:ext uri="{FF2B5EF4-FFF2-40B4-BE49-F238E27FC236}">
                <a16:creationId xmlns:a16="http://schemas.microsoft.com/office/drawing/2014/main" id="{0232F313-1053-86CA-F72C-0170B608A6BE}"/>
              </a:ext>
            </a:extLst>
          </p:cNvPr>
          <p:cNvSpPr/>
          <p:nvPr/>
        </p:nvSpPr>
        <p:spPr>
          <a:xfrm>
            <a:off x="6530430" y="2621216"/>
            <a:ext cx="1548249" cy="8167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Retrieve Relevant Documents</a:t>
            </a:r>
          </a:p>
        </p:txBody>
      </p:sp>
      <p:cxnSp>
        <p:nvCxnSpPr>
          <p:cNvPr id="5" name="Straight Arrow Connector 4">
            <a:extLst>
              <a:ext uri="{FF2B5EF4-FFF2-40B4-BE49-F238E27FC236}">
                <a16:creationId xmlns:a16="http://schemas.microsoft.com/office/drawing/2014/main" id="{C5D62E43-D2E4-E40D-364A-45306B1FF945}"/>
              </a:ext>
            </a:extLst>
          </p:cNvPr>
          <p:cNvCxnSpPr>
            <a:cxnSpLocks/>
          </p:cNvCxnSpPr>
          <p:nvPr/>
        </p:nvCxnSpPr>
        <p:spPr>
          <a:xfrm>
            <a:off x="5420721" y="3045081"/>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C3A4D541-F5B0-E3AA-CFC0-42EF44703D28}"/>
              </a:ext>
            </a:extLst>
          </p:cNvPr>
          <p:cNvSpPr/>
          <p:nvPr/>
        </p:nvSpPr>
        <p:spPr>
          <a:xfrm>
            <a:off x="4068820" y="2787629"/>
            <a:ext cx="1331765"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Convert to Embedding</a:t>
            </a:r>
          </a:p>
        </p:txBody>
      </p:sp>
      <p:cxnSp>
        <p:nvCxnSpPr>
          <p:cNvPr id="7" name="Straight Arrow Connector 6">
            <a:extLst>
              <a:ext uri="{FF2B5EF4-FFF2-40B4-BE49-F238E27FC236}">
                <a16:creationId xmlns:a16="http://schemas.microsoft.com/office/drawing/2014/main" id="{9088D90D-84F3-13BE-17F7-ED9CD4ED94E5}"/>
              </a:ext>
            </a:extLst>
          </p:cNvPr>
          <p:cNvCxnSpPr>
            <a:cxnSpLocks/>
          </p:cNvCxnSpPr>
          <p:nvPr/>
        </p:nvCxnSpPr>
        <p:spPr>
          <a:xfrm>
            <a:off x="3089524" y="3019771"/>
            <a:ext cx="8905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EF58C91-588B-B432-6937-44FD972DA55D}"/>
              </a:ext>
            </a:extLst>
          </p:cNvPr>
          <p:cNvSpPr/>
          <p:nvPr/>
        </p:nvSpPr>
        <p:spPr>
          <a:xfrm>
            <a:off x="1737623" y="2787629"/>
            <a:ext cx="1331765" cy="514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Prompt</a:t>
            </a:r>
          </a:p>
        </p:txBody>
      </p:sp>
      <p:cxnSp>
        <p:nvCxnSpPr>
          <p:cNvPr id="9" name="Straight Arrow Connector 8">
            <a:extLst>
              <a:ext uri="{FF2B5EF4-FFF2-40B4-BE49-F238E27FC236}">
                <a16:creationId xmlns:a16="http://schemas.microsoft.com/office/drawing/2014/main" id="{C47D1045-EE2E-07E0-F3D6-5602E4982FDB}"/>
              </a:ext>
            </a:extLst>
          </p:cNvPr>
          <p:cNvCxnSpPr>
            <a:cxnSpLocks/>
          </p:cNvCxnSpPr>
          <p:nvPr/>
        </p:nvCxnSpPr>
        <p:spPr>
          <a:xfrm>
            <a:off x="9914590" y="3579961"/>
            <a:ext cx="0" cy="601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9E79C41-6FCE-CEC7-143E-D5A94C57525C}"/>
              </a:ext>
            </a:extLst>
          </p:cNvPr>
          <p:cNvSpPr/>
          <p:nvPr/>
        </p:nvSpPr>
        <p:spPr>
          <a:xfrm>
            <a:off x="9335198" y="2636730"/>
            <a:ext cx="1548249" cy="8167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Add Context to Prompt</a:t>
            </a:r>
          </a:p>
        </p:txBody>
      </p:sp>
      <p:cxnSp>
        <p:nvCxnSpPr>
          <p:cNvPr id="15" name="Straight Arrow Connector 14">
            <a:extLst>
              <a:ext uri="{FF2B5EF4-FFF2-40B4-BE49-F238E27FC236}">
                <a16:creationId xmlns:a16="http://schemas.microsoft.com/office/drawing/2014/main" id="{82CEC205-D1A5-4B7D-C833-2EBFD4275044}"/>
              </a:ext>
            </a:extLst>
          </p:cNvPr>
          <p:cNvCxnSpPr>
            <a:cxnSpLocks/>
          </p:cNvCxnSpPr>
          <p:nvPr/>
        </p:nvCxnSpPr>
        <p:spPr>
          <a:xfrm>
            <a:off x="8209789" y="3045081"/>
            <a:ext cx="9942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4B071FE-5CEB-A624-F0B9-C9904176CA06}"/>
              </a:ext>
            </a:extLst>
          </p:cNvPr>
          <p:cNvSpPr/>
          <p:nvPr/>
        </p:nvSpPr>
        <p:spPr>
          <a:xfrm>
            <a:off x="9342308" y="4307912"/>
            <a:ext cx="1548249" cy="81670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LLM generates Answer</a:t>
            </a:r>
          </a:p>
        </p:txBody>
      </p:sp>
      <p:sp>
        <p:nvSpPr>
          <p:cNvPr id="10" name="TextBox 9">
            <a:extLst>
              <a:ext uri="{FF2B5EF4-FFF2-40B4-BE49-F238E27FC236}">
                <a16:creationId xmlns:a16="http://schemas.microsoft.com/office/drawing/2014/main" id="{3D05CA29-1458-407C-3B54-8D99F5A7D7DE}"/>
              </a:ext>
            </a:extLst>
          </p:cNvPr>
          <p:cNvSpPr txBox="1"/>
          <p:nvPr/>
        </p:nvSpPr>
        <p:spPr>
          <a:xfrm>
            <a:off x="2355951" y="4055266"/>
            <a:ext cx="5722728" cy="1477328"/>
          </a:xfrm>
          <a:prstGeom prst="rect">
            <a:avLst/>
          </a:prstGeom>
          <a:noFill/>
        </p:spPr>
        <p:txBody>
          <a:bodyPr wrap="square" rtlCol="0">
            <a:spAutoFit/>
          </a:bodyPr>
          <a:lstStyle/>
          <a:p>
            <a:r>
              <a:rPr lang="en-IN" b="1" dirty="0">
                <a:solidFill>
                  <a:schemeClr val="bg1"/>
                </a:solidFill>
              </a:rPr>
              <a:t>Steps in a RAG pipeline:</a:t>
            </a:r>
          </a:p>
          <a:p>
            <a:pPr marL="342900" indent="-342900">
              <a:buAutoNum type="arabicPeriod"/>
            </a:pPr>
            <a:r>
              <a:rPr lang="en-IN" dirty="0">
                <a:solidFill>
                  <a:schemeClr val="bg1"/>
                </a:solidFill>
              </a:rPr>
              <a:t>Indexing</a:t>
            </a:r>
          </a:p>
          <a:p>
            <a:pPr marL="342900" indent="-342900">
              <a:buAutoNum type="arabicPeriod"/>
            </a:pPr>
            <a:r>
              <a:rPr lang="en-IN" dirty="0">
                <a:solidFill>
                  <a:schemeClr val="bg1"/>
                </a:solidFill>
              </a:rPr>
              <a:t>Retrieval</a:t>
            </a:r>
          </a:p>
          <a:p>
            <a:pPr marL="342900" indent="-342900">
              <a:buAutoNum type="arabicPeriod"/>
            </a:pPr>
            <a:r>
              <a:rPr lang="en-IN" dirty="0">
                <a:solidFill>
                  <a:schemeClr val="bg1"/>
                </a:solidFill>
              </a:rPr>
              <a:t>Augmentation</a:t>
            </a:r>
          </a:p>
          <a:p>
            <a:pPr marL="342900" indent="-342900">
              <a:buAutoNum type="arabicPeriod"/>
            </a:pPr>
            <a:r>
              <a:rPr lang="en-IN" dirty="0">
                <a:solidFill>
                  <a:schemeClr val="bg1"/>
                </a:solidFill>
              </a:rPr>
              <a:t>Generation</a:t>
            </a:r>
          </a:p>
        </p:txBody>
      </p:sp>
    </p:spTree>
    <p:extLst>
      <p:ext uri="{BB962C8B-B14F-4D97-AF65-F5344CB8AC3E}">
        <p14:creationId xmlns:p14="http://schemas.microsoft.com/office/powerpoint/2010/main" val="40943998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A068-575C-04DC-D6A4-3D3E40FC8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79B47-FDBB-0EF9-DBF9-C3AE46DCF124}"/>
              </a:ext>
            </a:extLst>
          </p:cNvPr>
          <p:cNvSpPr>
            <a:spLocks noGrp="1"/>
          </p:cNvSpPr>
          <p:nvPr>
            <p:ph type="ctrTitle"/>
          </p:nvPr>
        </p:nvSpPr>
        <p:spPr>
          <a:xfrm>
            <a:off x="1849922" y="221941"/>
            <a:ext cx="4204648" cy="688177"/>
          </a:xfrm>
        </p:spPr>
        <p:txBody>
          <a:bodyPr/>
          <a:lstStyle/>
          <a:p>
            <a:r>
              <a:rPr lang="en-IN" sz="4000" dirty="0"/>
              <a:t>Indexing </a:t>
            </a:r>
          </a:p>
        </p:txBody>
      </p:sp>
      <p:pic>
        <p:nvPicPr>
          <p:cNvPr id="4" name="Graphic 3" descr="Arrow: Slight curve with solid fill">
            <a:extLst>
              <a:ext uri="{FF2B5EF4-FFF2-40B4-BE49-F238E27FC236}">
                <a16:creationId xmlns:a16="http://schemas.microsoft.com/office/drawing/2014/main" id="{6A7345A7-1EA0-B8DC-1435-8D37488C81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6310B4CB-71F8-7EE2-22B8-1659F06303EF}"/>
              </a:ext>
            </a:extLst>
          </p:cNvPr>
          <p:cNvSpPr txBox="1"/>
          <p:nvPr/>
        </p:nvSpPr>
        <p:spPr>
          <a:xfrm>
            <a:off x="2050742" y="1071979"/>
            <a:ext cx="8984202" cy="369332"/>
          </a:xfrm>
          <a:prstGeom prst="rect">
            <a:avLst/>
          </a:prstGeom>
          <a:noFill/>
        </p:spPr>
        <p:txBody>
          <a:bodyPr wrap="square" rtlCol="0">
            <a:spAutoFit/>
          </a:bodyPr>
          <a:lstStyle/>
          <a:p>
            <a:r>
              <a:rPr lang="en-US" dirty="0">
                <a:solidFill>
                  <a:schemeClr val="bg1"/>
                </a:solidFill>
              </a:rPr>
              <a:t>Indexing is the process of preparing the knowledge so the system can search it efficiently.</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9B1BD98D-11CF-5B20-E3AF-D9E8C8C2F7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730316"/>
            <a:ext cx="357326" cy="357326"/>
          </a:xfrm>
          <a:prstGeom prst="rect">
            <a:avLst/>
          </a:prstGeom>
        </p:spPr>
      </p:pic>
      <p:sp>
        <p:nvSpPr>
          <p:cNvPr id="7" name="TextBox 6">
            <a:extLst>
              <a:ext uri="{FF2B5EF4-FFF2-40B4-BE49-F238E27FC236}">
                <a16:creationId xmlns:a16="http://schemas.microsoft.com/office/drawing/2014/main" id="{F61E42C5-68CC-8386-508C-C94FDA24FDEA}"/>
              </a:ext>
            </a:extLst>
          </p:cNvPr>
          <p:cNvSpPr txBox="1"/>
          <p:nvPr/>
        </p:nvSpPr>
        <p:spPr>
          <a:xfrm>
            <a:off x="2050741" y="1718310"/>
            <a:ext cx="7830105" cy="369332"/>
          </a:xfrm>
          <a:prstGeom prst="rect">
            <a:avLst/>
          </a:prstGeom>
          <a:noFill/>
        </p:spPr>
        <p:txBody>
          <a:bodyPr wrap="square" rtlCol="0">
            <a:spAutoFit/>
          </a:bodyPr>
          <a:lstStyle/>
          <a:p>
            <a:r>
              <a:rPr lang="en-US" dirty="0">
                <a:solidFill>
                  <a:schemeClr val="bg1"/>
                </a:solidFill>
              </a:rPr>
              <a:t>This steps consists of 4 sub-steps</a:t>
            </a:r>
            <a:r>
              <a:rPr lang="en-IN" dirty="0">
                <a:solidFill>
                  <a:schemeClr val="bg1"/>
                </a:solidFill>
              </a:rPr>
              <a:t>.</a:t>
            </a:r>
          </a:p>
        </p:txBody>
      </p:sp>
      <p:pic>
        <p:nvPicPr>
          <p:cNvPr id="10" name="Graphic 9" descr="Arrow: Slight curve with solid fill">
            <a:extLst>
              <a:ext uri="{FF2B5EF4-FFF2-40B4-BE49-F238E27FC236}">
                <a16:creationId xmlns:a16="http://schemas.microsoft.com/office/drawing/2014/main" id="{8B5F1C6F-CFA7-9E7A-6CD7-E490BAFE9D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2509143"/>
            <a:ext cx="357326" cy="357326"/>
          </a:xfrm>
          <a:prstGeom prst="rect">
            <a:avLst/>
          </a:prstGeom>
        </p:spPr>
      </p:pic>
      <p:sp>
        <p:nvSpPr>
          <p:cNvPr id="11" name="TextBox 10">
            <a:extLst>
              <a:ext uri="{FF2B5EF4-FFF2-40B4-BE49-F238E27FC236}">
                <a16:creationId xmlns:a16="http://schemas.microsoft.com/office/drawing/2014/main" id="{3F80B6A1-E24D-64ED-ACBF-DEC256748D7D}"/>
              </a:ext>
            </a:extLst>
          </p:cNvPr>
          <p:cNvSpPr txBox="1"/>
          <p:nvPr/>
        </p:nvSpPr>
        <p:spPr>
          <a:xfrm>
            <a:off x="2050742" y="2172609"/>
            <a:ext cx="7830105" cy="369332"/>
          </a:xfrm>
          <a:prstGeom prst="rect">
            <a:avLst/>
          </a:prstGeom>
          <a:noFill/>
        </p:spPr>
        <p:txBody>
          <a:bodyPr wrap="square" rtlCol="0">
            <a:spAutoFit/>
          </a:bodyPr>
          <a:lstStyle/>
          <a:p>
            <a:r>
              <a:rPr lang="en-IN" dirty="0">
                <a:solidFill>
                  <a:schemeClr val="bg1"/>
                </a:solidFill>
              </a:rPr>
              <a:t>.</a:t>
            </a:r>
          </a:p>
        </p:txBody>
      </p:sp>
      <p:sp>
        <p:nvSpPr>
          <p:cNvPr id="12" name="TextBox 11">
            <a:extLst>
              <a:ext uri="{FF2B5EF4-FFF2-40B4-BE49-F238E27FC236}">
                <a16:creationId xmlns:a16="http://schemas.microsoft.com/office/drawing/2014/main" id="{90031DBB-7816-C0C9-E800-1944F785B53C}"/>
              </a:ext>
            </a:extLst>
          </p:cNvPr>
          <p:cNvSpPr txBox="1"/>
          <p:nvPr/>
        </p:nvSpPr>
        <p:spPr>
          <a:xfrm>
            <a:off x="2050741" y="2087642"/>
            <a:ext cx="6800295" cy="1477328"/>
          </a:xfrm>
          <a:prstGeom prst="rect">
            <a:avLst/>
          </a:prstGeom>
          <a:noFill/>
        </p:spPr>
        <p:txBody>
          <a:bodyPr wrap="square" rtlCol="0">
            <a:spAutoFit/>
          </a:bodyPr>
          <a:lstStyle/>
          <a:p>
            <a:pPr lvl="0"/>
            <a:endParaRPr lang="en-IN" dirty="0">
              <a:solidFill>
                <a:schemeClr val="bg1"/>
              </a:solidFill>
            </a:endParaRPr>
          </a:p>
          <a:p>
            <a:pPr lvl="0"/>
            <a:r>
              <a:rPr lang="en-IN" dirty="0">
                <a:solidFill>
                  <a:schemeClr val="bg1"/>
                </a:solidFill>
              </a:rPr>
              <a:t>1. Document Ingestion</a:t>
            </a:r>
          </a:p>
          <a:p>
            <a:pPr lvl="0"/>
            <a:r>
              <a:rPr lang="en-IN" dirty="0">
                <a:solidFill>
                  <a:schemeClr val="bg1"/>
                </a:solidFill>
              </a:rPr>
              <a:t>2. Text Chunking</a:t>
            </a:r>
          </a:p>
          <a:p>
            <a:pPr lvl="0"/>
            <a:r>
              <a:rPr lang="en-IN" dirty="0">
                <a:solidFill>
                  <a:schemeClr val="bg1"/>
                </a:solidFill>
              </a:rPr>
              <a:t>3. Embedding Generation</a:t>
            </a:r>
          </a:p>
          <a:p>
            <a:pPr lvl="0"/>
            <a:r>
              <a:rPr lang="en-IN" dirty="0">
                <a:solidFill>
                  <a:schemeClr val="bg1"/>
                </a:solidFill>
              </a:rPr>
              <a:t>4. </a:t>
            </a:r>
            <a:r>
              <a:rPr lang="en-US" dirty="0">
                <a:solidFill>
                  <a:schemeClr val="bg1"/>
                </a:solidFill>
              </a:rPr>
              <a:t>Storage in a Vector Store </a:t>
            </a:r>
            <a:endParaRPr lang="en-IN" dirty="0">
              <a:solidFill>
                <a:schemeClr val="bg1"/>
              </a:solidFill>
            </a:endParaRPr>
          </a:p>
        </p:txBody>
      </p:sp>
    </p:spTree>
    <p:extLst>
      <p:ext uri="{BB962C8B-B14F-4D97-AF65-F5344CB8AC3E}">
        <p14:creationId xmlns:p14="http://schemas.microsoft.com/office/powerpoint/2010/main" val="2819743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4B545-EF7C-E7C3-CABB-61CC1F548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1C448-9405-0153-24CA-331B605AFD7C}"/>
              </a:ext>
            </a:extLst>
          </p:cNvPr>
          <p:cNvSpPr>
            <a:spLocks noGrp="1"/>
          </p:cNvSpPr>
          <p:nvPr>
            <p:ph type="ctrTitle"/>
          </p:nvPr>
        </p:nvSpPr>
        <p:spPr>
          <a:xfrm>
            <a:off x="1849922" y="221941"/>
            <a:ext cx="4204648" cy="688177"/>
          </a:xfrm>
        </p:spPr>
        <p:txBody>
          <a:bodyPr/>
          <a:lstStyle/>
          <a:p>
            <a:r>
              <a:rPr lang="en-IN" sz="4000" dirty="0"/>
              <a:t>Indexing </a:t>
            </a:r>
          </a:p>
        </p:txBody>
      </p:sp>
      <p:pic>
        <p:nvPicPr>
          <p:cNvPr id="4" name="Graphic 3" descr="Arrow: Slight curve with solid fill">
            <a:extLst>
              <a:ext uri="{FF2B5EF4-FFF2-40B4-BE49-F238E27FC236}">
                <a16:creationId xmlns:a16="http://schemas.microsoft.com/office/drawing/2014/main" id="{44D7BC1D-4B9D-C7C5-6E3E-2FE7948203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F154BC1C-AB38-3604-AADB-8A91C190590C}"/>
              </a:ext>
            </a:extLst>
          </p:cNvPr>
          <p:cNvSpPr txBox="1"/>
          <p:nvPr/>
        </p:nvSpPr>
        <p:spPr>
          <a:xfrm>
            <a:off x="2050742" y="1071979"/>
            <a:ext cx="8984202" cy="369332"/>
          </a:xfrm>
          <a:prstGeom prst="rect">
            <a:avLst/>
          </a:prstGeom>
          <a:noFill/>
        </p:spPr>
        <p:txBody>
          <a:bodyPr wrap="square" rtlCol="0">
            <a:spAutoFit/>
          </a:bodyPr>
          <a:lstStyle/>
          <a:p>
            <a:r>
              <a:rPr lang="en-US" dirty="0">
                <a:solidFill>
                  <a:schemeClr val="bg1"/>
                </a:solidFill>
              </a:rPr>
              <a:t>Indexing is the process of preparing the knowledge so the system can search it efficiently.</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5125DAE5-69B9-0B97-683D-5316EF3FEB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730316"/>
            <a:ext cx="357326" cy="357326"/>
          </a:xfrm>
          <a:prstGeom prst="rect">
            <a:avLst/>
          </a:prstGeom>
        </p:spPr>
      </p:pic>
      <p:sp>
        <p:nvSpPr>
          <p:cNvPr id="7" name="TextBox 6">
            <a:extLst>
              <a:ext uri="{FF2B5EF4-FFF2-40B4-BE49-F238E27FC236}">
                <a16:creationId xmlns:a16="http://schemas.microsoft.com/office/drawing/2014/main" id="{1A1D2F15-B4BB-D03E-FF13-C4DAF7B0B409}"/>
              </a:ext>
            </a:extLst>
          </p:cNvPr>
          <p:cNvSpPr txBox="1"/>
          <p:nvPr/>
        </p:nvSpPr>
        <p:spPr>
          <a:xfrm>
            <a:off x="2050741" y="1718310"/>
            <a:ext cx="7830105" cy="369332"/>
          </a:xfrm>
          <a:prstGeom prst="rect">
            <a:avLst/>
          </a:prstGeom>
          <a:noFill/>
        </p:spPr>
        <p:txBody>
          <a:bodyPr wrap="square" rtlCol="0">
            <a:spAutoFit/>
          </a:bodyPr>
          <a:lstStyle/>
          <a:p>
            <a:r>
              <a:rPr lang="en-US" dirty="0">
                <a:solidFill>
                  <a:schemeClr val="bg1"/>
                </a:solidFill>
              </a:rPr>
              <a:t>This steps consists of 4 sub-steps</a:t>
            </a:r>
            <a:r>
              <a:rPr lang="en-IN" dirty="0">
                <a:solidFill>
                  <a:schemeClr val="bg1"/>
                </a:solidFill>
              </a:rPr>
              <a:t>.</a:t>
            </a:r>
          </a:p>
        </p:txBody>
      </p:sp>
      <p:pic>
        <p:nvPicPr>
          <p:cNvPr id="10" name="Graphic 9" descr="Arrow: Slight curve with solid fill">
            <a:extLst>
              <a:ext uri="{FF2B5EF4-FFF2-40B4-BE49-F238E27FC236}">
                <a16:creationId xmlns:a16="http://schemas.microsoft.com/office/drawing/2014/main" id="{5C34651E-DEAF-0BDE-5D4B-C3CF24BBA2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2509143"/>
            <a:ext cx="357326" cy="357326"/>
          </a:xfrm>
          <a:prstGeom prst="rect">
            <a:avLst/>
          </a:prstGeom>
        </p:spPr>
      </p:pic>
      <p:sp>
        <p:nvSpPr>
          <p:cNvPr id="12" name="TextBox 11">
            <a:extLst>
              <a:ext uri="{FF2B5EF4-FFF2-40B4-BE49-F238E27FC236}">
                <a16:creationId xmlns:a16="http://schemas.microsoft.com/office/drawing/2014/main" id="{14BEEB32-C2A8-B169-42C7-AABC2847FDCA}"/>
              </a:ext>
            </a:extLst>
          </p:cNvPr>
          <p:cNvSpPr txBox="1"/>
          <p:nvPr/>
        </p:nvSpPr>
        <p:spPr>
          <a:xfrm>
            <a:off x="2050742" y="2087642"/>
            <a:ext cx="3036164" cy="1477328"/>
          </a:xfrm>
          <a:prstGeom prst="rect">
            <a:avLst/>
          </a:prstGeom>
          <a:noFill/>
        </p:spPr>
        <p:txBody>
          <a:bodyPr wrap="square" rtlCol="0">
            <a:spAutoFit/>
          </a:bodyPr>
          <a:lstStyle/>
          <a:p>
            <a:pPr lvl="0"/>
            <a:endParaRPr lang="en-IN" dirty="0">
              <a:solidFill>
                <a:schemeClr val="bg1"/>
              </a:solidFill>
            </a:endParaRPr>
          </a:p>
          <a:p>
            <a:pPr lvl="0"/>
            <a:r>
              <a:rPr lang="en-IN" dirty="0">
                <a:solidFill>
                  <a:schemeClr val="bg1"/>
                </a:solidFill>
              </a:rPr>
              <a:t>1. Document Ingestion</a:t>
            </a:r>
          </a:p>
          <a:p>
            <a:pPr lvl="0"/>
            <a:r>
              <a:rPr lang="en-IN" dirty="0">
                <a:solidFill>
                  <a:schemeClr val="bg1"/>
                </a:solidFill>
              </a:rPr>
              <a:t>2. Text Chunking</a:t>
            </a:r>
          </a:p>
          <a:p>
            <a:pPr lvl="0"/>
            <a:r>
              <a:rPr lang="en-IN" dirty="0">
                <a:solidFill>
                  <a:schemeClr val="bg1"/>
                </a:solidFill>
              </a:rPr>
              <a:t>3. Embedding Generation</a:t>
            </a:r>
          </a:p>
          <a:p>
            <a:pPr lvl="0"/>
            <a:r>
              <a:rPr lang="en-IN" dirty="0">
                <a:solidFill>
                  <a:schemeClr val="bg1"/>
                </a:solidFill>
              </a:rPr>
              <a:t>4. </a:t>
            </a:r>
            <a:r>
              <a:rPr lang="en-US" dirty="0">
                <a:solidFill>
                  <a:schemeClr val="bg1"/>
                </a:solidFill>
              </a:rPr>
              <a:t>Storage in a Vector Store </a:t>
            </a:r>
            <a:endParaRPr lang="en-IN" dirty="0">
              <a:solidFill>
                <a:schemeClr val="bg1"/>
              </a:solidFill>
            </a:endParaRPr>
          </a:p>
        </p:txBody>
      </p:sp>
      <p:sp>
        <p:nvSpPr>
          <p:cNvPr id="8" name="TextBox 7">
            <a:extLst>
              <a:ext uri="{FF2B5EF4-FFF2-40B4-BE49-F238E27FC236}">
                <a16:creationId xmlns:a16="http://schemas.microsoft.com/office/drawing/2014/main" id="{97B56D0D-3F8A-110A-BECE-27D9D767DA95}"/>
              </a:ext>
            </a:extLst>
          </p:cNvPr>
          <p:cNvSpPr txBox="1"/>
          <p:nvPr/>
        </p:nvSpPr>
        <p:spPr>
          <a:xfrm>
            <a:off x="5086906" y="2456974"/>
            <a:ext cx="6094520" cy="3693319"/>
          </a:xfrm>
          <a:prstGeom prst="rect">
            <a:avLst/>
          </a:prstGeom>
          <a:noFill/>
        </p:spPr>
        <p:txBody>
          <a:bodyPr wrap="square">
            <a:spAutoFit/>
          </a:bodyPr>
          <a:lstStyle/>
          <a:p>
            <a:pPr lvl="0"/>
            <a:r>
              <a:rPr lang="en-IN" b="1" dirty="0">
                <a:solidFill>
                  <a:schemeClr val="bg1"/>
                </a:solidFill>
              </a:rPr>
              <a:t>What is Embedding Generation ?</a:t>
            </a:r>
          </a:p>
          <a:p>
            <a:pPr marL="342900" lvl="0" indent="-342900">
              <a:buAutoNum type="arabicPeriod"/>
            </a:pPr>
            <a:r>
              <a:rPr lang="en-IN" dirty="0">
                <a:solidFill>
                  <a:schemeClr val="bg1"/>
                </a:solidFill>
              </a:rPr>
              <a:t>Embeddings are numerical vector representation of a text that captures its semantic meaning.</a:t>
            </a:r>
          </a:p>
          <a:p>
            <a:pPr lvl="0"/>
            <a:endParaRPr lang="en-IN" dirty="0">
              <a:solidFill>
                <a:schemeClr val="bg1"/>
              </a:solidFill>
            </a:endParaRPr>
          </a:p>
          <a:p>
            <a:pPr lvl="0"/>
            <a:r>
              <a:rPr lang="en-IN" dirty="0">
                <a:solidFill>
                  <a:schemeClr val="bg1"/>
                </a:solidFill>
              </a:rPr>
              <a:t>2.  It allows machines to understand similarity between words.</a:t>
            </a:r>
          </a:p>
          <a:p>
            <a:pPr lvl="0"/>
            <a:endParaRPr lang="en-IN" dirty="0">
              <a:solidFill>
                <a:schemeClr val="bg1"/>
              </a:solidFill>
            </a:endParaRPr>
          </a:p>
          <a:p>
            <a:pPr lvl="0"/>
            <a:r>
              <a:rPr lang="en-IN" dirty="0">
                <a:solidFill>
                  <a:schemeClr val="bg1"/>
                </a:solidFill>
              </a:rPr>
              <a:t>3. Text are sent to an Embedding model which converts it into         	a vector i.e. list of numbers</a:t>
            </a:r>
          </a:p>
          <a:p>
            <a:pPr lvl="0"/>
            <a:r>
              <a:rPr lang="en-IN" dirty="0">
                <a:solidFill>
                  <a:schemeClr val="bg1"/>
                </a:solidFill>
              </a:rPr>
              <a:t>	Example: [0.23, -0.11, 0.76, 0.45, ….]</a:t>
            </a:r>
          </a:p>
          <a:p>
            <a:pPr lvl="0"/>
            <a:endParaRPr lang="en-IN" dirty="0">
              <a:solidFill>
                <a:schemeClr val="bg1"/>
              </a:solidFill>
            </a:endParaRPr>
          </a:p>
          <a:p>
            <a:pPr lvl="0"/>
            <a:r>
              <a:rPr lang="en-IN" dirty="0">
                <a:solidFill>
                  <a:schemeClr val="bg1"/>
                </a:solidFill>
              </a:rPr>
              <a:t>4. There can be very high dimensions in a vector, Eg: 384, 768, 	1536  etc.</a:t>
            </a:r>
          </a:p>
          <a:p>
            <a:pPr lvl="0"/>
            <a:endParaRPr lang="en-IN" dirty="0">
              <a:solidFill>
                <a:schemeClr val="bg1"/>
              </a:solidFill>
            </a:endParaRPr>
          </a:p>
        </p:txBody>
      </p:sp>
    </p:spTree>
    <p:extLst>
      <p:ext uri="{BB962C8B-B14F-4D97-AF65-F5344CB8AC3E}">
        <p14:creationId xmlns:p14="http://schemas.microsoft.com/office/powerpoint/2010/main" val="10023608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29622-5D59-59F1-2653-D1A13B234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381F85-9698-4414-32F0-6798FE5E926D}"/>
              </a:ext>
            </a:extLst>
          </p:cNvPr>
          <p:cNvSpPr>
            <a:spLocks noGrp="1"/>
          </p:cNvSpPr>
          <p:nvPr>
            <p:ph type="ctrTitle"/>
          </p:nvPr>
        </p:nvSpPr>
        <p:spPr>
          <a:xfrm>
            <a:off x="1849922" y="221941"/>
            <a:ext cx="4204648" cy="688177"/>
          </a:xfrm>
        </p:spPr>
        <p:txBody>
          <a:bodyPr/>
          <a:lstStyle/>
          <a:p>
            <a:r>
              <a:rPr lang="en-IN" sz="4000" dirty="0"/>
              <a:t>Retrieval</a:t>
            </a:r>
          </a:p>
        </p:txBody>
      </p:sp>
      <p:pic>
        <p:nvPicPr>
          <p:cNvPr id="4" name="Graphic 3" descr="Arrow: Slight curve with solid fill">
            <a:extLst>
              <a:ext uri="{FF2B5EF4-FFF2-40B4-BE49-F238E27FC236}">
                <a16:creationId xmlns:a16="http://schemas.microsoft.com/office/drawing/2014/main" id="{C76C781D-0A7C-9662-8CD4-BD65B27823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EFDB1616-CC12-299F-F74D-64399A86A074}"/>
              </a:ext>
            </a:extLst>
          </p:cNvPr>
          <p:cNvSpPr txBox="1"/>
          <p:nvPr/>
        </p:nvSpPr>
        <p:spPr>
          <a:xfrm>
            <a:off x="1923164" y="982510"/>
            <a:ext cx="8984202" cy="646331"/>
          </a:xfrm>
          <a:prstGeom prst="rect">
            <a:avLst/>
          </a:prstGeom>
          <a:noFill/>
        </p:spPr>
        <p:txBody>
          <a:bodyPr wrap="square" rtlCol="0">
            <a:spAutoFit/>
          </a:bodyPr>
          <a:lstStyle/>
          <a:p>
            <a:r>
              <a:rPr lang="en-US" dirty="0">
                <a:solidFill>
                  <a:schemeClr val="bg1"/>
                </a:solidFill>
              </a:rPr>
              <a:t>When a user asks a question, the system </a:t>
            </a:r>
            <a:r>
              <a:rPr lang="en-US" b="1" dirty="0">
                <a:solidFill>
                  <a:schemeClr val="bg1"/>
                </a:solidFill>
              </a:rPr>
              <a:t>searches the vector database</a:t>
            </a:r>
            <a:r>
              <a:rPr lang="en-US" dirty="0">
                <a:solidFill>
                  <a:schemeClr val="bg1"/>
                </a:solidFill>
              </a:rPr>
              <a:t> and retrieves the most relevant chunks.</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E596C77A-AD6B-7002-8ED4-72A9E7E829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730316"/>
            <a:ext cx="357326" cy="357326"/>
          </a:xfrm>
          <a:prstGeom prst="rect">
            <a:avLst/>
          </a:prstGeom>
        </p:spPr>
      </p:pic>
      <p:sp>
        <p:nvSpPr>
          <p:cNvPr id="7" name="TextBox 6">
            <a:extLst>
              <a:ext uri="{FF2B5EF4-FFF2-40B4-BE49-F238E27FC236}">
                <a16:creationId xmlns:a16="http://schemas.microsoft.com/office/drawing/2014/main" id="{1A5CF483-808D-C831-A7A5-29305883470A}"/>
              </a:ext>
            </a:extLst>
          </p:cNvPr>
          <p:cNvSpPr txBox="1"/>
          <p:nvPr/>
        </p:nvSpPr>
        <p:spPr>
          <a:xfrm>
            <a:off x="1923164" y="1708603"/>
            <a:ext cx="7830105" cy="369332"/>
          </a:xfrm>
          <a:prstGeom prst="rect">
            <a:avLst/>
          </a:prstGeom>
          <a:noFill/>
        </p:spPr>
        <p:txBody>
          <a:bodyPr wrap="square" rtlCol="0">
            <a:spAutoFit/>
          </a:bodyPr>
          <a:lstStyle/>
          <a:p>
            <a:r>
              <a:rPr lang="en-US" dirty="0">
                <a:solidFill>
                  <a:schemeClr val="bg1"/>
                </a:solidFill>
              </a:rPr>
              <a:t>Retrieves the data created during indexing based on the user’s question.</a:t>
            </a:r>
            <a:endParaRPr lang="en-IN" dirty="0">
              <a:solidFill>
                <a:schemeClr val="bg1"/>
              </a:solidFill>
            </a:endParaRPr>
          </a:p>
        </p:txBody>
      </p:sp>
      <p:sp>
        <p:nvSpPr>
          <p:cNvPr id="11" name="TextBox 10">
            <a:extLst>
              <a:ext uri="{FF2B5EF4-FFF2-40B4-BE49-F238E27FC236}">
                <a16:creationId xmlns:a16="http://schemas.microsoft.com/office/drawing/2014/main" id="{F8A22C2A-B974-6089-718F-B3DBDC756B79}"/>
              </a:ext>
            </a:extLst>
          </p:cNvPr>
          <p:cNvSpPr txBox="1"/>
          <p:nvPr/>
        </p:nvSpPr>
        <p:spPr>
          <a:xfrm>
            <a:off x="2090689" y="3504260"/>
            <a:ext cx="7830105" cy="369332"/>
          </a:xfrm>
          <a:prstGeom prst="rect">
            <a:avLst/>
          </a:prstGeom>
          <a:noFill/>
        </p:spPr>
        <p:txBody>
          <a:bodyPr wrap="square" rtlCol="0">
            <a:spAutoFit/>
          </a:bodyPr>
          <a:lstStyle/>
          <a:p>
            <a:r>
              <a:rPr lang="en-IN" dirty="0">
                <a:solidFill>
                  <a:schemeClr val="bg1"/>
                </a:solidFill>
              </a:rPr>
              <a:t>.</a:t>
            </a:r>
          </a:p>
        </p:txBody>
      </p:sp>
      <p:pic>
        <p:nvPicPr>
          <p:cNvPr id="17" name="Picture 16">
            <a:extLst>
              <a:ext uri="{FF2B5EF4-FFF2-40B4-BE49-F238E27FC236}">
                <a16:creationId xmlns:a16="http://schemas.microsoft.com/office/drawing/2014/main" id="{80FBE01F-4DD3-94F3-837D-265061D998FA}"/>
              </a:ext>
            </a:extLst>
          </p:cNvPr>
          <p:cNvPicPr>
            <a:picLocks noChangeAspect="1"/>
          </p:cNvPicPr>
          <p:nvPr/>
        </p:nvPicPr>
        <p:blipFill>
          <a:blip r:embed="rId3"/>
          <a:stretch>
            <a:fillRect/>
          </a:stretch>
        </p:blipFill>
        <p:spPr>
          <a:xfrm>
            <a:off x="6960093" y="2053765"/>
            <a:ext cx="3567752" cy="2531249"/>
          </a:xfrm>
          <a:prstGeom prst="rect">
            <a:avLst/>
          </a:prstGeom>
        </p:spPr>
      </p:pic>
    </p:spTree>
    <p:extLst>
      <p:ext uri="{BB962C8B-B14F-4D97-AF65-F5344CB8AC3E}">
        <p14:creationId xmlns:p14="http://schemas.microsoft.com/office/powerpoint/2010/main" val="2425390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774D0-C622-DBA9-722E-A47FF94BD7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580DB-9936-289D-AA54-E9E808E3A65A}"/>
              </a:ext>
            </a:extLst>
          </p:cNvPr>
          <p:cNvSpPr>
            <a:spLocks noGrp="1"/>
          </p:cNvSpPr>
          <p:nvPr>
            <p:ph type="ctrTitle"/>
          </p:nvPr>
        </p:nvSpPr>
        <p:spPr>
          <a:xfrm>
            <a:off x="1849922" y="221941"/>
            <a:ext cx="4204648" cy="688177"/>
          </a:xfrm>
        </p:spPr>
        <p:txBody>
          <a:bodyPr/>
          <a:lstStyle/>
          <a:p>
            <a:r>
              <a:rPr lang="en-IN" sz="4000" dirty="0"/>
              <a:t>Retrieval</a:t>
            </a:r>
          </a:p>
        </p:txBody>
      </p:sp>
      <p:pic>
        <p:nvPicPr>
          <p:cNvPr id="4" name="Graphic 3" descr="Arrow: Slight curve with solid fill">
            <a:extLst>
              <a:ext uri="{FF2B5EF4-FFF2-40B4-BE49-F238E27FC236}">
                <a16:creationId xmlns:a16="http://schemas.microsoft.com/office/drawing/2014/main" id="{D4F37130-6EFC-6B13-60C7-7265DF773E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EEC5AFED-BAD5-2453-AC0E-8003B26A7185}"/>
              </a:ext>
            </a:extLst>
          </p:cNvPr>
          <p:cNvSpPr txBox="1"/>
          <p:nvPr/>
        </p:nvSpPr>
        <p:spPr>
          <a:xfrm>
            <a:off x="1923164" y="982510"/>
            <a:ext cx="8984202" cy="646331"/>
          </a:xfrm>
          <a:prstGeom prst="rect">
            <a:avLst/>
          </a:prstGeom>
          <a:noFill/>
        </p:spPr>
        <p:txBody>
          <a:bodyPr wrap="square" rtlCol="0">
            <a:spAutoFit/>
          </a:bodyPr>
          <a:lstStyle/>
          <a:p>
            <a:r>
              <a:rPr lang="en-US" dirty="0">
                <a:solidFill>
                  <a:schemeClr val="bg1"/>
                </a:solidFill>
              </a:rPr>
              <a:t>When a user asks a question, the system </a:t>
            </a:r>
            <a:r>
              <a:rPr lang="en-US" b="1" dirty="0">
                <a:solidFill>
                  <a:schemeClr val="bg1"/>
                </a:solidFill>
              </a:rPr>
              <a:t>searches the vector database</a:t>
            </a:r>
            <a:r>
              <a:rPr lang="en-US" dirty="0">
                <a:solidFill>
                  <a:schemeClr val="bg1"/>
                </a:solidFill>
              </a:rPr>
              <a:t> and retrieves the most relevant chunks.</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6F6E989C-59C7-DF19-23CC-799F115E23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730316"/>
            <a:ext cx="357326" cy="357326"/>
          </a:xfrm>
          <a:prstGeom prst="rect">
            <a:avLst/>
          </a:prstGeom>
        </p:spPr>
      </p:pic>
      <p:sp>
        <p:nvSpPr>
          <p:cNvPr id="7" name="TextBox 6">
            <a:extLst>
              <a:ext uri="{FF2B5EF4-FFF2-40B4-BE49-F238E27FC236}">
                <a16:creationId xmlns:a16="http://schemas.microsoft.com/office/drawing/2014/main" id="{8643732C-C630-DB3E-C151-38B32C4B3C44}"/>
              </a:ext>
            </a:extLst>
          </p:cNvPr>
          <p:cNvSpPr txBox="1"/>
          <p:nvPr/>
        </p:nvSpPr>
        <p:spPr>
          <a:xfrm>
            <a:off x="1923164" y="1708603"/>
            <a:ext cx="7830105" cy="369332"/>
          </a:xfrm>
          <a:prstGeom prst="rect">
            <a:avLst/>
          </a:prstGeom>
          <a:noFill/>
        </p:spPr>
        <p:txBody>
          <a:bodyPr wrap="square" rtlCol="0">
            <a:spAutoFit/>
          </a:bodyPr>
          <a:lstStyle/>
          <a:p>
            <a:r>
              <a:rPr lang="en-US" dirty="0">
                <a:solidFill>
                  <a:schemeClr val="bg1"/>
                </a:solidFill>
              </a:rPr>
              <a:t>Retrieves the data created during indexing based on the user’s question.</a:t>
            </a:r>
            <a:endParaRPr lang="en-IN" dirty="0">
              <a:solidFill>
                <a:schemeClr val="bg1"/>
              </a:solidFill>
            </a:endParaRPr>
          </a:p>
        </p:txBody>
      </p:sp>
      <p:pic>
        <p:nvPicPr>
          <p:cNvPr id="10" name="Graphic 9" descr="Arrow: Slight curve with solid fill">
            <a:extLst>
              <a:ext uri="{FF2B5EF4-FFF2-40B4-BE49-F238E27FC236}">
                <a16:creationId xmlns:a16="http://schemas.microsoft.com/office/drawing/2014/main" id="{96011F50-422A-D205-A16E-B64A2628E9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617" y="2563228"/>
            <a:ext cx="357326" cy="357326"/>
          </a:xfrm>
          <a:prstGeom prst="rect">
            <a:avLst/>
          </a:prstGeom>
        </p:spPr>
      </p:pic>
      <p:sp>
        <p:nvSpPr>
          <p:cNvPr id="11" name="TextBox 10">
            <a:extLst>
              <a:ext uri="{FF2B5EF4-FFF2-40B4-BE49-F238E27FC236}">
                <a16:creationId xmlns:a16="http://schemas.microsoft.com/office/drawing/2014/main" id="{4D9AB6E7-68E6-5AB8-1F1A-AB5D2A77A388}"/>
              </a:ext>
            </a:extLst>
          </p:cNvPr>
          <p:cNvSpPr txBox="1"/>
          <p:nvPr/>
        </p:nvSpPr>
        <p:spPr>
          <a:xfrm>
            <a:off x="2090689" y="3504260"/>
            <a:ext cx="7830105" cy="369332"/>
          </a:xfrm>
          <a:prstGeom prst="rect">
            <a:avLst/>
          </a:prstGeom>
          <a:noFill/>
        </p:spPr>
        <p:txBody>
          <a:bodyPr wrap="square" rtlCol="0">
            <a:spAutoFit/>
          </a:bodyPr>
          <a:lstStyle/>
          <a:p>
            <a:r>
              <a:rPr lang="en-IN" dirty="0">
                <a:solidFill>
                  <a:schemeClr val="bg1"/>
                </a:solidFill>
              </a:rPr>
              <a:t>.</a:t>
            </a:r>
          </a:p>
        </p:txBody>
      </p:sp>
      <p:sp>
        <p:nvSpPr>
          <p:cNvPr id="12" name="TextBox 11">
            <a:extLst>
              <a:ext uri="{FF2B5EF4-FFF2-40B4-BE49-F238E27FC236}">
                <a16:creationId xmlns:a16="http://schemas.microsoft.com/office/drawing/2014/main" id="{F0880B95-DA2D-A841-7012-9089B932819D}"/>
              </a:ext>
            </a:extLst>
          </p:cNvPr>
          <p:cNvSpPr txBox="1"/>
          <p:nvPr/>
        </p:nvSpPr>
        <p:spPr>
          <a:xfrm>
            <a:off x="2050741" y="2535501"/>
            <a:ext cx="6800295" cy="646331"/>
          </a:xfrm>
          <a:prstGeom prst="rect">
            <a:avLst/>
          </a:prstGeom>
          <a:noFill/>
        </p:spPr>
        <p:txBody>
          <a:bodyPr wrap="square" rtlCol="0">
            <a:spAutoFit/>
          </a:bodyPr>
          <a:lstStyle/>
          <a:p>
            <a:pPr lvl="0"/>
            <a:r>
              <a:rPr lang="en-IN" dirty="0">
                <a:solidFill>
                  <a:schemeClr val="bg1"/>
                </a:solidFill>
              </a:rPr>
              <a:t>It uses Cosine Similarity to </a:t>
            </a:r>
            <a:r>
              <a:rPr lang="en-US" dirty="0">
                <a:solidFill>
                  <a:schemeClr val="bg1"/>
                </a:solidFill>
              </a:rPr>
              <a:t>measure how </a:t>
            </a:r>
          </a:p>
          <a:p>
            <a:pPr lvl="0"/>
            <a:r>
              <a:rPr lang="en-US" b="1" dirty="0">
                <a:solidFill>
                  <a:schemeClr val="bg1"/>
                </a:solidFill>
              </a:rPr>
              <a:t>close two vectors are in meaning</a:t>
            </a:r>
            <a:endParaRPr lang="en-IN" dirty="0">
              <a:solidFill>
                <a:schemeClr val="bg1"/>
              </a:solidFill>
            </a:endParaRPr>
          </a:p>
        </p:txBody>
      </p:sp>
      <p:sp>
        <p:nvSpPr>
          <p:cNvPr id="8" name="TextBox 7">
            <a:extLst>
              <a:ext uri="{FF2B5EF4-FFF2-40B4-BE49-F238E27FC236}">
                <a16:creationId xmlns:a16="http://schemas.microsoft.com/office/drawing/2014/main" id="{355656BB-1FFA-C70C-B7BE-FFE73233E827}"/>
              </a:ext>
            </a:extLst>
          </p:cNvPr>
          <p:cNvSpPr txBox="1"/>
          <p:nvPr/>
        </p:nvSpPr>
        <p:spPr>
          <a:xfrm>
            <a:off x="2070715" y="3233762"/>
            <a:ext cx="6094520" cy="1200329"/>
          </a:xfrm>
          <a:prstGeom prst="rect">
            <a:avLst/>
          </a:prstGeom>
          <a:noFill/>
        </p:spPr>
        <p:txBody>
          <a:bodyPr wrap="square">
            <a:spAutoFit/>
          </a:bodyPr>
          <a:lstStyle/>
          <a:p>
            <a:pPr>
              <a:buNone/>
            </a:pPr>
            <a:r>
              <a:rPr lang="en-US" dirty="0">
                <a:solidFill>
                  <a:schemeClr val="bg1"/>
                </a:solidFill>
              </a:rPr>
              <a:t>Value ranges from </a:t>
            </a:r>
            <a:r>
              <a:rPr lang="en-US" b="1" dirty="0">
                <a:solidFill>
                  <a:schemeClr val="bg1"/>
                </a:solidFill>
              </a:rPr>
              <a:t>-1 to 1</a:t>
            </a:r>
            <a:endParaRPr lang="en-US" dirty="0">
              <a:solidFill>
                <a:schemeClr val="bg1"/>
              </a:solidFill>
            </a:endParaRPr>
          </a:p>
          <a:p>
            <a:pPr>
              <a:buNone/>
            </a:pPr>
            <a:r>
              <a:rPr lang="en-US" b="1" dirty="0">
                <a:solidFill>
                  <a:schemeClr val="bg1"/>
                </a:solidFill>
              </a:rPr>
              <a:t>1 → very similar</a:t>
            </a:r>
            <a:endParaRPr lang="en-US" dirty="0">
              <a:solidFill>
                <a:schemeClr val="bg1"/>
              </a:solidFill>
            </a:endParaRPr>
          </a:p>
          <a:p>
            <a:r>
              <a:rPr lang="en-US" b="1" dirty="0">
                <a:solidFill>
                  <a:schemeClr val="bg1"/>
                </a:solidFill>
              </a:rPr>
              <a:t>0 → unrelated</a:t>
            </a:r>
            <a:endParaRPr lang="en-US" dirty="0">
              <a:solidFill>
                <a:schemeClr val="bg1"/>
              </a:solidFill>
            </a:endParaRPr>
          </a:p>
          <a:p>
            <a:r>
              <a:rPr lang="en-US" b="1" dirty="0">
                <a:solidFill>
                  <a:schemeClr val="bg1"/>
                </a:solidFill>
              </a:rPr>
              <a:t>-1 → opposite</a:t>
            </a:r>
            <a:endParaRPr lang="en-US" dirty="0">
              <a:solidFill>
                <a:schemeClr val="bg1"/>
              </a:solidFill>
            </a:endParaRPr>
          </a:p>
        </p:txBody>
      </p:sp>
      <p:sp>
        <p:nvSpPr>
          <p:cNvPr id="13" name="TextBox 12">
            <a:extLst>
              <a:ext uri="{FF2B5EF4-FFF2-40B4-BE49-F238E27FC236}">
                <a16:creationId xmlns:a16="http://schemas.microsoft.com/office/drawing/2014/main" id="{49D6E108-5C13-288A-1974-66BDA93F6697}"/>
              </a:ext>
            </a:extLst>
          </p:cNvPr>
          <p:cNvSpPr txBox="1"/>
          <p:nvPr/>
        </p:nvSpPr>
        <p:spPr>
          <a:xfrm>
            <a:off x="2090688" y="4519384"/>
            <a:ext cx="6094520" cy="369332"/>
          </a:xfrm>
          <a:prstGeom prst="rect">
            <a:avLst/>
          </a:prstGeom>
          <a:noFill/>
        </p:spPr>
        <p:txBody>
          <a:bodyPr wrap="square">
            <a:spAutoFit/>
          </a:bodyPr>
          <a:lstStyle/>
          <a:p>
            <a:r>
              <a:rPr lang="en-US" dirty="0">
                <a:solidFill>
                  <a:schemeClr val="bg1"/>
                </a:solidFill>
              </a:rPr>
              <a:t>Top matching chunks are retrieved and passed to the model.</a:t>
            </a:r>
            <a:endParaRPr lang="en-IN" dirty="0">
              <a:solidFill>
                <a:schemeClr val="bg1"/>
              </a:solidFill>
            </a:endParaRPr>
          </a:p>
        </p:txBody>
      </p:sp>
      <p:pic>
        <p:nvPicPr>
          <p:cNvPr id="14" name="Graphic 13" descr="Arrow: Slight curve with solid fill">
            <a:extLst>
              <a:ext uri="{FF2B5EF4-FFF2-40B4-BE49-F238E27FC236}">
                <a16:creationId xmlns:a16="http://schemas.microsoft.com/office/drawing/2014/main" id="{D3CB5C00-AEC4-C884-0298-060722503F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3383426"/>
            <a:ext cx="357326" cy="357326"/>
          </a:xfrm>
          <a:prstGeom prst="rect">
            <a:avLst/>
          </a:prstGeom>
        </p:spPr>
      </p:pic>
      <p:pic>
        <p:nvPicPr>
          <p:cNvPr id="15" name="Graphic 14" descr="Arrow: Slight curve with solid fill">
            <a:extLst>
              <a:ext uri="{FF2B5EF4-FFF2-40B4-BE49-F238E27FC236}">
                <a16:creationId xmlns:a16="http://schemas.microsoft.com/office/drawing/2014/main" id="{3710B98B-D402-69F1-77BD-E52499B562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617" y="4513434"/>
            <a:ext cx="357326" cy="357326"/>
          </a:xfrm>
          <a:prstGeom prst="rect">
            <a:avLst/>
          </a:prstGeom>
        </p:spPr>
      </p:pic>
      <p:pic>
        <p:nvPicPr>
          <p:cNvPr id="17" name="Picture 16">
            <a:extLst>
              <a:ext uri="{FF2B5EF4-FFF2-40B4-BE49-F238E27FC236}">
                <a16:creationId xmlns:a16="http://schemas.microsoft.com/office/drawing/2014/main" id="{931A4A28-83B4-3479-BDEA-4B003F28D9C3}"/>
              </a:ext>
            </a:extLst>
          </p:cNvPr>
          <p:cNvPicPr>
            <a:picLocks noChangeAspect="1"/>
          </p:cNvPicPr>
          <p:nvPr/>
        </p:nvPicPr>
        <p:blipFill>
          <a:blip r:embed="rId3"/>
          <a:stretch>
            <a:fillRect/>
          </a:stretch>
        </p:blipFill>
        <p:spPr>
          <a:xfrm>
            <a:off x="6960093" y="2053765"/>
            <a:ext cx="3567752" cy="2531249"/>
          </a:xfrm>
          <a:prstGeom prst="rect">
            <a:avLst/>
          </a:prstGeom>
        </p:spPr>
      </p:pic>
    </p:spTree>
    <p:extLst>
      <p:ext uri="{BB962C8B-B14F-4D97-AF65-F5344CB8AC3E}">
        <p14:creationId xmlns:p14="http://schemas.microsoft.com/office/powerpoint/2010/main" val="42011074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F61EF-10F5-9E51-8CE9-40ED0DD8A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9AE50-59FA-719C-37A0-51D4A6703638}"/>
              </a:ext>
            </a:extLst>
          </p:cNvPr>
          <p:cNvSpPr>
            <a:spLocks noGrp="1"/>
          </p:cNvSpPr>
          <p:nvPr>
            <p:ph type="ctrTitle"/>
          </p:nvPr>
        </p:nvSpPr>
        <p:spPr>
          <a:xfrm>
            <a:off x="1849922" y="221941"/>
            <a:ext cx="4204648" cy="688177"/>
          </a:xfrm>
        </p:spPr>
        <p:txBody>
          <a:bodyPr/>
          <a:lstStyle/>
          <a:p>
            <a:r>
              <a:rPr lang="en-IN" sz="4000" dirty="0"/>
              <a:t>Augmentation</a:t>
            </a:r>
          </a:p>
        </p:txBody>
      </p:sp>
      <p:pic>
        <p:nvPicPr>
          <p:cNvPr id="4" name="Graphic 3" descr="Arrow: Slight curve with solid fill">
            <a:extLst>
              <a:ext uri="{FF2B5EF4-FFF2-40B4-BE49-F238E27FC236}">
                <a16:creationId xmlns:a16="http://schemas.microsoft.com/office/drawing/2014/main" id="{4F9E4F23-3FC2-D6BF-45D2-8AE129C507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3B335C58-5E3F-87E2-6CA8-E993909C28BF}"/>
              </a:ext>
            </a:extLst>
          </p:cNvPr>
          <p:cNvSpPr txBox="1"/>
          <p:nvPr/>
        </p:nvSpPr>
        <p:spPr>
          <a:xfrm>
            <a:off x="2050742" y="1071979"/>
            <a:ext cx="8984202" cy="646331"/>
          </a:xfrm>
          <a:prstGeom prst="rect">
            <a:avLst/>
          </a:prstGeom>
          <a:noFill/>
        </p:spPr>
        <p:txBody>
          <a:bodyPr wrap="square" rtlCol="0">
            <a:spAutoFit/>
          </a:bodyPr>
          <a:lstStyle/>
          <a:p>
            <a:r>
              <a:rPr lang="en-US" dirty="0">
                <a:solidFill>
                  <a:schemeClr val="bg1"/>
                </a:solidFill>
              </a:rPr>
              <a:t>Augmentation refers to the step where the retrieved documents (chunks of relevant context) are combined with the user’s query to form a new, enriched prompt for the LLM.</a:t>
            </a:r>
            <a:endParaRPr lang="en-IN" dirty="0">
              <a:solidFill>
                <a:schemeClr val="bg1"/>
              </a:solidFill>
            </a:endParaRPr>
          </a:p>
        </p:txBody>
      </p:sp>
    </p:spTree>
    <p:extLst>
      <p:ext uri="{BB962C8B-B14F-4D97-AF65-F5344CB8AC3E}">
        <p14:creationId xmlns:p14="http://schemas.microsoft.com/office/powerpoint/2010/main" val="1192144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CA2EB-E291-8717-C50E-BA8AF318C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31A4E-B79F-5AAF-EB09-75076F71DE3A}"/>
              </a:ext>
            </a:extLst>
          </p:cNvPr>
          <p:cNvSpPr>
            <a:spLocks noGrp="1"/>
          </p:cNvSpPr>
          <p:nvPr>
            <p:ph type="ctrTitle"/>
          </p:nvPr>
        </p:nvSpPr>
        <p:spPr>
          <a:xfrm>
            <a:off x="1849922" y="221941"/>
            <a:ext cx="4204648" cy="688177"/>
          </a:xfrm>
        </p:spPr>
        <p:txBody>
          <a:bodyPr/>
          <a:lstStyle/>
          <a:p>
            <a:r>
              <a:rPr lang="en-IN" sz="4000" dirty="0"/>
              <a:t>Augmentation</a:t>
            </a:r>
          </a:p>
        </p:txBody>
      </p:sp>
      <p:pic>
        <p:nvPicPr>
          <p:cNvPr id="4" name="Graphic 3" descr="Arrow: Slight curve with solid fill">
            <a:extLst>
              <a:ext uri="{FF2B5EF4-FFF2-40B4-BE49-F238E27FC236}">
                <a16:creationId xmlns:a16="http://schemas.microsoft.com/office/drawing/2014/main" id="{E7A94D37-290C-AFCD-E37E-6C4905758B7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5F3E3B01-E9B8-98D1-E3F7-555A33731281}"/>
              </a:ext>
            </a:extLst>
          </p:cNvPr>
          <p:cNvSpPr txBox="1"/>
          <p:nvPr/>
        </p:nvSpPr>
        <p:spPr>
          <a:xfrm>
            <a:off x="2050742" y="1071979"/>
            <a:ext cx="8984202" cy="646331"/>
          </a:xfrm>
          <a:prstGeom prst="rect">
            <a:avLst/>
          </a:prstGeom>
          <a:noFill/>
        </p:spPr>
        <p:txBody>
          <a:bodyPr wrap="square" rtlCol="0">
            <a:spAutoFit/>
          </a:bodyPr>
          <a:lstStyle/>
          <a:p>
            <a:r>
              <a:rPr lang="en-US" dirty="0">
                <a:solidFill>
                  <a:schemeClr val="bg1"/>
                </a:solidFill>
              </a:rPr>
              <a:t>Augmentation refers to the step where the retrieved documents (chunks of relevant context) are combined with the user’s query to form a new, enriched prompt for the LLM.</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64151B52-AD27-552D-76FF-C9DC83968E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730316"/>
            <a:ext cx="357326" cy="357326"/>
          </a:xfrm>
          <a:prstGeom prst="rect">
            <a:avLst/>
          </a:prstGeom>
        </p:spPr>
      </p:pic>
      <p:pic>
        <p:nvPicPr>
          <p:cNvPr id="9" name="Picture 8">
            <a:extLst>
              <a:ext uri="{FF2B5EF4-FFF2-40B4-BE49-F238E27FC236}">
                <a16:creationId xmlns:a16="http://schemas.microsoft.com/office/drawing/2014/main" id="{3CB56DD7-9E26-1D8D-19B9-ECD56090E0E2}"/>
              </a:ext>
            </a:extLst>
          </p:cNvPr>
          <p:cNvPicPr>
            <a:picLocks noChangeAspect="1"/>
          </p:cNvPicPr>
          <p:nvPr/>
        </p:nvPicPr>
        <p:blipFill>
          <a:blip r:embed="rId3"/>
          <a:stretch>
            <a:fillRect/>
          </a:stretch>
        </p:blipFill>
        <p:spPr>
          <a:xfrm>
            <a:off x="3586683" y="1838580"/>
            <a:ext cx="2728196" cy="2651990"/>
          </a:xfrm>
          <a:prstGeom prst="rect">
            <a:avLst/>
          </a:prstGeom>
        </p:spPr>
      </p:pic>
      <p:pic>
        <p:nvPicPr>
          <p:cNvPr id="18" name="Picture 17">
            <a:extLst>
              <a:ext uri="{FF2B5EF4-FFF2-40B4-BE49-F238E27FC236}">
                <a16:creationId xmlns:a16="http://schemas.microsoft.com/office/drawing/2014/main" id="{1AE4C5D5-4ACA-2AA4-6E92-A9687004AAB3}"/>
              </a:ext>
            </a:extLst>
          </p:cNvPr>
          <p:cNvPicPr>
            <a:picLocks noChangeAspect="1"/>
          </p:cNvPicPr>
          <p:nvPr/>
        </p:nvPicPr>
        <p:blipFill>
          <a:blip r:embed="rId4"/>
          <a:stretch>
            <a:fillRect/>
          </a:stretch>
        </p:blipFill>
        <p:spPr>
          <a:xfrm>
            <a:off x="3056546" y="4490570"/>
            <a:ext cx="5811506" cy="2145489"/>
          </a:xfrm>
          <a:prstGeom prst="rect">
            <a:avLst/>
          </a:prstGeom>
        </p:spPr>
      </p:pic>
    </p:spTree>
    <p:extLst>
      <p:ext uri="{BB962C8B-B14F-4D97-AF65-F5344CB8AC3E}">
        <p14:creationId xmlns:p14="http://schemas.microsoft.com/office/powerpoint/2010/main" val="5280926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112A5-71F4-340A-FE88-C97F410EF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0E6B-563F-FCA9-CBDA-38304D58908C}"/>
              </a:ext>
            </a:extLst>
          </p:cNvPr>
          <p:cNvSpPr>
            <a:spLocks noGrp="1"/>
          </p:cNvSpPr>
          <p:nvPr>
            <p:ph type="ctrTitle"/>
          </p:nvPr>
        </p:nvSpPr>
        <p:spPr>
          <a:xfrm>
            <a:off x="1849922" y="221941"/>
            <a:ext cx="4204648" cy="688177"/>
          </a:xfrm>
        </p:spPr>
        <p:txBody>
          <a:bodyPr/>
          <a:lstStyle/>
          <a:p>
            <a:r>
              <a:rPr lang="en-IN" sz="4000" dirty="0"/>
              <a:t>Generation</a:t>
            </a:r>
          </a:p>
        </p:txBody>
      </p:sp>
      <p:pic>
        <p:nvPicPr>
          <p:cNvPr id="4" name="Graphic 3" descr="Arrow: Slight curve with solid fill">
            <a:extLst>
              <a:ext uri="{FF2B5EF4-FFF2-40B4-BE49-F238E27FC236}">
                <a16:creationId xmlns:a16="http://schemas.microsoft.com/office/drawing/2014/main" id="{C5D92B98-F729-53BC-D411-94C98767C02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BCAEB908-42CA-D8DB-EA30-505050A27AE5}"/>
              </a:ext>
            </a:extLst>
          </p:cNvPr>
          <p:cNvSpPr txBox="1"/>
          <p:nvPr/>
        </p:nvSpPr>
        <p:spPr>
          <a:xfrm>
            <a:off x="2050742" y="1071979"/>
            <a:ext cx="8984202" cy="646331"/>
          </a:xfrm>
          <a:prstGeom prst="rect">
            <a:avLst/>
          </a:prstGeom>
          <a:noFill/>
        </p:spPr>
        <p:txBody>
          <a:bodyPr wrap="square" rtlCol="0">
            <a:spAutoFit/>
          </a:bodyPr>
          <a:lstStyle/>
          <a:p>
            <a:r>
              <a:rPr lang="en-US" dirty="0">
                <a:solidFill>
                  <a:schemeClr val="bg1"/>
                </a:solidFill>
              </a:rPr>
              <a:t>Generation is the final step where a Large Language Model (LLM) uses the user’s query and the retrieved &amp; augmented context to generate a response.</a:t>
            </a:r>
            <a:endParaRPr lang="en-IN" dirty="0">
              <a:solidFill>
                <a:schemeClr val="bg1"/>
              </a:solidFill>
            </a:endParaRPr>
          </a:p>
        </p:txBody>
      </p:sp>
    </p:spTree>
    <p:extLst>
      <p:ext uri="{BB962C8B-B14F-4D97-AF65-F5344CB8AC3E}">
        <p14:creationId xmlns:p14="http://schemas.microsoft.com/office/powerpoint/2010/main" val="436235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DC74-2586-C0DB-24E2-56B278D16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26494-2061-5E24-E52C-3C58994396D6}"/>
              </a:ext>
            </a:extLst>
          </p:cNvPr>
          <p:cNvSpPr>
            <a:spLocks noGrp="1"/>
          </p:cNvSpPr>
          <p:nvPr>
            <p:ph type="ctrTitle"/>
          </p:nvPr>
        </p:nvSpPr>
        <p:spPr>
          <a:xfrm>
            <a:off x="1849922" y="221941"/>
            <a:ext cx="4204648" cy="688177"/>
          </a:xfrm>
        </p:spPr>
        <p:txBody>
          <a:bodyPr/>
          <a:lstStyle/>
          <a:p>
            <a:r>
              <a:rPr lang="en-IN" sz="4000" dirty="0"/>
              <a:t>Generation</a:t>
            </a:r>
          </a:p>
        </p:txBody>
      </p:sp>
      <p:pic>
        <p:nvPicPr>
          <p:cNvPr id="4" name="Graphic 3" descr="Arrow: Slight curve with solid fill">
            <a:extLst>
              <a:ext uri="{FF2B5EF4-FFF2-40B4-BE49-F238E27FC236}">
                <a16:creationId xmlns:a16="http://schemas.microsoft.com/office/drawing/2014/main" id="{E8A162E3-9D01-04C1-4F48-64648A155B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071979"/>
            <a:ext cx="357326" cy="357326"/>
          </a:xfrm>
          <a:prstGeom prst="rect">
            <a:avLst/>
          </a:prstGeom>
        </p:spPr>
      </p:pic>
      <p:sp>
        <p:nvSpPr>
          <p:cNvPr id="5" name="TextBox 4">
            <a:extLst>
              <a:ext uri="{FF2B5EF4-FFF2-40B4-BE49-F238E27FC236}">
                <a16:creationId xmlns:a16="http://schemas.microsoft.com/office/drawing/2014/main" id="{45C4EF32-DBA3-32F0-3ED5-B6649E7E0D2A}"/>
              </a:ext>
            </a:extLst>
          </p:cNvPr>
          <p:cNvSpPr txBox="1"/>
          <p:nvPr/>
        </p:nvSpPr>
        <p:spPr>
          <a:xfrm>
            <a:off x="2050742" y="1071979"/>
            <a:ext cx="8984202" cy="646331"/>
          </a:xfrm>
          <a:prstGeom prst="rect">
            <a:avLst/>
          </a:prstGeom>
          <a:noFill/>
        </p:spPr>
        <p:txBody>
          <a:bodyPr wrap="square" rtlCol="0">
            <a:spAutoFit/>
          </a:bodyPr>
          <a:lstStyle/>
          <a:p>
            <a:r>
              <a:rPr lang="en-US" dirty="0">
                <a:solidFill>
                  <a:schemeClr val="bg1"/>
                </a:solidFill>
              </a:rPr>
              <a:t>Generation is the final step where a Large Language Model (LLM) uses the user’s query and the retrieved &amp; augmented context to generate a response.</a:t>
            </a:r>
            <a:endParaRPr lang="en-IN" dirty="0">
              <a:solidFill>
                <a:schemeClr val="bg1"/>
              </a:solidFill>
            </a:endParaRPr>
          </a:p>
        </p:txBody>
      </p:sp>
      <p:pic>
        <p:nvPicPr>
          <p:cNvPr id="6" name="Graphic 5" descr="Arrow: Slight curve with solid fill">
            <a:extLst>
              <a:ext uri="{FF2B5EF4-FFF2-40B4-BE49-F238E27FC236}">
                <a16:creationId xmlns:a16="http://schemas.microsoft.com/office/drawing/2014/main" id="{F7C2923F-F530-62EC-A8F9-7E9AC534F07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5838" y="1730316"/>
            <a:ext cx="357326" cy="357326"/>
          </a:xfrm>
          <a:prstGeom prst="rect">
            <a:avLst/>
          </a:prstGeom>
        </p:spPr>
      </p:pic>
      <p:pic>
        <p:nvPicPr>
          <p:cNvPr id="9" name="Picture 8">
            <a:extLst>
              <a:ext uri="{FF2B5EF4-FFF2-40B4-BE49-F238E27FC236}">
                <a16:creationId xmlns:a16="http://schemas.microsoft.com/office/drawing/2014/main" id="{C236D7D3-B989-E702-7B3D-74AD07FA6D17}"/>
              </a:ext>
            </a:extLst>
          </p:cNvPr>
          <p:cNvPicPr>
            <a:picLocks noChangeAspect="1"/>
          </p:cNvPicPr>
          <p:nvPr/>
        </p:nvPicPr>
        <p:blipFill>
          <a:blip r:embed="rId3"/>
          <a:stretch>
            <a:fillRect/>
          </a:stretch>
        </p:blipFill>
        <p:spPr>
          <a:xfrm>
            <a:off x="3586683" y="1838580"/>
            <a:ext cx="2728196" cy="2651990"/>
          </a:xfrm>
          <a:prstGeom prst="rect">
            <a:avLst/>
          </a:prstGeom>
        </p:spPr>
      </p:pic>
      <p:pic>
        <p:nvPicPr>
          <p:cNvPr id="18" name="Picture 17">
            <a:extLst>
              <a:ext uri="{FF2B5EF4-FFF2-40B4-BE49-F238E27FC236}">
                <a16:creationId xmlns:a16="http://schemas.microsoft.com/office/drawing/2014/main" id="{C6B06D00-B847-C028-2949-95CA2D368E54}"/>
              </a:ext>
            </a:extLst>
          </p:cNvPr>
          <p:cNvPicPr>
            <a:picLocks noChangeAspect="1"/>
          </p:cNvPicPr>
          <p:nvPr/>
        </p:nvPicPr>
        <p:blipFill>
          <a:blip r:embed="rId4"/>
          <a:stretch>
            <a:fillRect/>
          </a:stretch>
        </p:blipFill>
        <p:spPr>
          <a:xfrm>
            <a:off x="3056546" y="4490570"/>
            <a:ext cx="5811506" cy="2145489"/>
          </a:xfrm>
          <a:prstGeom prst="rect">
            <a:avLst/>
          </a:prstGeom>
        </p:spPr>
      </p:pic>
      <p:pic>
        <p:nvPicPr>
          <p:cNvPr id="7" name="Picture 6">
            <a:extLst>
              <a:ext uri="{FF2B5EF4-FFF2-40B4-BE49-F238E27FC236}">
                <a16:creationId xmlns:a16="http://schemas.microsoft.com/office/drawing/2014/main" id="{CBE6CD60-7674-E195-61C3-1BC7822AFE12}"/>
              </a:ext>
            </a:extLst>
          </p:cNvPr>
          <p:cNvPicPr>
            <a:picLocks noChangeAspect="1"/>
          </p:cNvPicPr>
          <p:nvPr/>
        </p:nvPicPr>
        <p:blipFill>
          <a:blip r:embed="rId5"/>
          <a:stretch>
            <a:fillRect/>
          </a:stretch>
        </p:blipFill>
        <p:spPr>
          <a:xfrm>
            <a:off x="8663178" y="4863489"/>
            <a:ext cx="3086367" cy="1569856"/>
          </a:xfrm>
          <a:prstGeom prst="rect">
            <a:avLst/>
          </a:prstGeom>
        </p:spPr>
      </p:pic>
    </p:spTree>
    <p:extLst>
      <p:ext uri="{BB962C8B-B14F-4D97-AF65-F5344CB8AC3E}">
        <p14:creationId xmlns:p14="http://schemas.microsoft.com/office/powerpoint/2010/main" val="21714357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93520-87D9-29AA-BA97-0E99A14216D6}"/>
              </a:ext>
            </a:extLst>
          </p:cNvPr>
          <p:cNvSpPr>
            <a:spLocks noGrp="1"/>
          </p:cNvSpPr>
          <p:nvPr>
            <p:ph type="ctrTitle"/>
          </p:nvPr>
        </p:nvSpPr>
        <p:spPr>
          <a:xfrm>
            <a:off x="1654614" y="1100830"/>
            <a:ext cx="9145991" cy="2854329"/>
          </a:xfrm>
        </p:spPr>
        <p:txBody>
          <a:bodyPr/>
          <a:lstStyle/>
          <a:p>
            <a:r>
              <a:rPr lang="en-IN" sz="3200" b="1" dirty="0"/>
              <a:t>Conclusion</a:t>
            </a:r>
            <a:br>
              <a:rPr lang="en-IN" sz="3200" b="1" dirty="0"/>
            </a:br>
            <a:r>
              <a:rPr lang="en-IN" sz="3200" b="1" dirty="0"/>
              <a:t> </a:t>
            </a:r>
            <a:br>
              <a:rPr lang="en-IN" sz="2400" b="1" dirty="0"/>
            </a:br>
            <a:r>
              <a:rPr lang="en-IN" sz="2000" b="1" dirty="0"/>
              <a:t>Retrieval-Augmented Generation (RAG)</a:t>
            </a:r>
            <a:r>
              <a:rPr lang="en-IN" sz="2000" dirty="0"/>
              <a:t> enhances AI by combining </a:t>
            </a:r>
            <a:r>
              <a:rPr lang="en-IN" sz="2000" b="1" dirty="0"/>
              <a:t>information retrieval with text generation</a:t>
            </a:r>
            <a:br>
              <a:rPr lang="en-IN" sz="2000" b="1" dirty="0"/>
            </a:br>
            <a:br>
              <a:rPr lang="en-IN" sz="2000" dirty="0"/>
            </a:br>
            <a:br>
              <a:rPr lang="en-IN" sz="2400" dirty="0"/>
            </a:br>
            <a:endParaRPr lang="en-IN" sz="2400" dirty="0"/>
          </a:p>
        </p:txBody>
      </p:sp>
    </p:spTree>
    <p:extLst>
      <p:ext uri="{BB962C8B-B14F-4D97-AF65-F5344CB8AC3E}">
        <p14:creationId xmlns:p14="http://schemas.microsoft.com/office/powerpoint/2010/main" val="42283941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0F1C5-823A-0B6D-630A-345B06B13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C9273-9560-72AC-169C-0BA40A6F442F}"/>
              </a:ext>
            </a:extLst>
          </p:cNvPr>
          <p:cNvSpPr>
            <a:spLocks noGrp="1"/>
          </p:cNvSpPr>
          <p:nvPr>
            <p:ph type="ctrTitle"/>
          </p:nvPr>
        </p:nvSpPr>
        <p:spPr>
          <a:xfrm>
            <a:off x="1610226" y="932155"/>
            <a:ext cx="9145991" cy="4061692"/>
          </a:xfrm>
        </p:spPr>
        <p:txBody>
          <a:bodyPr/>
          <a:lstStyle/>
          <a:p>
            <a:r>
              <a:rPr lang="en-IN" sz="3200" b="1" dirty="0"/>
              <a:t>Conclusion</a:t>
            </a:r>
            <a:br>
              <a:rPr lang="en-IN" sz="3200" b="1" dirty="0"/>
            </a:br>
            <a:r>
              <a:rPr lang="en-IN" sz="3200" b="1" dirty="0"/>
              <a:t> </a:t>
            </a:r>
            <a:br>
              <a:rPr lang="en-IN" sz="2400" b="1" dirty="0"/>
            </a:br>
            <a:r>
              <a:rPr lang="en-IN" sz="2000" b="1" dirty="0"/>
              <a:t>Retrieval-Augmented Generation (RAG)</a:t>
            </a:r>
            <a:r>
              <a:rPr lang="en-IN" sz="2000" dirty="0"/>
              <a:t> enhances AI by combining </a:t>
            </a:r>
            <a:r>
              <a:rPr lang="en-IN" sz="2000" b="1" dirty="0"/>
              <a:t>information retrieval with text generation</a:t>
            </a:r>
            <a:br>
              <a:rPr lang="en-IN" sz="2000" b="1" dirty="0"/>
            </a:br>
            <a:br>
              <a:rPr lang="en-IN" sz="2000" dirty="0"/>
            </a:br>
            <a:r>
              <a:rPr lang="en-IN" sz="2000" dirty="0"/>
              <a:t>It helps overcome limitations of traditional models like </a:t>
            </a:r>
            <a:r>
              <a:rPr lang="en-IN" sz="2000" b="1" dirty="0"/>
              <a:t>outdated knowledge and hallucinations</a:t>
            </a:r>
            <a:br>
              <a:rPr lang="en-IN" sz="2000" b="1" dirty="0"/>
            </a:br>
            <a:br>
              <a:rPr lang="en-IN" sz="2000" dirty="0"/>
            </a:br>
            <a:br>
              <a:rPr lang="en-IN" sz="2000" dirty="0"/>
            </a:br>
            <a:br>
              <a:rPr lang="en-IN" sz="2000" dirty="0"/>
            </a:br>
            <a:endParaRPr lang="en-IN" sz="2400" dirty="0"/>
          </a:p>
        </p:txBody>
      </p:sp>
    </p:spTree>
    <p:extLst>
      <p:ext uri="{BB962C8B-B14F-4D97-AF65-F5344CB8AC3E}">
        <p14:creationId xmlns:p14="http://schemas.microsoft.com/office/powerpoint/2010/main" val="39065251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C828-AE94-4E01-3CB8-94FA01AFF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75672-D33B-A81A-C470-A120B1E2688A}"/>
              </a:ext>
            </a:extLst>
          </p:cNvPr>
          <p:cNvSpPr>
            <a:spLocks noGrp="1"/>
          </p:cNvSpPr>
          <p:nvPr>
            <p:ph type="ctrTitle"/>
          </p:nvPr>
        </p:nvSpPr>
        <p:spPr>
          <a:xfrm>
            <a:off x="1610226" y="932155"/>
            <a:ext cx="9145991" cy="4061692"/>
          </a:xfrm>
        </p:spPr>
        <p:txBody>
          <a:bodyPr/>
          <a:lstStyle/>
          <a:p>
            <a:r>
              <a:rPr lang="en-IN" sz="3200" b="1" dirty="0"/>
              <a:t>Conclusion</a:t>
            </a:r>
            <a:br>
              <a:rPr lang="en-IN" sz="3200" b="1" dirty="0"/>
            </a:br>
            <a:r>
              <a:rPr lang="en-IN" sz="3200" b="1" dirty="0"/>
              <a:t> </a:t>
            </a:r>
            <a:br>
              <a:rPr lang="en-IN" sz="2400" b="1" dirty="0"/>
            </a:br>
            <a:r>
              <a:rPr lang="en-IN" sz="2000" b="1" dirty="0"/>
              <a:t>Retrieval-Augmented Generation (RAG)</a:t>
            </a:r>
            <a:r>
              <a:rPr lang="en-IN" sz="2000" dirty="0"/>
              <a:t> enhances AI by combining </a:t>
            </a:r>
            <a:r>
              <a:rPr lang="en-IN" sz="2000" b="1" dirty="0"/>
              <a:t>information retrieval with text generation</a:t>
            </a:r>
            <a:br>
              <a:rPr lang="en-IN" sz="2000" b="1" dirty="0"/>
            </a:br>
            <a:br>
              <a:rPr lang="en-IN" sz="2000" dirty="0"/>
            </a:br>
            <a:r>
              <a:rPr lang="en-IN" sz="2000" dirty="0"/>
              <a:t>It helps overcome limitations of traditional models like </a:t>
            </a:r>
            <a:r>
              <a:rPr lang="en-IN" sz="2000" b="1" dirty="0"/>
              <a:t>outdated knowledge and hallucinations</a:t>
            </a:r>
            <a:br>
              <a:rPr lang="en-IN" sz="2000" b="1" dirty="0"/>
            </a:br>
            <a:br>
              <a:rPr lang="en-IN" sz="2000" dirty="0"/>
            </a:br>
            <a:r>
              <a:rPr lang="en-IN" sz="2000" dirty="0"/>
              <a:t>Components such as document loaders, vector databases, and retrievers work together to deliver accurate results</a:t>
            </a:r>
            <a:br>
              <a:rPr lang="en-IN" sz="2400" dirty="0"/>
            </a:br>
            <a:endParaRPr lang="en-IN" sz="2400" dirty="0"/>
          </a:p>
        </p:txBody>
      </p:sp>
    </p:spTree>
    <p:extLst>
      <p:ext uri="{BB962C8B-B14F-4D97-AF65-F5344CB8AC3E}">
        <p14:creationId xmlns:p14="http://schemas.microsoft.com/office/powerpoint/2010/main" val="7793447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EA-8BB3-79C6-656A-1A8ABD658D7E}"/>
              </a:ext>
            </a:extLst>
          </p:cNvPr>
          <p:cNvSpPr>
            <a:spLocks noGrp="1"/>
          </p:cNvSpPr>
          <p:nvPr>
            <p:ph type="ctrTitle"/>
          </p:nvPr>
        </p:nvSpPr>
        <p:spPr/>
        <p:txBody>
          <a:bodyPr/>
          <a:lstStyle/>
          <a:p>
            <a:r>
              <a:rPr lang="en-US" dirty="0"/>
              <a:t>Q &amp; A</a:t>
            </a:r>
          </a:p>
        </p:txBody>
      </p:sp>
      <p:sp>
        <p:nvSpPr>
          <p:cNvPr id="3" name="Subtitle 2">
            <a:extLst>
              <a:ext uri="{FF2B5EF4-FFF2-40B4-BE49-F238E27FC236}">
                <a16:creationId xmlns:a16="http://schemas.microsoft.com/office/drawing/2014/main" id="{E61DF94A-DA27-1E29-408E-F5360E814FB0}"/>
              </a:ext>
            </a:extLst>
          </p:cNvPr>
          <p:cNvSpPr>
            <a:spLocks noGrp="1"/>
          </p:cNvSpPr>
          <p:nvPr>
            <p:ph type="subTitle" idx="1"/>
          </p:nvPr>
        </p:nvSpPr>
        <p:spPr/>
        <p:txBody>
          <a:bodyPr/>
          <a:lstStyle/>
          <a:p>
            <a:r>
              <a:rPr lang="en-US" dirty="0"/>
              <a:t>Panel discussion session</a:t>
            </a:r>
          </a:p>
        </p:txBody>
      </p:sp>
      <p:pic>
        <p:nvPicPr>
          <p:cNvPr id="18" name="Picture Placeholder 17" descr="White objects on a white surface">
            <a:extLst>
              <a:ext uri="{FF2B5EF4-FFF2-40B4-BE49-F238E27FC236}">
                <a16:creationId xmlns:a16="http://schemas.microsoft.com/office/drawing/2014/main" id="{2DF43209-08B5-4410-CE46-63D3FC420156}"/>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l="112" r="112"/>
          <a:stretch/>
        </p:blipFill>
        <p:spPr/>
      </p:pic>
    </p:spTree>
    <p:extLst>
      <p:ext uri="{BB962C8B-B14F-4D97-AF65-F5344CB8AC3E}">
        <p14:creationId xmlns:p14="http://schemas.microsoft.com/office/powerpoint/2010/main" val="32727320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TM03457496[[fn=Parallax]]</Template>
  <TotalTime>1254</TotalTime>
  <Words>2714</Words>
  <Application>Microsoft Office PowerPoint</Application>
  <PresentationFormat>Widescreen</PresentationFormat>
  <Paragraphs>374</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Aptos</vt:lpstr>
      <vt:lpstr>Arial</vt:lpstr>
      <vt:lpstr>Corbel</vt:lpstr>
      <vt:lpstr>Courier New</vt:lpstr>
      <vt:lpstr>Parallax</vt:lpstr>
      <vt:lpstr>RAG Retrieval  Augmented Generation</vt:lpstr>
      <vt:lpstr>PowerPoint Presentation</vt:lpstr>
      <vt:lpstr>What is RAG ?</vt:lpstr>
      <vt:lpstr>Why we need RAG ?</vt:lpstr>
      <vt:lpstr>Why we need RAG ?</vt:lpstr>
      <vt:lpstr>Why we need RAG ?</vt:lpstr>
      <vt:lpstr>Why we need RAG ?</vt:lpstr>
      <vt:lpstr>Why we need RAG ?</vt:lpstr>
      <vt:lpstr>Why we need RAG ?</vt:lpstr>
      <vt:lpstr>Fine-Tuning</vt:lpstr>
      <vt:lpstr>Fine-Tuning</vt:lpstr>
      <vt:lpstr>Fine-Tuning</vt:lpstr>
      <vt:lpstr>Question: Is Fine-Tuning Enough?</vt:lpstr>
      <vt:lpstr>Question: Is Fine-Tuning Enough?</vt:lpstr>
      <vt:lpstr>Question: Is Fine-Tuning Enough?</vt:lpstr>
      <vt:lpstr>Question: Is Fine-Tuning Enough?</vt:lpstr>
      <vt:lpstr>Question: Is Fine-Tuning Enough?</vt:lpstr>
      <vt:lpstr>Question: Is Fine-Tuning Enough?</vt:lpstr>
      <vt:lpstr>Question: Is Fine-Tuning Enough?</vt:lpstr>
      <vt:lpstr>Example of In-Context Learning : Few-Shot Prompting</vt:lpstr>
      <vt:lpstr>Example of In-Context Learning : Few-Shot Prompting</vt:lpstr>
      <vt:lpstr>Example of In-Context Learning : Few-Shot Prompting</vt:lpstr>
      <vt:lpstr>What is RAG ?</vt:lpstr>
      <vt:lpstr>Components Of RAG </vt:lpstr>
      <vt:lpstr>Document Loader</vt:lpstr>
      <vt:lpstr>Document Loader</vt:lpstr>
      <vt:lpstr>Document Loader</vt:lpstr>
      <vt:lpstr>2. Text Splitter</vt:lpstr>
      <vt:lpstr>2. Text Splitter</vt:lpstr>
      <vt:lpstr>3. Vector Stores</vt:lpstr>
      <vt:lpstr>Vector Stores</vt:lpstr>
      <vt:lpstr>Vector Stores</vt:lpstr>
      <vt:lpstr>4. Retrievers</vt:lpstr>
      <vt:lpstr>4. Retrievers</vt:lpstr>
      <vt:lpstr>4. Retrievers</vt:lpstr>
      <vt:lpstr>RAG Pipeline</vt:lpstr>
      <vt:lpstr>RAG Pipeline</vt:lpstr>
      <vt:lpstr>RAG Pipeline</vt:lpstr>
      <vt:lpstr>Indexing </vt:lpstr>
      <vt:lpstr>Indexing </vt:lpstr>
      <vt:lpstr>Retrieval</vt:lpstr>
      <vt:lpstr>Retrieval</vt:lpstr>
      <vt:lpstr>Augmentation</vt:lpstr>
      <vt:lpstr>Augmentation</vt:lpstr>
      <vt:lpstr>Generation</vt:lpstr>
      <vt:lpstr>Generation</vt:lpstr>
      <vt:lpstr>Conclusion   Retrieval-Augmented Generation (RAG) enhances AI by combining information retrieval with text generation   </vt:lpstr>
      <vt:lpstr>Conclusion   Retrieval-Augmented Generation (RAG) enhances AI by combining information retrieval with text generation  It helps overcome limitations of traditional models like outdated knowledge and hallucinations    </vt:lpstr>
      <vt:lpstr>Conclusion   Retrieval-Augmented Generation (RAG) enhances AI by combining information retrieval with text generation  It helps overcome limitations of traditional models like outdated knowledge and hallucinations  Components such as document loaders, vector databases, and retrievers work together to deliver accurate results </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Nandan</dc:creator>
  <cp:lastModifiedBy>Atul Nandan</cp:lastModifiedBy>
  <cp:revision>2</cp:revision>
  <dcterms:created xsi:type="dcterms:W3CDTF">2026-03-16T09:29:27Z</dcterms:created>
  <dcterms:modified xsi:type="dcterms:W3CDTF">2026-03-18T07:32:12Z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